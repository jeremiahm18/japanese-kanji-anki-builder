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e96485167c45d2" /><Relationship Type="http://schemas.openxmlformats.org/officeDocument/2006/relationships/extended-properties" Target="/docProps/app.xml" Id="Rba2d7115d88c4b27" /><Relationship Type="http://schemas.openxmlformats.org/officeDocument/2006/relationships/officeDocument" Target="/ppt/presentation.xml" Id="R4d1119059a0d44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54e8a979154cec"/>
  </p:sldMasterIdLst>
  <p:notesMasterIdLst>
    <p:notesMasterId xmlns:r="http://schemas.openxmlformats.org/officeDocument/2006/relationships" r:id="R7102ebdc3c684f72"/>
  </p:notesMasterIdLst>
  <p:sldIdLst>
    <p:sldId xmlns:r="http://schemas.openxmlformats.org/officeDocument/2006/relationships" id="256" r:id="R38fa206cf5cc4cbc"/>
    <p:sldId xmlns:r="http://schemas.openxmlformats.org/officeDocument/2006/relationships" id="257" r:id="R6ddc086163dc4742"/>
    <p:sldId xmlns:r="http://schemas.openxmlformats.org/officeDocument/2006/relationships" id="258" r:id="R135555249fe14255"/>
    <p:sldId xmlns:r="http://schemas.openxmlformats.org/officeDocument/2006/relationships" id="259" r:id="R860e5b9a574c41cf"/>
    <p:sldId xmlns:r="http://schemas.openxmlformats.org/officeDocument/2006/relationships" id="260" r:id="Red8043c9eef14861"/>
    <p:sldId xmlns:r="http://schemas.openxmlformats.org/officeDocument/2006/relationships" id="261" r:id="R95529db6e31e4384"/>
    <p:sldId xmlns:r="http://schemas.openxmlformats.org/officeDocument/2006/relationships" id="262" r:id="R5106c59d2c0d4399"/>
    <p:sldId xmlns:r="http://schemas.openxmlformats.org/officeDocument/2006/relationships" id="263" r:id="R309e39fbd8c447ea"/>
    <p:sldId xmlns:r="http://schemas.openxmlformats.org/officeDocument/2006/relationships" id="264" r:id="R09f0e9f1c7c74d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6289f5cb604445" /><Relationship Type="http://schemas.openxmlformats.org/officeDocument/2006/relationships/slideMaster" Target="/ppt/slideMasters/slideMaster1.xml" Id="Rec54e8a979154cec" /><Relationship Type="http://schemas.openxmlformats.org/officeDocument/2006/relationships/notesMaster" Target="/ppt/notesMasters/notesMaster1.xml" Id="R7102ebdc3c684f72" /><Relationship Type="http://schemas.openxmlformats.org/officeDocument/2006/relationships/presProps" Target="/ppt/presProps.xml" Id="R3ec688223c154e69" /><Relationship Type="http://schemas.openxmlformats.org/officeDocument/2006/relationships/viewProps" Target="/ppt/viewProps.xml" Id="Rcde849e5ebf84bfe" /><Relationship Type="http://schemas.openxmlformats.org/officeDocument/2006/relationships/tableStyles" Target="/ppt/tableStyles.xml" Id="Rec9fa26c1d974774" /><Relationship Type="http://schemas.openxmlformats.org/officeDocument/2006/relationships/slide" Target="/ppt/slides/slide1.xml" Id="R38fa206cf5cc4cbc" /><Relationship Type="http://schemas.openxmlformats.org/officeDocument/2006/relationships/slide" Target="/ppt/slides/slide2.xml" Id="R6ddc086163dc4742" /><Relationship Type="http://schemas.openxmlformats.org/officeDocument/2006/relationships/slide" Target="/ppt/slides/slide3.xml" Id="R135555249fe14255" /><Relationship Type="http://schemas.openxmlformats.org/officeDocument/2006/relationships/slide" Target="/ppt/slides/slide4.xml" Id="R860e5b9a574c41cf" /><Relationship Type="http://schemas.openxmlformats.org/officeDocument/2006/relationships/slide" Target="/ppt/slides/slide5.xml" Id="Red8043c9eef14861" /><Relationship Type="http://schemas.openxmlformats.org/officeDocument/2006/relationships/slide" Target="/ppt/slides/slide6.xml" Id="R95529db6e31e4384" /><Relationship Type="http://schemas.openxmlformats.org/officeDocument/2006/relationships/slide" Target="/ppt/slides/slide7.xml" Id="R5106c59d2c0d4399" /><Relationship Type="http://schemas.openxmlformats.org/officeDocument/2006/relationships/slide" Target="/ppt/slides/slide8.xml" Id="R309e39fbd8c447ea" /><Relationship Type="http://schemas.openxmlformats.org/officeDocument/2006/relationships/slide" Target="/ppt/slides/slide9.xml" Id="R09f0e9f1c7c74d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54364edf7849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cb65214b5f4dbb" /><Relationship Type="http://schemas.openxmlformats.org/officeDocument/2006/relationships/notesMaster" Target="/ppt/notesMasters/notesMaster1.xml" Id="R5e1e8cb8160045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ac001e9b0b467e" /><Relationship Type="http://schemas.openxmlformats.org/officeDocument/2006/relationships/notesMaster" Target="/ppt/notesMasters/notesMaster1.xml" Id="R08184a579a0641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e7e43a1a4b4931" /><Relationship Type="http://schemas.openxmlformats.org/officeDocument/2006/relationships/notesMaster" Target="/ppt/notesMasters/notesMaster1.xml" Id="Ra83de3f0c76941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48a82cbb604895" /><Relationship Type="http://schemas.openxmlformats.org/officeDocument/2006/relationships/notesMaster" Target="/ppt/notesMasters/notesMaster1.xml" Id="R874b1c4ad4dc4e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a6a5ec1898411f" /><Relationship Type="http://schemas.openxmlformats.org/officeDocument/2006/relationships/notesMaster" Target="/ppt/notesMasters/notesMaster1.xml" Id="R1457854bbeda4f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385e12012f433f" /><Relationship Type="http://schemas.openxmlformats.org/officeDocument/2006/relationships/notesMaster" Target="/ppt/notesMasters/notesMaster1.xml" Id="Rcd6e4cedd86f40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e29cf78cfb4f2a" /><Relationship Type="http://schemas.openxmlformats.org/officeDocument/2006/relationships/notesMaster" Target="/ppt/notesMasters/notesMaster1.xml" Id="R6907f2e2909d42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a5a6ab804c485b" /><Relationship Type="http://schemas.openxmlformats.org/officeDocument/2006/relationships/notesMaster" Target="/ppt/notesMasters/notesMaster1.xml" Id="R2cff7fa7119546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f9427b772345e3" /><Relationship Type="http://schemas.openxmlformats.org/officeDocument/2006/relationships/notesMaster" Target="/ppt/notesMasters/notesMaster1.xml" Id="R0f196c974f704a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ee8a9535fb4b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371473fff9489e" /><Relationship Type="http://schemas.openxmlformats.org/officeDocument/2006/relationships/slideLayout" Target="/ppt/slideLayouts/slideLayout1.xml" Id="R9a0cfad77a3f44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0cfad77a3f44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2ce81afbb48de" /><Relationship Type="http://schemas.openxmlformats.org/officeDocument/2006/relationships/notesSlide" Target="/ppt/notesSlides/notesSlide1.xml" Id="R8a662dafdfd742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96737d8114626" /><Relationship Type="http://schemas.openxmlformats.org/officeDocument/2006/relationships/notesSlide" Target="/ppt/notesSlides/notesSlide2.xml" Id="Rf442e2dd0def4e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51cc61c314783" /><Relationship Type="http://schemas.openxmlformats.org/officeDocument/2006/relationships/notesSlide" Target="/ppt/notesSlides/notesSlide3.xml" Id="R9cd131200dad4a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09480766c4e7d" /><Relationship Type="http://schemas.openxmlformats.org/officeDocument/2006/relationships/notesSlide" Target="/ppt/notesSlides/notesSlide4.xml" Id="R84ab9867374341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8104e533748da" /><Relationship Type="http://schemas.openxmlformats.org/officeDocument/2006/relationships/notesSlide" Target="/ppt/notesSlides/notesSlide5.xml" Id="Raaa29a0c453744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619607f544a18" /><Relationship Type="http://schemas.openxmlformats.org/officeDocument/2006/relationships/notesSlide" Target="/ppt/notesSlides/notesSlide6.xml" Id="R9d19bcde84544f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308895cd849c4" /><Relationship Type="http://schemas.openxmlformats.org/officeDocument/2006/relationships/notesSlide" Target="/ppt/notesSlides/notesSlide7.xml" Id="Ra8540f5b9d424a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380e0e184455c" /><Relationship Type="http://schemas.openxmlformats.org/officeDocument/2006/relationships/notesSlide" Target="/ppt/notesSlides/notesSlide8.xml" Id="Rccf1134e5c3c4f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53bc068ac4c72" /><Relationship Type="http://schemas.openxmlformats.org/officeDocument/2006/relationships/notesSlide" Target="/ppt/notesSlides/notesSlide9.xml" Id="Rfa7a142e770d442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BADBB60-54A1-442D-AB9A-5329D5D9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6D73C631-5E66-4748-BB6A-E9DD5F78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3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C2FB8F51-B0FC-4FA8-8187-5B74D780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WHOLE-PROGRAM PACKET</a:t>
            </a:r>
          </a:p>
        </p:txBody>
      </p:sp>
      <p:sp>
        <p:nvSpPr>
          <p:cNvPr id="4" name="claim-title-1">
            <a:extLst xmlns:a="http://schemas.openxmlformats.org/drawingml/2006/main">
              <a:ext uri="{FF2B5EF4-FFF2-40B4-BE49-F238E27FC236}">
                <a16:creationId xmlns:a16="http://schemas.microsoft.com/office/drawing/2014/main" id="{1FA28EBD-6D62-48A4-83EE-FFF15F73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810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This is a governed data pipeline, not a deck-export script.</a:t>
            </a:r>
          </a:p>
        </p:txBody>
      </p:sp>
      <p:sp>
        <p:nvSpPr>
          <p:cNvPr id="5" name="support-1">
            <a:extLst xmlns:a="http://schemas.openxmlformats.org/drawingml/2006/main">
              <a:ext uri="{FF2B5EF4-FFF2-40B4-BE49-F238E27FC236}">
                <a16:creationId xmlns:a16="http://schemas.microsoft.com/office/drawing/2014/main" id="{84F8DF27-1631-479B-980D-A5C86BCF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Japanese Kanji Builder turns tracked source contracts, normalization, generated card surfaces, review lanes, proof ledgers, media policy, and release gates into deterministic study artifacts.</a:t>
            </a:r>
          </a:p>
        </p:txBody>
      </p:sp>
      <p:sp>
        <p:nvSpPr>
          <p:cNvPr id="6" name="metric-box-1-core kanji rows">
            <a:extLst xmlns:a="http://schemas.openxmlformats.org/drawingml/2006/main">
              <a:ext uri="{FF2B5EF4-FFF2-40B4-BE49-F238E27FC236}">
                <a16:creationId xmlns:a16="http://schemas.microsoft.com/office/drawing/2014/main" id="{EAC3AD37-D37C-44AD-BDB1-729E5187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D7C79"/>
            </a:solidFill>
            <a:prstDash val="solid"/>
          </a:ln>
        </p:spPr>
      </p:sp>
      <p:sp>
        <p:nvSpPr>
          <p:cNvPr id="7" name="metric-accent-1-core kanji rows">
            <a:extLst xmlns:a="http://schemas.openxmlformats.org/drawingml/2006/main">
              <a:ext uri="{FF2B5EF4-FFF2-40B4-BE49-F238E27FC236}">
                <a16:creationId xmlns:a16="http://schemas.microsoft.com/office/drawing/2014/main" id="{1B096E6B-ADBB-4912-BF13-9933CEE1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71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8" name="metric-value-1-core kanji rows">
            <a:extLst xmlns:a="http://schemas.openxmlformats.org/drawingml/2006/main">
              <a:ext uri="{FF2B5EF4-FFF2-40B4-BE49-F238E27FC236}">
                <a16:creationId xmlns:a16="http://schemas.microsoft.com/office/drawing/2014/main" id="{4BCC4A07-374B-45A5-9B31-599F8E19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2,212</a:t>
            </a:r>
          </a:p>
        </p:txBody>
      </p:sp>
      <p:sp>
        <p:nvSpPr>
          <p:cNvPr id="9" name="metric-label-1-core kanji rows">
            <a:extLst xmlns:a="http://schemas.openxmlformats.org/drawingml/2006/main">
              <a:ext uri="{FF2B5EF4-FFF2-40B4-BE49-F238E27FC236}">
                <a16:creationId xmlns:a16="http://schemas.microsoft.com/office/drawing/2014/main" id="{832D33B8-1922-437B-9833-9B916AD4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21336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core kanji rows</a:t>
            </a:r>
          </a:p>
        </p:txBody>
      </p:sp>
      <p:sp>
        <p:nvSpPr>
          <p:cNvPr id="10" name="metric-note-1-core kanji rows">
            <a:extLst xmlns:a="http://schemas.openxmlformats.org/drawingml/2006/main">
              <a:ext uri="{FF2B5EF4-FFF2-40B4-BE49-F238E27FC236}">
                <a16:creationId xmlns:a16="http://schemas.microsoft.com/office/drawing/2014/main" id="{CB25BDE5-BB6C-44C3-AF94-7AF20F5B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All five JLPT levels are tracked product surfaces.</a:t>
            </a:r>
          </a:p>
        </p:txBody>
      </p:sp>
      <p:sp>
        <p:nvSpPr>
          <p:cNvPr id="11" name="metric-box-1-word rows">
            <a:extLst xmlns:a="http://schemas.openxmlformats.org/drawingml/2006/main">
              <a:ext uri="{FF2B5EF4-FFF2-40B4-BE49-F238E27FC236}">
                <a16:creationId xmlns:a16="http://schemas.microsoft.com/office/drawing/2014/main" id="{D258A3F1-79A0-41D7-A1D9-CD0E69D1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8A17"/>
            </a:solidFill>
            <a:prstDash val="solid"/>
          </a:ln>
        </p:spPr>
      </p:sp>
      <p:sp>
        <p:nvSpPr>
          <p:cNvPr id="12" name="metric-accent-1-word rows">
            <a:extLst xmlns:a="http://schemas.openxmlformats.org/drawingml/2006/main">
              <a:ext uri="{FF2B5EF4-FFF2-40B4-BE49-F238E27FC236}">
                <a16:creationId xmlns:a16="http://schemas.microsoft.com/office/drawing/2014/main" id="{8B556557-0EE8-43D3-9C07-724EF732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571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13" name="metric-value-1-word rows">
            <a:extLst xmlns:a="http://schemas.openxmlformats.org/drawingml/2006/main">
              <a:ext uri="{FF2B5EF4-FFF2-40B4-BE49-F238E27FC236}">
                <a16:creationId xmlns:a16="http://schemas.microsoft.com/office/drawing/2014/main" id="{6B5FFC51-DD9B-40CB-98B8-D954B195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575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1,470</a:t>
            </a:r>
          </a:p>
        </p:txBody>
      </p:sp>
      <p:sp>
        <p:nvSpPr>
          <p:cNvPr id="14" name="metric-label-1-word rows">
            <a:extLst xmlns:a="http://schemas.openxmlformats.org/drawingml/2006/main">
              <a:ext uri="{FF2B5EF4-FFF2-40B4-BE49-F238E27FC236}">
                <a16:creationId xmlns:a16="http://schemas.microsoft.com/office/drawing/2014/main" id="{8EC0EBD3-4840-4E00-AB37-DF6BF08C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00450"/>
            <a:ext cx="21336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word rows</a:t>
            </a:r>
          </a:p>
        </p:txBody>
      </p:sp>
      <p:sp>
        <p:nvSpPr>
          <p:cNvPr id="15" name="metric-note-1-word rows">
            <a:extLst xmlns:a="http://schemas.openxmlformats.org/drawingml/2006/main">
              <a:ext uri="{FF2B5EF4-FFF2-40B4-BE49-F238E27FC236}">
                <a16:creationId xmlns:a16="http://schemas.microsoft.com/office/drawing/2014/main" id="{DCF33547-7DEF-4CE9-B0DD-0D8213D6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838575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Word cards are exact written-form plus reading products.</a:t>
            </a:r>
          </a:p>
        </p:txBody>
      </p:sp>
      <p:sp>
        <p:nvSpPr>
          <p:cNvPr id="16" name="metric-box-1-proof events">
            <a:extLst xmlns:a="http://schemas.openxmlformats.org/drawingml/2006/main">
              <a:ext uri="{FF2B5EF4-FFF2-40B4-BE49-F238E27FC236}">
                <a16:creationId xmlns:a16="http://schemas.microsoft.com/office/drawing/2014/main" id="{AD8B954D-B66A-47B4-854E-F9F544F0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432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B4E71"/>
            </a:solidFill>
            <a:prstDash val="solid"/>
          </a:ln>
        </p:spPr>
      </p:sp>
      <p:sp>
        <p:nvSpPr>
          <p:cNvPr id="17" name="metric-accent-1-proof events">
            <a:extLst xmlns:a="http://schemas.openxmlformats.org/drawingml/2006/main">
              <a:ext uri="{FF2B5EF4-FFF2-40B4-BE49-F238E27FC236}">
                <a16:creationId xmlns:a16="http://schemas.microsoft.com/office/drawing/2014/main" id="{16751EE2-BD71-48A2-A7A0-E2D339EF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43250"/>
            <a:ext cx="571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18" name="metric-value-1-proof events">
            <a:extLst xmlns:a="http://schemas.openxmlformats.org/drawingml/2006/main">
              <a:ext uri="{FF2B5EF4-FFF2-40B4-BE49-F238E27FC236}">
                <a16:creationId xmlns:a16="http://schemas.microsoft.com/office/drawing/2014/main" id="{FC73BAAB-7AB6-4411-8FD2-191BE0DF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575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1,969</a:t>
            </a:r>
          </a:p>
        </p:txBody>
      </p:sp>
      <p:sp>
        <p:nvSpPr>
          <p:cNvPr id="19" name="metric-label-1-proof events">
            <a:extLst xmlns:a="http://schemas.openxmlformats.org/drawingml/2006/main">
              <a:ext uri="{FF2B5EF4-FFF2-40B4-BE49-F238E27FC236}">
                <a16:creationId xmlns:a16="http://schemas.microsoft.com/office/drawing/2014/main" id="{5B4474B9-6F3E-42E4-82AA-099E1825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00450"/>
            <a:ext cx="21336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proof events</a:t>
            </a:r>
          </a:p>
        </p:txBody>
      </p:sp>
      <p:sp>
        <p:nvSpPr>
          <p:cNvPr id="20" name="metric-note-1-proof events">
            <a:extLst xmlns:a="http://schemas.openxmlformats.org/drawingml/2006/main">
              <a:ext uri="{FF2B5EF4-FFF2-40B4-BE49-F238E27FC236}">
                <a16:creationId xmlns:a16="http://schemas.microsoft.com/office/drawing/2014/main" id="{2E163C85-924F-4477-B877-7C4FAD1E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38575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Canonical JSONL Obsidian proof for scoped locks.</a:t>
            </a:r>
          </a:p>
        </p:txBody>
      </p:sp>
      <p:sp>
        <p:nvSpPr>
          <p:cNvPr id="21" name="metric-box-1-release trust">
            <a:extLst xmlns:a="http://schemas.openxmlformats.org/drawingml/2006/main">
              <a:ext uri="{FF2B5EF4-FFF2-40B4-BE49-F238E27FC236}">
                <a16:creationId xmlns:a16="http://schemas.microsoft.com/office/drawing/2014/main" id="{68598D51-BB84-43BB-B37B-647B817A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03A2E"/>
            </a:solidFill>
            <a:prstDash val="solid"/>
          </a:ln>
        </p:spPr>
      </p:sp>
      <p:sp>
        <p:nvSpPr>
          <p:cNvPr id="22" name="metric-accent-1-release trust">
            <a:extLst xmlns:a="http://schemas.openxmlformats.org/drawingml/2006/main">
              <a:ext uri="{FF2B5EF4-FFF2-40B4-BE49-F238E27FC236}">
                <a16:creationId xmlns:a16="http://schemas.microsoft.com/office/drawing/2014/main" id="{6B63B4A5-83BC-4903-8408-A5A4D99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571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23" name="metric-value-1-release trust">
            <a:extLst xmlns:a="http://schemas.openxmlformats.org/drawingml/2006/main">
              <a:ext uri="{FF2B5EF4-FFF2-40B4-BE49-F238E27FC236}">
                <a16:creationId xmlns:a16="http://schemas.microsoft.com/office/drawing/2014/main" id="{ED846CBB-B122-4261-88BE-E4091E41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575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fail-closed</a:t>
            </a:r>
          </a:p>
        </p:txBody>
      </p:sp>
      <p:sp>
        <p:nvSpPr>
          <p:cNvPr id="24" name="metric-label-1-release trust">
            <a:extLst xmlns:a="http://schemas.openxmlformats.org/drawingml/2006/main">
              <a:ext uri="{FF2B5EF4-FFF2-40B4-BE49-F238E27FC236}">
                <a16:creationId xmlns:a16="http://schemas.microsoft.com/office/drawing/2014/main" id="{AAE6849B-F2A6-4AF8-B73D-2ACE92A2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1336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release trust</a:t>
            </a:r>
          </a:p>
        </p:txBody>
      </p:sp>
      <p:sp>
        <p:nvSpPr>
          <p:cNvPr id="25" name="metric-note-1-release trust">
            <a:extLst xmlns:a="http://schemas.openxmlformats.org/drawingml/2006/main">
              <a:ext uri="{FF2B5EF4-FFF2-40B4-BE49-F238E27FC236}">
                <a16:creationId xmlns:a16="http://schemas.microsoft.com/office/drawing/2014/main" id="{3457BA53-E0CE-41D0-8893-00073A78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38575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Open release blockers stay visible.</a:t>
            </a:r>
          </a:p>
        </p:txBody>
      </p:sp>
      <p:sp>
        <p:nvSpPr>
          <p:cNvPr id="26" name="stage-1-Inputs">
            <a:extLst xmlns:a="http://schemas.openxmlformats.org/drawingml/2006/main">
              <a:ext uri="{FF2B5EF4-FFF2-40B4-BE49-F238E27FC236}">
                <a16:creationId xmlns:a16="http://schemas.microsoft.com/office/drawing/2014/main" id="{4FA71D4F-6592-4B7D-B830-1CEE67C7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7C79"/>
            </a:solidFill>
            <a:prstDash val="solid"/>
          </a:ln>
        </p:spPr>
      </p:sp>
      <p:sp>
        <p:nvSpPr>
          <p:cNvPr id="27" name="stage-accent-1-Inputs">
            <a:extLst xmlns:a="http://schemas.openxmlformats.org/drawingml/2006/main">
              <a:ext uri="{FF2B5EF4-FFF2-40B4-BE49-F238E27FC236}">
                <a16:creationId xmlns:a16="http://schemas.microsoft.com/office/drawing/2014/main" id="{A8A0CBA3-A597-4606-81E2-02E2FD33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209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28" name="stage-label-1-Inputs">
            <a:extLst xmlns:a="http://schemas.openxmlformats.org/drawingml/2006/main">
              <a:ext uri="{FF2B5EF4-FFF2-40B4-BE49-F238E27FC236}">
                <a16:creationId xmlns:a16="http://schemas.microsoft.com/office/drawing/2014/main" id="{669EF2FA-6864-4642-9A07-D5D86DC7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86350"/>
            <a:ext cx="1943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Inputs</a:t>
            </a:r>
          </a:p>
        </p:txBody>
      </p:sp>
      <p:sp>
        <p:nvSpPr>
          <p:cNvPr id="29" name="stage-detail-1-Inputs">
            <a:extLst xmlns:a="http://schemas.openxmlformats.org/drawingml/2006/main">
              <a:ext uri="{FF2B5EF4-FFF2-40B4-BE49-F238E27FC236}">
                <a16:creationId xmlns:a16="http://schemas.microsoft.com/office/drawing/2014/main" id="{5F3A8491-C55A-4648-A2DD-02B8CCB3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625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JLPT contracts, source evidence, media policy, review templates</a:t>
            </a:r>
          </a:p>
        </p:txBody>
      </p:sp>
      <p:sp>
        <p:nvSpPr>
          <p:cNvPr id="30" name="support-1">
            <a:extLst xmlns:a="http://schemas.openxmlformats.org/drawingml/2006/main">
              <a:ext uri="{FF2B5EF4-FFF2-40B4-BE49-F238E27FC236}">
                <a16:creationId xmlns:a16="http://schemas.microsoft.com/office/drawing/2014/main" id="{A07F1119-23C9-4341-B7E1-02727EFC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5780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stage-1-Normalize">
            <a:extLst xmlns:a="http://schemas.openxmlformats.org/drawingml/2006/main">
              <a:ext uri="{FF2B5EF4-FFF2-40B4-BE49-F238E27FC236}">
                <a16:creationId xmlns:a16="http://schemas.microsoft.com/office/drawing/2014/main" id="{64BB1659-58C4-4B00-8EF2-A59A272C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5300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2"/>
          </a:solidFill>
          <a:ln xmlns:a="http://schemas.openxmlformats.org/drawingml/2006/main" w="9525">
            <a:solidFill>
              <a:srgbClr val="C98A17"/>
            </a:solidFill>
            <a:prstDash val="solid"/>
          </a:ln>
        </p:spPr>
      </p:sp>
      <p:sp>
        <p:nvSpPr>
          <p:cNvPr id="32" name="stage-accent-1-Normalize">
            <a:extLst xmlns:a="http://schemas.openxmlformats.org/drawingml/2006/main">
              <a:ext uri="{FF2B5EF4-FFF2-40B4-BE49-F238E27FC236}">
                <a16:creationId xmlns:a16="http://schemas.microsoft.com/office/drawing/2014/main" id="{7EDB0CCA-A389-408A-9C2E-205A90C3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53000"/>
            <a:ext cx="2209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33" name="stage-label-1-Normalize">
            <a:extLst xmlns:a="http://schemas.openxmlformats.org/drawingml/2006/main">
              <a:ext uri="{FF2B5EF4-FFF2-40B4-BE49-F238E27FC236}">
                <a16:creationId xmlns:a16="http://schemas.microsoft.com/office/drawing/2014/main" id="{47B54D85-7DD7-4590-90C5-D5589795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86350"/>
            <a:ext cx="1943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Normalize</a:t>
            </a:r>
          </a:p>
        </p:txBody>
      </p:sp>
      <p:sp>
        <p:nvSpPr>
          <p:cNvPr id="34" name="stage-detail-1-Normalize">
            <a:extLst xmlns:a="http://schemas.openxmlformats.org/drawingml/2006/main">
              <a:ext uri="{FF2B5EF4-FFF2-40B4-BE49-F238E27FC236}">
                <a16:creationId xmlns:a16="http://schemas.microsoft.com/office/drawing/2014/main" id="{F7FE9001-B05A-4644-99F0-12240214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3625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schema checks, inventory rules, exact card identity binding</a:t>
            </a:r>
          </a:p>
        </p:txBody>
      </p:sp>
      <p:sp>
        <p:nvSpPr>
          <p:cNvPr id="35" name="support-1">
            <a:extLst xmlns:a="http://schemas.openxmlformats.org/drawingml/2006/main">
              <a:ext uri="{FF2B5EF4-FFF2-40B4-BE49-F238E27FC236}">
                <a16:creationId xmlns:a16="http://schemas.microsoft.com/office/drawing/2014/main" id="{FFA135EB-5AB8-4EAD-A34E-E2AD9F47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25780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stage-1-Generate">
            <a:extLst xmlns:a="http://schemas.openxmlformats.org/drawingml/2006/main">
              <a:ext uri="{FF2B5EF4-FFF2-40B4-BE49-F238E27FC236}">
                <a16:creationId xmlns:a16="http://schemas.microsoft.com/office/drawing/2014/main" id="{C6DD057C-7053-4618-A4E5-DA0DB7FA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5300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B4E71"/>
            </a:solidFill>
            <a:prstDash val="solid"/>
          </a:ln>
        </p:spPr>
      </p:sp>
      <p:sp>
        <p:nvSpPr>
          <p:cNvPr id="37" name="stage-accent-1-Generate">
            <a:extLst xmlns:a="http://schemas.openxmlformats.org/drawingml/2006/main">
              <a:ext uri="{FF2B5EF4-FFF2-40B4-BE49-F238E27FC236}">
                <a16:creationId xmlns:a16="http://schemas.microsoft.com/office/drawing/2014/main" id="{01B65AF9-AC34-4C53-A708-6C43301A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53000"/>
            <a:ext cx="2209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38" name="stage-label-1-Generate">
            <a:extLst xmlns:a="http://schemas.openxmlformats.org/drawingml/2006/main">
              <a:ext uri="{FF2B5EF4-FFF2-40B4-BE49-F238E27FC236}">
                <a16:creationId xmlns:a16="http://schemas.microsoft.com/office/drawing/2014/main" id="{0CD8B75E-B88B-4212-8020-F59D0B65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086350"/>
            <a:ext cx="1943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Generate</a:t>
            </a:r>
          </a:p>
        </p:txBody>
      </p:sp>
      <p:sp>
        <p:nvSpPr>
          <p:cNvPr id="39" name="stage-detail-1-Generate">
            <a:extLst xmlns:a="http://schemas.openxmlformats.org/drawingml/2006/main">
              <a:ext uri="{FF2B5EF4-FFF2-40B4-BE49-F238E27FC236}">
                <a16:creationId xmlns:a16="http://schemas.microsoft.com/office/drawing/2014/main" id="{096FB112-D7A5-4195-92FD-39C7BFA0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25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deterministic TSV/APKG surfaces and internal reports</a:t>
            </a:r>
          </a:p>
        </p:txBody>
      </p:sp>
      <p:sp>
        <p:nvSpPr>
          <p:cNvPr id="40" name="support-1">
            <a:extLst xmlns:a="http://schemas.openxmlformats.org/drawingml/2006/main">
              <a:ext uri="{FF2B5EF4-FFF2-40B4-BE49-F238E27FC236}">
                <a16:creationId xmlns:a16="http://schemas.microsoft.com/office/drawing/2014/main" id="{2C1981E2-C708-4028-AC47-E0531379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57800"/>
            <a:ext cx="342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stage-1-Govern">
            <a:extLst xmlns:a="http://schemas.openxmlformats.org/drawingml/2006/main">
              <a:ext uri="{FF2B5EF4-FFF2-40B4-BE49-F238E27FC236}">
                <a16:creationId xmlns:a16="http://schemas.microsoft.com/office/drawing/2014/main" id="{E5697F3C-39F3-4C66-BFC5-5386B5A7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5300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2"/>
          </a:solidFill>
          <a:ln xmlns:a="http://schemas.openxmlformats.org/drawingml/2006/main" w="9525">
            <a:solidFill>
              <a:srgbClr val="B03A2E"/>
            </a:solidFill>
            <a:prstDash val="solid"/>
          </a:ln>
        </p:spPr>
      </p:sp>
      <p:sp>
        <p:nvSpPr>
          <p:cNvPr id="42" name="stage-accent-1-Govern">
            <a:extLst xmlns:a="http://schemas.openxmlformats.org/drawingml/2006/main">
              <a:ext uri="{FF2B5EF4-FFF2-40B4-BE49-F238E27FC236}">
                <a16:creationId xmlns:a16="http://schemas.microsoft.com/office/drawing/2014/main" id="{7655FD6E-5558-4FA4-9B24-7890CD1A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53000"/>
            <a:ext cx="2209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43" name="stage-label-1-Govern">
            <a:extLst xmlns:a="http://schemas.openxmlformats.org/drawingml/2006/main">
              <a:ext uri="{FF2B5EF4-FFF2-40B4-BE49-F238E27FC236}">
                <a16:creationId xmlns:a16="http://schemas.microsoft.com/office/drawing/2014/main" id="{59737F2B-820B-4AD7-AADE-21CF6402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86350"/>
            <a:ext cx="1943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Govern</a:t>
            </a:r>
          </a:p>
        </p:txBody>
      </p:sp>
      <p:sp>
        <p:nvSpPr>
          <p:cNvPr id="44" name="stage-detail-1-Govern">
            <a:extLst xmlns:a="http://schemas.openxmlformats.org/drawingml/2006/main">
              <a:ext uri="{FF2B5EF4-FFF2-40B4-BE49-F238E27FC236}">
                <a16:creationId xmlns:a16="http://schemas.microsoft.com/office/drawing/2014/main" id="{C9045655-B57B-4C2E-AC96-38F0C3D3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3625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Gold, Sapphire, Platinum, Obsidian, release trust</a:t>
            </a:r>
          </a:p>
        </p:txBody>
      </p:sp>
      <p:sp>
        <p:nvSpPr>
          <p:cNvPr id="45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79F4959C-E9F4-48AD-9C14-57E6FAD7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46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ECB8708A-DC3E-4DA0-BA1A-B29E9FFA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README.md; deck:closeout; data:obsidian:proof:validate; security:release-trust. Branch presentations/whole-program-reviewer-packet.</a:t>
            </a:r>
          </a:p>
        </p:txBody>
      </p:sp>
      <p:sp>
        <p:nvSpPr>
          <p:cNvPr id="47" name="page-marker-1">
            <a:extLst xmlns:a="http://schemas.openxmlformats.org/drawingml/2006/main">
              <a:ext uri="{FF2B5EF4-FFF2-40B4-BE49-F238E27FC236}">
                <a16:creationId xmlns:a16="http://schemas.microsoft.com/office/drawing/2014/main" id="{2546DB9F-8418-4044-A40F-74375994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016198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56DD1B0-5367-43DE-8FC8-1DF7A9F6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DC59469D-4EFC-4790-AF69-436B691E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3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25A59F25-3F2D-4C1F-A485-B8E699BB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PIPELINE AUTHORITY</a:t>
            </a:r>
          </a:p>
        </p:txBody>
      </p:sp>
      <p:sp>
        <p:nvSpPr>
          <p:cNvPr id="4" name="claim-title-2">
            <a:extLst xmlns:a="http://schemas.openxmlformats.org/drawingml/2006/main">
              <a:ext uri="{FF2B5EF4-FFF2-40B4-BE49-F238E27FC236}">
                <a16:creationId xmlns:a16="http://schemas.microsoft.com/office/drawing/2014/main" id="{C5C4E93A-35F8-441A-B345-B0B8F33B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191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Trust moves through contracts and gates, not through generated output.</a:t>
            </a:r>
          </a:p>
        </p:txBody>
      </p:sp>
      <p:sp>
        <p:nvSpPr>
          <p:cNvPr id="5" name="support-2">
            <a:extLst xmlns:a="http://schemas.openxmlformats.org/drawingml/2006/main">
              <a:ext uri="{FF2B5EF4-FFF2-40B4-BE49-F238E27FC236}">
                <a16:creationId xmlns:a16="http://schemas.microsoft.com/office/drawing/2014/main" id="{3A745090-6E0F-457D-808E-8170FA46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685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The generated deck surface is inspected, but it does not become source truth. Each lane keeps its own denominator, evidence type, and failure mode.</a:t>
            </a:r>
          </a:p>
        </p:txBody>
      </p:sp>
      <p:sp>
        <p:nvSpPr>
          <p:cNvPr id="6" name="stage-2-Tracked inputs">
            <a:extLst xmlns:a="http://schemas.openxmlformats.org/drawingml/2006/main">
              <a:ext uri="{FF2B5EF4-FFF2-40B4-BE49-F238E27FC236}">
                <a16:creationId xmlns:a16="http://schemas.microsoft.com/office/drawing/2014/main" id="{4C3472D3-CC82-4F81-8EA7-6CEE1150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1924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7C79"/>
            </a:solidFill>
            <a:prstDash val="solid"/>
          </a:ln>
        </p:spPr>
      </p:sp>
      <p:sp>
        <p:nvSpPr>
          <p:cNvPr id="7" name="stage-accent-2-Tracked inputs">
            <a:extLst xmlns:a="http://schemas.openxmlformats.org/drawingml/2006/main">
              <a:ext uri="{FF2B5EF4-FFF2-40B4-BE49-F238E27FC236}">
                <a16:creationId xmlns:a16="http://schemas.microsoft.com/office/drawing/2014/main" id="{FD2F1A25-E4D7-46F4-81F8-1D15CC96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1924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8" name="stage-label-2-Tracked inputs">
            <a:extLst xmlns:a="http://schemas.openxmlformats.org/drawingml/2006/main">
              <a:ext uri="{FF2B5EF4-FFF2-40B4-BE49-F238E27FC236}">
                <a16:creationId xmlns:a16="http://schemas.microsoft.com/office/drawing/2014/main" id="{0582666E-E2E1-4FCC-947F-FC495D46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657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Tracked inputs</a:t>
            </a:r>
          </a:p>
        </p:txBody>
      </p:sp>
      <p:sp>
        <p:nvSpPr>
          <p:cNvPr id="9" name="stage-detail-2-Tracked inputs">
            <a:extLst xmlns:a="http://schemas.openxmlformats.org/drawingml/2006/main">
              <a:ext uri="{FF2B5EF4-FFF2-40B4-BE49-F238E27FC236}">
                <a16:creationId xmlns:a16="http://schemas.microsoft.com/office/drawing/2014/main" id="{929B1352-7610-4773-AB29-0BF77884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765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JLPT kanji and word contracts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source evidence manifests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media and card schemas</a:t>
            </a:r>
          </a:p>
        </p:txBody>
      </p:sp>
      <p:sp>
        <p:nvSpPr>
          <p:cNvPr id="10" name="support-2">
            <a:extLst xmlns:a="http://schemas.openxmlformats.org/drawingml/2006/main">
              <a:ext uri="{FF2B5EF4-FFF2-40B4-BE49-F238E27FC236}">
                <a16:creationId xmlns:a16="http://schemas.microsoft.com/office/drawing/2014/main" id="{5929A6B9-875D-40FB-A5AD-7B42FB85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05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stage-2-Normalization">
            <a:extLst xmlns:a="http://schemas.openxmlformats.org/drawingml/2006/main">
              <a:ext uri="{FF2B5EF4-FFF2-40B4-BE49-F238E27FC236}">
                <a16:creationId xmlns:a16="http://schemas.microsoft.com/office/drawing/2014/main" id="{DC0E221D-F36E-439B-86DD-FF68B68A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67000"/>
            <a:ext cx="1924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7C79"/>
            </a:solidFill>
            <a:prstDash val="solid"/>
          </a:ln>
        </p:spPr>
      </p:sp>
      <p:sp>
        <p:nvSpPr>
          <p:cNvPr id="12" name="stage-accent-2-Normalization">
            <a:extLst xmlns:a="http://schemas.openxmlformats.org/drawingml/2006/main">
              <a:ext uri="{FF2B5EF4-FFF2-40B4-BE49-F238E27FC236}">
                <a16:creationId xmlns:a16="http://schemas.microsoft.com/office/drawing/2014/main" id="{A894C06D-2912-4053-95EE-87C2FA04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67000"/>
            <a:ext cx="1924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13" name="stage-label-2-Normalization">
            <a:extLst xmlns:a="http://schemas.openxmlformats.org/drawingml/2006/main">
              <a:ext uri="{FF2B5EF4-FFF2-40B4-BE49-F238E27FC236}">
                <a16:creationId xmlns:a16="http://schemas.microsoft.com/office/drawing/2014/main" id="{4941C710-1672-4709-988C-ED5A8484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00350"/>
            <a:ext cx="1657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Normalization</a:t>
            </a:r>
          </a:p>
        </p:txBody>
      </p:sp>
      <p:sp>
        <p:nvSpPr>
          <p:cNvPr id="14" name="stage-detail-2-Normalization">
            <a:extLst xmlns:a="http://schemas.openxmlformats.org/drawingml/2006/main">
              <a:ext uri="{FF2B5EF4-FFF2-40B4-BE49-F238E27FC236}">
                <a16:creationId xmlns:a16="http://schemas.microsoft.com/office/drawing/2014/main" id="{5277295E-DCD0-4EC3-BAEE-9BC20205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765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dedupe and level placement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field identity checks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reading and policy constraints</a:t>
            </a:r>
          </a:p>
        </p:txBody>
      </p:sp>
      <p:sp>
        <p:nvSpPr>
          <p:cNvPr id="15" name="support-2">
            <a:extLst xmlns:a="http://schemas.openxmlformats.org/drawingml/2006/main">
              <a:ext uri="{FF2B5EF4-FFF2-40B4-BE49-F238E27FC236}">
                <a16:creationId xmlns:a16="http://schemas.microsoft.com/office/drawing/2014/main" id="{A1C42A0A-17D4-405B-81A3-B4C1D006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05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stage-2-Generated surfaces">
            <a:extLst xmlns:a="http://schemas.openxmlformats.org/drawingml/2006/main">
              <a:ext uri="{FF2B5EF4-FFF2-40B4-BE49-F238E27FC236}">
                <a16:creationId xmlns:a16="http://schemas.microsoft.com/office/drawing/2014/main" id="{2B013753-2926-4805-84DB-89B30861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7000"/>
            <a:ext cx="1924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9525">
            <a:solidFill>
              <a:srgbClr val="C98A17"/>
            </a:solidFill>
            <a:prstDash val="solid"/>
          </a:ln>
        </p:spPr>
      </p:sp>
      <p:sp>
        <p:nvSpPr>
          <p:cNvPr id="17" name="stage-accent-2-Generated surfaces">
            <a:extLst xmlns:a="http://schemas.openxmlformats.org/drawingml/2006/main">
              <a:ext uri="{FF2B5EF4-FFF2-40B4-BE49-F238E27FC236}">
                <a16:creationId xmlns:a16="http://schemas.microsoft.com/office/drawing/2014/main" id="{BFDABA6C-E8A3-4071-A0BF-2607B961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7000"/>
            <a:ext cx="1924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18" name="stage-label-2-Generated surfaces">
            <a:extLst xmlns:a="http://schemas.openxmlformats.org/drawingml/2006/main">
              <a:ext uri="{FF2B5EF4-FFF2-40B4-BE49-F238E27FC236}">
                <a16:creationId xmlns:a16="http://schemas.microsoft.com/office/drawing/2014/main" id="{8DCD938E-56DC-44DD-8D2E-4059A9FF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00350"/>
            <a:ext cx="1657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Generated surfaces</a:t>
            </a:r>
          </a:p>
        </p:txBody>
      </p:sp>
      <p:sp>
        <p:nvSpPr>
          <p:cNvPr id="19" name="stage-detail-2-Generated surfaces">
            <a:extLst xmlns:a="http://schemas.openxmlformats.org/drawingml/2006/main">
              <a:ext uri="{FF2B5EF4-FFF2-40B4-BE49-F238E27FC236}">
                <a16:creationId xmlns:a16="http://schemas.microsoft.com/office/drawing/2014/main" id="{1EEBA983-4E67-4AC6-86A1-512ECF5C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765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TSV rows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APKG/package support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internal reports</a:t>
            </a:r>
          </a:p>
        </p:txBody>
      </p:sp>
      <p:sp>
        <p:nvSpPr>
          <p:cNvPr id="20" name="support-2">
            <a:extLst xmlns:a="http://schemas.openxmlformats.org/drawingml/2006/main">
              <a:ext uri="{FF2B5EF4-FFF2-40B4-BE49-F238E27FC236}">
                <a16:creationId xmlns:a16="http://schemas.microsoft.com/office/drawing/2014/main" id="{2FEDF363-C81C-44AC-AAB4-B9367873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05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stage-2-Review lanes">
            <a:extLst xmlns:a="http://schemas.openxmlformats.org/drawingml/2006/main">
              <a:ext uri="{FF2B5EF4-FFF2-40B4-BE49-F238E27FC236}">
                <a16:creationId xmlns:a16="http://schemas.microsoft.com/office/drawing/2014/main" id="{BE678996-FA0F-4412-87C8-971C84C3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1924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B4E71"/>
            </a:solidFill>
            <a:prstDash val="solid"/>
          </a:ln>
        </p:spPr>
      </p:sp>
      <p:sp>
        <p:nvSpPr>
          <p:cNvPr id="22" name="stage-accent-2-Review lanes">
            <a:extLst xmlns:a="http://schemas.openxmlformats.org/drawingml/2006/main">
              <a:ext uri="{FF2B5EF4-FFF2-40B4-BE49-F238E27FC236}">
                <a16:creationId xmlns:a16="http://schemas.microsoft.com/office/drawing/2014/main" id="{D72D0266-B749-49F2-9F79-12BD177E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1924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23" name="stage-label-2-Review lanes">
            <a:extLst xmlns:a="http://schemas.openxmlformats.org/drawingml/2006/main">
              <a:ext uri="{FF2B5EF4-FFF2-40B4-BE49-F238E27FC236}">
                <a16:creationId xmlns:a16="http://schemas.microsoft.com/office/drawing/2014/main" id="{C292D7CC-102C-43C3-84EF-E62A2AEA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00350"/>
            <a:ext cx="1657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Review lanes</a:t>
            </a:r>
          </a:p>
        </p:txBody>
      </p:sp>
      <p:sp>
        <p:nvSpPr>
          <p:cNvPr id="24" name="stage-detail-2-Review lanes">
            <a:extLst xmlns:a="http://schemas.openxmlformats.org/drawingml/2006/main">
              <a:ext uri="{FF2B5EF4-FFF2-40B4-BE49-F238E27FC236}">
                <a16:creationId xmlns:a16="http://schemas.microsoft.com/office/drawing/2014/main" id="{3C37555B-1B44-4512-830A-E36928ED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765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Gold regression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Sapphire structure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Platinum surface</a:t>
            </a:r>
          </a:p>
        </p:txBody>
      </p:sp>
      <p:sp>
        <p:nvSpPr>
          <p:cNvPr id="25" name="support-2">
            <a:extLst xmlns:a="http://schemas.openxmlformats.org/drawingml/2006/main">
              <a:ext uri="{FF2B5EF4-FFF2-40B4-BE49-F238E27FC236}">
                <a16:creationId xmlns:a16="http://schemas.microsoft.com/office/drawing/2014/main" id="{8F5551F8-3EDC-479D-AD0F-0FED0CAB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stage-2-Proof/release">
            <a:extLst xmlns:a="http://schemas.openxmlformats.org/drawingml/2006/main">
              <a:ext uri="{FF2B5EF4-FFF2-40B4-BE49-F238E27FC236}">
                <a16:creationId xmlns:a16="http://schemas.microsoft.com/office/drawing/2014/main" id="{CB456F4A-6A36-41E0-AB6F-E9CA82B1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67000"/>
            <a:ext cx="1924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03A2E"/>
            </a:solidFill>
            <a:prstDash val="solid"/>
          </a:ln>
        </p:spPr>
      </p:sp>
      <p:sp>
        <p:nvSpPr>
          <p:cNvPr id="27" name="stage-accent-2-Proof/release">
            <a:extLst xmlns:a="http://schemas.openxmlformats.org/drawingml/2006/main">
              <a:ext uri="{FF2B5EF4-FFF2-40B4-BE49-F238E27FC236}">
                <a16:creationId xmlns:a16="http://schemas.microsoft.com/office/drawing/2014/main" id="{62EEF578-A1D2-4ED4-8F11-693C79C4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67000"/>
            <a:ext cx="1924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28" name="stage-label-2-Proof/release">
            <a:extLst xmlns:a="http://schemas.openxmlformats.org/drawingml/2006/main">
              <a:ext uri="{FF2B5EF4-FFF2-40B4-BE49-F238E27FC236}">
                <a16:creationId xmlns:a16="http://schemas.microsoft.com/office/drawing/2014/main" id="{CB2B2928-A5C0-478E-86A4-34FED0F3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00350"/>
            <a:ext cx="1657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Proof/release</a:t>
            </a:r>
          </a:p>
        </p:txBody>
      </p:sp>
      <p:sp>
        <p:nvSpPr>
          <p:cNvPr id="29" name="stage-detail-2-Proof/release">
            <a:extLst xmlns:a="http://schemas.openxmlformats.org/drawingml/2006/main">
              <a:ext uri="{FF2B5EF4-FFF2-40B4-BE49-F238E27FC236}">
                <a16:creationId xmlns:a16="http://schemas.microsoft.com/office/drawing/2014/main" id="{CC0EF125-8D53-4F8D-B3E4-1A45B63C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0765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Obsidian ledger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release trust</a:t>
            </a:r>
          </a:p>
          <a:p xmlns:a="http://schemas.openxmlformats.org/drawingml/2006/main">
            <a:pPr algn="l">
              <a:buNone/>
              <a:defRPr sz="91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manual QA reminders</a:t>
            </a:r>
          </a:p>
        </p:txBody>
      </p:sp>
      <p:sp>
        <p:nvSpPr>
          <p:cNvPr id="30" name="boundary-dot-0">
            <a:extLst xmlns:a="http://schemas.openxmlformats.org/drawingml/2006/main">
              <a:ext uri="{FF2B5EF4-FFF2-40B4-BE49-F238E27FC236}">
                <a16:creationId xmlns:a16="http://schemas.microsoft.com/office/drawing/2014/main" id="{80F553AB-4BE5-401E-9472-6AED8AB0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31" name="support-2">
            <a:extLst xmlns:a="http://schemas.openxmlformats.org/drawingml/2006/main">
              <a:ext uri="{FF2B5EF4-FFF2-40B4-BE49-F238E27FC236}">
                <a16:creationId xmlns:a16="http://schemas.microsoft.com/office/drawing/2014/main" id="{F9B9EA7C-2F38-4146-B420-F8AC2C11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7197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 lane borrowing</a:t>
            </a:r>
          </a:p>
        </p:txBody>
      </p:sp>
      <p:sp>
        <p:nvSpPr>
          <p:cNvPr id="32" name="support-2">
            <a:extLst xmlns:a="http://schemas.openxmlformats.org/drawingml/2006/main">
              <a:ext uri="{FF2B5EF4-FFF2-40B4-BE49-F238E27FC236}">
                <a16:creationId xmlns:a16="http://schemas.microsoft.com/office/drawing/2014/main" id="{B1FE0A3E-A959-4E9C-B334-2DBC75A6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71975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Sapphire does not imply Platinum or Obsidian.</a:t>
            </a:r>
          </a:p>
        </p:txBody>
      </p:sp>
      <p:sp>
        <p:nvSpPr>
          <p:cNvPr id="33" name="boundary-dot-1">
            <a:extLst xmlns:a="http://schemas.openxmlformats.org/drawingml/2006/main">
              <a:ext uri="{FF2B5EF4-FFF2-40B4-BE49-F238E27FC236}">
                <a16:creationId xmlns:a16="http://schemas.microsoft.com/office/drawing/2014/main" id="{49A0F845-BBB1-4973-B04E-093C9890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34" name="support-2">
            <a:extLst xmlns:a="http://schemas.openxmlformats.org/drawingml/2006/main">
              <a:ext uri="{FF2B5EF4-FFF2-40B4-BE49-F238E27FC236}">
                <a16:creationId xmlns:a16="http://schemas.microsoft.com/office/drawing/2014/main" id="{49B51DA5-CDB1-4003-A34E-F72160C2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5297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Support-only NLP</a:t>
            </a:r>
          </a:p>
        </p:txBody>
      </p:sp>
      <p:sp>
        <p:nvSpPr>
          <p:cNvPr id="35" name="support-2">
            <a:extLst xmlns:a="http://schemas.openxmlformats.org/drawingml/2006/main">
              <a:ext uri="{FF2B5EF4-FFF2-40B4-BE49-F238E27FC236}">
                <a16:creationId xmlns:a16="http://schemas.microsoft.com/office/drawing/2014/main" id="{3347B554-BAEA-4AC5-B4AD-046C4380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52975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Signals help review; they do not certify cards.</a:t>
            </a:r>
          </a:p>
        </p:txBody>
      </p:sp>
      <p:sp>
        <p:nvSpPr>
          <p:cNvPr id="36" name="boundary-dot-2">
            <a:extLst xmlns:a="http://schemas.openxmlformats.org/drawingml/2006/main">
              <a:ext uri="{FF2B5EF4-FFF2-40B4-BE49-F238E27FC236}">
                <a16:creationId xmlns:a16="http://schemas.microsoft.com/office/drawing/2014/main" id="{56F66F14-9EC5-4B76-AEE1-6DE259A8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37" name="support-2">
            <a:extLst xmlns:a="http://schemas.openxmlformats.org/drawingml/2006/main">
              <a:ext uri="{FF2B5EF4-FFF2-40B4-BE49-F238E27FC236}">
                <a16:creationId xmlns:a16="http://schemas.microsoft.com/office/drawing/2014/main" id="{D1E6CC08-4F10-4835-B8A4-EE2CEBB5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3397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Mechanical readiness</a:t>
            </a:r>
          </a:p>
        </p:txBody>
      </p:sp>
      <p:sp>
        <p:nvSpPr>
          <p:cNvPr id="38" name="support-2">
            <a:extLst xmlns:a="http://schemas.openxmlformats.org/drawingml/2006/main">
              <a:ext uri="{FF2B5EF4-FFF2-40B4-BE49-F238E27FC236}">
                <a16:creationId xmlns:a16="http://schemas.microsoft.com/office/drawing/2014/main" id="{3057434F-453C-4790-ADD5-7201BF51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33975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Media/package checks are release support, not content trust.</a:t>
            </a:r>
          </a:p>
        </p:txBody>
      </p:sp>
      <p:sp>
        <p:nvSpPr>
          <p:cNvPr id="39" name="boundary-dot-3">
            <a:extLst xmlns:a="http://schemas.openxmlformats.org/drawingml/2006/main">
              <a:ext uri="{FF2B5EF4-FFF2-40B4-BE49-F238E27FC236}">
                <a16:creationId xmlns:a16="http://schemas.microsoft.com/office/drawing/2014/main" id="{4F9EA9EC-59BD-4342-9F5B-C01AEC3F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40" name="support-2">
            <a:extLst xmlns:a="http://schemas.openxmlformats.org/drawingml/2006/main">
              <a:ext uri="{FF2B5EF4-FFF2-40B4-BE49-F238E27FC236}">
                <a16:creationId xmlns:a16="http://schemas.microsoft.com/office/drawing/2014/main" id="{19AD1F45-ADF3-4B45-93AC-6DCA2B1F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1497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Proof ledger scope</a:t>
            </a:r>
          </a:p>
        </p:txBody>
      </p:sp>
      <p:sp>
        <p:nvSpPr>
          <p:cNvPr id="41" name="support-2">
            <a:extLst xmlns:a="http://schemas.openxmlformats.org/drawingml/2006/main">
              <a:ext uri="{FF2B5EF4-FFF2-40B4-BE49-F238E27FC236}">
                <a16:creationId xmlns:a16="http://schemas.microsoft.com/office/drawing/2014/main" id="{5911F446-AB8E-4E36-9668-9CB9A233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14975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Canonical proof certifies only recorded scoped locks.</a:t>
            </a:r>
          </a:p>
        </p:txBody>
      </p:sp>
      <p:sp>
        <p:nvSpPr>
          <p:cNvPr id="42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3E64E591-56EA-4B2C-8612-38803C0B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43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DB48E055-C4C8-4A63-BACD-4B287B0A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README lane contracts; review-system-forward-contract; closeout operating hygiene.</a:t>
            </a:r>
          </a:p>
        </p:txBody>
      </p:sp>
      <p:sp>
        <p:nvSpPr>
          <p:cNvPr id="44" name="page-marker-2">
            <a:extLst xmlns:a="http://schemas.openxmlformats.org/drawingml/2006/main">
              <a:ext uri="{FF2B5EF4-FFF2-40B4-BE49-F238E27FC236}">
                <a16:creationId xmlns:a16="http://schemas.microsoft.com/office/drawing/2014/main" id="{0BA71FBC-2807-4ACE-AF85-C85E7375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825138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3C9153A-86AF-4AAC-917F-3803207C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2"/>
          </a:solidFill>
          <a:ln xmlns:a="http://schemas.openxmlformats.org/drawingml/2006/main" w="0">
            <a:solidFill>
              <a:srgbClr val="F0F4F2"/>
            </a:solidFill>
            <a:prstDash val="solid"/>
          </a:ln>
        </p:spPr>
      </p:sp>
      <p:sp>
        <p:nvSpPr>
          <p:cNvPr id="2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CB7EE1BC-ABAF-4CE2-80EC-8F4B77B4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3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075FB3B0-FA02-4C5A-A21A-0D8667AE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98A1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98A17"/>
                </a:solidFill>
                <a:latin typeface="Aptos Mono"/>
                <a:ea typeface="Aptos Mono"/>
                <a:cs typeface="Aptos Mono"/>
              </a:rPr>
              <a:t>PRODUCT SEPARATION</a:t>
            </a:r>
          </a:p>
        </p:txBody>
      </p:sp>
      <p:sp>
        <p:nvSpPr>
          <p:cNvPr id="4" name="claim-title-3">
            <a:extLst xmlns:a="http://schemas.openxmlformats.org/drawingml/2006/main">
              <a:ext uri="{FF2B5EF4-FFF2-40B4-BE49-F238E27FC236}">
                <a16:creationId xmlns:a16="http://schemas.microsoft.com/office/drawing/2014/main" id="{38A511EB-4835-418F-B274-AA9C64DE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667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Kanji and word decks are different products with different trust contracts.</a:t>
            </a:r>
          </a:p>
        </p:txBody>
      </p:sp>
      <p:sp>
        <p:nvSpPr>
          <p:cNvPr id="5" name="support-3">
            <a:extLst xmlns:a="http://schemas.openxmlformats.org/drawingml/2006/main">
              <a:ext uri="{FF2B5EF4-FFF2-40B4-BE49-F238E27FC236}">
                <a16:creationId xmlns:a16="http://schemas.microsoft.com/office/drawing/2014/main" id="{5A2B6748-8C3B-4688-BA46-F815A65C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790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A kanji card teaches one target kanji. A word card teaches one exact written form and reading. The pipeline keeps those identities separate through generation, review, proof, and release support.</a:t>
            </a:r>
          </a:p>
        </p:txBody>
      </p:sp>
      <p:sp>
        <p:nvSpPr>
          <p:cNvPr id="6" name="row-3-">
            <a:extLst xmlns:a="http://schemas.openxmlformats.org/drawingml/2006/main">
              <a:ext uri="{FF2B5EF4-FFF2-40B4-BE49-F238E27FC236}">
                <a16:creationId xmlns:a16="http://schemas.microsoft.com/office/drawing/2014/main" id="{93B66773-109C-4F5C-80CB-493A66A0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10172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5715">
            <a:solidFill>
              <a:srgbClr val="17202A"/>
            </a:solidFill>
            <a:prstDash val="solid"/>
          </a:ln>
        </p:spPr>
      </p:sp>
      <p:sp>
        <p:nvSpPr>
          <p:cNvPr id="7" name="row-text-3--0">
            <a:extLst xmlns:a="http://schemas.openxmlformats.org/drawingml/2006/main">
              <a:ext uri="{FF2B5EF4-FFF2-40B4-BE49-F238E27FC236}">
                <a16:creationId xmlns:a16="http://schemas.microsoft.com/office/drawing/2014/main" id="{4E18FFE0-7095-4871-8DDB-7F5FDAA3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943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row-text-3--1">
            <a:extLst xmlns:a="http://schemas.openxmlformats.org/drawingml/2006/main">
              <a:ext uri="{FF2B5EF4-FFF2-40B4-BE49-F238E27FC236}">
                <a16:creationId xmlns:a16="http://schemas.microsoft.com/office/drawing/2014/main" id="{0A3B3D24-54D6-48B4-9A84-4C5A88DA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05100"/>
            <a:ext cx="388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row-text-3--2">
            <a:extLst xmlns:a="http://schemas.openxmlformats.org/drawingml/2006/main">
              <a:ext uri="{FF2B5EF4-FFF2-40B4-BE49-F238E27FC236}">
                <a16:creationId xmlns:a16="http://schemas.microsoft.com/office/drawing/2014/main" id="{C5033C6C-235C-4C65-8EBF-0C90030A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388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row-3-Card identity">
            <a:extLst xmlns:a="http://schemas.openxmlformats.org/drawingml/2006/main">
              <a:ext uri="{FF2B5EF4-FFF2-40B4-BE49-F238E27FC236}">
                <a16:creationId xmlns:a16="http://schemas.microsoft.com/office/drawing/2014/main" id="{5BC51747-BBB0-4E96-81D0-F15D526B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0172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11" name="row-text-3-Card identity-0">
            <a:extLst xmlns:a="http://schemas.openxmlformats.org/drawingml/2006/main">
              <a:ext uri="{FF2B5EF4-FFF2-40B4-BE49-F238E27FC236}">
                <a16:creationId xmlns:a16="http://schemas.microsoft.com/office/drawing/2014/main" id="{ABE0889D-D5E8-43B9-B5AB-51E15BC9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943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Card identity</a:t>
            </a:r>
          </a:p>
        </p:txBody>
      </p:sp>
      <p:sp>
        <p:nvSpPr>
          <p:cNvPr id="12" name="row-text-3-Card identity-1">
            <a:extLst xmlns:a="http://schemas.openxmlformats.org/drawingml/2006/main">
              <a:ext uri="{FF2B5EF4-FFF2-40B4-BE49-F238E27FC236}">
                <a16:creationId xmlns:a16="http://schemas.microsoft.com/office/drawing/2014/main" id="{BE8802A5-265D-4F6D-B4BA-BF0D67E3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8135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target kanji; readings, meaning, examples support the kanji.</a:t>
            </a:r>
          </a:p>
        </p:txBody>
      </p:sp>
      <p:sp>
        <p:nvSpPr>
          <p:cNvPr id="13" name="row-text-3-Card identity-2">
            <a:extLst xmlns:a="http://schemas.openxmlformats.org/drawingml/2006/main">
              <a:ext uri="{FF2B5EF4-FFF2-40B4-BE49-F238E27FC236}">
                <a16:creationId xmlns:a16="http://schemas.microsoft.com/office/drawing/2014/main" id="{F63477F8-356B-4D80-BA55-89DDDCA6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8135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Exact written form plus reading, such as a vocabulary identity.</a:t>
            </a:r>
          </a:p>
        </p:txBody>
      </p:sp>
      <p:sp>
        <p:nvSpPr>
          <p:cNvPr id="14" name="row-3-Generated denominator">
            <a:extLst xmlns:a="http://schemas.openxmlformats.org/drawingml/2006/main">
              <a:ext uri="{FF2B5EF4-FFF2-40B4-BE49-F238E27FC236}">
                <a16:creationId xmlns:a16="http://schemas.microsoft.com/office/drawing/2014/main" id="{0E575C14-CB87-451C-B66D-E7BB20F2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172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15" name="row-text-3-Generated denominator-0">
            <a:extLst xmlns:a="http://schemas.openxmlformats.org/drawingml/2006/main">
              <a:ext uri="{FF2B5EF4-FFF2-40B4-BE49-F238E27FC236}">
                <a16:creationId xmlns:a16="http://schemas.microsoft.com/office/drawing/2014/main" id="{50F5EBC1-E8D2-4D1A-9920-B47272DC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943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Generated denominator</a:t>
            </a:r>
          </a:p>
        </p:txBody>
      </p:sp>
      <p:sp>
        <p:nvSpPr>
          <p:cNvPr id="16" name="row-text-3-Generated denominator-1">
            <a:extLst xmlns:a="http://schemas.openxmlformats.org/drawingml/2006/main">
              <a:ext uri="{FF2B5EF4-FFF2-40B4-BE49-F238E27FC236}">
                <a16:creationId xmlns:a16="http://schemas.microsoft.com/office/drawing/2014/main" id="{C54F015C-6F42-480F-82B1-33B8AA5F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3380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JLPT core kanji contracts by level; N1 remains the largest active core backlog.</a:t>
            </a:r>
          </a:p>
        </p:txBody>
      </p:sp>
      <p:sp>
        <p:nvSpPr>
          <p:cNvPr id="17" name="row-text-3-Generated denominator-2">
            <a:extLst xmlns:a="http://schemas.openxmlformats.org/drawingml/2006/main">
              <a:ext uri="{FF2B5EF4-FFF2-40B4-BE49-F238E27FC236}">
                <a16:creationId xmlns:a16="http://schemas.microsoft.com/office/drawing/2014/main" id="{54AD7B31-06B9-405A-A4CA-F3ED42B2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3380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Canonical word inventory rows by level; N3/N2/N1 are expansion surfaces.</a:t>
            </a:r>
          </a:p>
        </p:txBody>
      </p:sp>
      <p:sp>
        <p:nvSpPr>
          <p:cNvPr id="18" name="row-3-Review gates">
            <a:extLst xmlns:a="http://schemas.openxmlformats.org/drawingml/2006/main">
              <a:ext uri="{FF2B5EF4-FFF2-40B4-BE49-F238E27FC236}">
                <a16:creationId xmlns:a16="http://schemas.microsoft.com/office/drawing/2014/main" id="{9C107F1B-6869-48A9-B419-CCAF4457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10172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19" name="row-text-3-Review gates-0">
            <a:extLst xmlns:a="http://schemas.openxmlformats.org/drawingml/2006/main">
              <a:ext uri="{FF2B5EF4-FFF2-40B4-BE49-F238E27FC236}">
                <a16:creationId xmlns:a16="http://schemas.microsoft.com/office/drawing/2014/main" id="{C9680F11-1931-415E-860A-04ABDEF4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943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Review gates</a:t>
            </a:r>
          </a:p>
        </p:txBody>
      </p:sp>
      <p:sp>
        <p:nvSpPr>
          <p:cNvPr id="20" name="row-text-3-Review gates-1">
            <a:extLst xmlns:a="http://schemas.openxmlformats.org/drawingml/2006/main">
              <a:ext uri="{FF2B5EF4-FFF2-40B4-BE49-F238E27FC236}">
                <a16:creationId xmlns:a16="http://schemas.microsoft.com/office/drawing/2014/main" id="{329B4C79-417C-4270-955E-AC1831A6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8625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Gold, native Sapphire, Platinum, and Obsidian use kanji-specific schemas.</a:t>
            </a:r>
          </a:p>
        </p:txBody>
      </p:sp>
      <p:sp>
        <p:nvSpPr>
          <p:cNvPr id="21" name="row-text-3-Review gates-2">
            <a:extLst xmlns:a="http://schemas.openxmlformats.org/drawingml/2006/main">
              <a:ext uri="{FF2B5EF4-FFF2-40B4-BE49-F238E27FC236}">
                <a16:creationId xmlns:a16="http://schemas.microsoft.com/office/drawing/2014/main" id="{45EAA086-1086-4B4F-AB3C-400A8FEB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8625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Gold, native Sapphire, Platinum, and Obsidian use word-specific schemas.</a:t>
            </a:r>
          </a:p>
        </p:txBody>
      </p:sp>
      <p:sp>
        <p:nvSpPr>
          <p:cNvPr id="22" name="row-3-Evidence boundary">
            <a:extLst xmlns:a="http://schemas.openxmlformats.org/drawingml/2006/main">
              <a:ext uri="{FF2B5EF4-FFF2-40B4-BE49-F238E27FC236}">
                <a16:creationId xmlns:a16="http://schemas.microsoft.com/office/drawing/2014/main" id="{626AC10B-64E4-4425-B455-BF921520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172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23" name="row-text-3-Evidence boundary-0">
            <a:extLst xmlns:a="http://schemas.openxmlformats.org/drawingml/2006/main">
              <a:ext uri="{FF2B5EF4-FFF2-40B4-BE49-F238E27FC236}">
                <a16:creationId xmlns:a16="http://schemas.microsoft.com/office/drawing/2014/main" id="{804087FA-938A-48C1-B15E-02B52871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1943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Evidence boundary</a:t>
            </a:r>
          </a:p>
        </p:txBody>
      </p:sp>
      <p:sp>
        <p:nvSpPr>
          <p:cNvPr id="24" name="row-text-3-Evidence boundary-1">
            <a:extLst xmlns:a="http://schemas.openxmlformats.org/drawingml/2006/main">
              <a:ext uri="{FF2B5EF4-FFF2-40B4-BE49-F238E27FC236}">
                <a16:creationId xmlns:a16="http://schemas.microsoft.com/office/drawing/2014/main" id="{B9765EBA-4F71-4045-8CE1-CBAC54CF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83870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Source evidence cannot move or certify a card by itself.</a:t>
            </a:r>
          </a:p>
        </p:txBody>
      </p:sp>
      <p:sp>
        <p:nvSpPr>
          <p:cNvPr id="25" name="row-text-3-Evidence boundary-2">
            <a:extLst xmlns:a="http://schemas.openxmlformats.org/drawingml/2006/main">
              <a:ext uri="{FF2B5EF4-FFF2-40B4-BE49-F238E27FC236}">
                <a16:creationId xmlns:a16="http://schemas.microsoft.com/office/drawing/2014/main" id="{3F572BFC-6C54-4F8F-B5FB-D795F31F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83870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Reading coverage and candidate planning cannot promote a word by themselves.</a:t>
            </a:r>
          </a:p>
        </p:txBody>
      </p:sp>
      <p:sp>
        <p:nvSpPr>
          <p:cNvPr id="26" name="row-3-Release support">
            <a:extLst xmlns:a="http://schemas.openxmlformats.org/drawingml/2006/main">
              <a:ext uri="{FF2B5EF4-FFF2-40B4-BE49-F238E27FC236}">
                <a16:creationId xmlns:a16="http://schemas.microsoft.com/office/drawing/2014/main" id="{4891B8D7-6655-47E1-B86E-3DE8B5E8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172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27" name="row-text-3-Release support-0">
            <a:extLst xmlns:a="http://schemas.openxmlformats.org/drawingml/2006/main">
              <a:ext uri="{FF2B5EF4-FFF2-40B4-BE49-F238E27FC236}">
                <a16:creationId xmlns:a16="http://schemas.microsoft.com/office/drawing/2014/main" id="{CAB30545-84E1-4FF9-B159-79085E64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1943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Release support</a:t>
            </a:r>
          </a:p>
        </p:txBody>
      </p:sp>
      <p:sp>
        <p:nvSpPr>
          <p:cNvPr id="28" name="row-text-3-Release support-1">
            <a:extLst xmlns:a="http://schemas.openxmlformats.org/drawingml/2006/main">
              <a:ext uri="{FF2B5EF4-FFF2-40B4-BE49-F238E27FC236}">
                <a16:creationId xmlns:a16="http://schemas.microsoft.com/office/drawing/2014/main" id="{EDBB7B76-96FB-4181-87EA-E1AB01A1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39115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Ready/APKG/media checks are mechanical, then manual QA remains separate.</a:t>
            </a:r>
          </a:p>
        </p:txBody>
      </p:sp>
      <p:sp>
        <p:nvSpPr>
          <p:cNvPr id="29" name="row-text-3-Release support-2">
            <a:extLst xmlns:a="http://schemas.openxmlformats.org/drawingml/2006/main">
              <a:ext uri="{FF2B5EF4-FFF2-40B4-BE49-F238E27FC236}">
                <a16:creationId xmlns:a16="http://schemas.microsoft.com/office/drawing/2014/main" id="{B6D2722D-9A81-4F23-9F9D-D0B3AE9A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91150"/>
            <a:ext cx="3886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Word audio, pitch, and reading coverage support release, but do not certify content.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3DE398-7CF5-4750-A0A5-2CF66367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2B2173-732A-4E2E-81BB-5E9F0434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Kanji deck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D21064-7A02-44DF-99E9-F51152E6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Word deck</a:t>
            </a:r>
          </a:p>
        </p:txBody>
      </p:sp>
      <p:sp>
        <p:nvSpPr>
          <p:cNvPr id="3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7F1ECFD-9D18-4FE2-B269-A646D453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34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4E1E54C7-9571-461F-8B20-FD0C54A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README product split; docs/workflows; docs/command-reference.</a:t>
            </a:r>
          </a:p>
        </p:txBody>
      </p:sp>
      <p:sp>
        <p:nvSpPr>
          <p:cNvPr id="35" name="page-marker-3">
            <a:extLst xmlns:a="http://schemas.openxmlformats.org/drawingml/2006/main">
              <a:ext uri="{FF2B5EF4-FFF2-40B4-BE49-F238E27FC236}">
                <a16:creationId xmlns:a16="http://schemas.microsoft.com/office/drawing/2014/main" id="{606F6227-968F-444F-8BD4-33609988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207935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BBABB44-FC56-437A-95EC-22F9D978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858F05D1-3B84-480B-A88C-C4E663BD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3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515A08B7-3083-4EF6-B21F-508DFAF8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LANE STATE</a:t>
            </a:r>
          </a:p>
        </p:txBody>
      </p:sp>
      <p:sp>
        <p:nvSpPr>
          <p:cNvPr id="4" name="claim-title-4">
            <a:extLst xmlns:a="http://schemas.openxmlformats.org/drawingml/2006/main">
              <a:ext uri="{FF2B5EF4-FFF2-40B4-BE49-F238E27FC236}">
                <a16:creationId xmlns:a16="http://schemas.microsoft.com/office/drawing/2014/main" id="{7411A428-47F3-49AA-A082-21A2AED7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9334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Current status is denominator-preserving: complete scopes and backlogs both stay visible.</a:t>
            </a:r>
          </a:p>
        </p:txBody>
      </p:sp>
      <p:sp>
        <p:nvSpPr>
          <p:cNvPr id="5" name="support-4">
            <a:extLst xmlns:a="http://schemas.openxmlformats.org/drawingml/2006/main">
              <a:ext uri="{FF2B5EF4-FFF2-40B4-BE49-F238E27FC236}">
                <a16:creationId xmlns:a16="http://schemas.microsoft.com/office/drawing/2014/main" id="{86BBEBC0-7061-4184-AB83-0807C20D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These are live counts from closeout and status commands. A partial lane is an expected coverage backlog when reviewed entries pass and the denominator remains fixed.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9A23D-8536-4865-9807-0F09A3AC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Core kanji: current-standard Platinum coverage</a:t>
            </a:r>
          </a:p>
        </p:txBody>
      </p:sp>
      <p:sp>
        <p:nvSpPr>
          <p:cNvPr id="7" name="bar-label-4-N5">
            <a:extLst xmlns:a="http://schemas.openxmlformats.org/drawingml/2006/main">
              <a:ext uri="{FF2B5EF4-FFF2-40B4-BE49-F238E27FC236}">
                <a16:creationId xmlns:a16="http://schemas.microsoft.com/office/drawing/2014/main" id="{B61CB7F5-C934-4CAC-9356-CA1FEC20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N5</a:t>
            </a:r>
          </a:p>
        </p:txBody>
      </p:sp>
      <p:sp>
        <p:nvSpPr>
          <p:cNvPr id="8" name="bar-bg-4-N5">
            <a:extLst xmlns:a="http://schemas.openxmlformats.org/drawingml/2006/main">
              <a:ext uri="{FF2B5EF4-FFF2-40B4-BE49-F238E27FC236}">
                <a16:creationId xmlns:a16="http://schemas.microsoft.com/office/drawing/2014/main" id="{3C213226-5C49-471E-A3E6-5FA80876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9" name="bar-fill-4-N5">
            <a:extLst xmlns:a="http://schemas.openxmlformats.org/drawingml/2006/main">
              <a:ext uri="{FF2B5EF4-FFF2-40B4-BE49-F238E27FC236}">
                <a16:creationId xmlns:a16="http://schemas.microsoft.com/office/drawing/2014/main" id="{2F7D8393-1B24-49BB-B3F0-5F0AC0F7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10" name="bar-value-4-N5">
            <a:extLst xmlns:a="http://schemas.openxmlformats.org/drawingml/2006/main">
              <a:ext uri="{FF2B5EF4-FFF2-40B4-BE49-F238E27FC236}">
                <a16:creationId xmlns:a16="http://schemas.microsoft.com/office/drawing/2014/main" id="{2AFF1CBF-666D-4DC8-BB72-04F981FE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9527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80/80</a:t>
            </a:r>
          </a:p>
        </p:txBody>
      </p:sp>
      <p:sp>
        <p:nvSpPr>
          <p:cNvPr id="11" name="bar-note-4-N5">
            <a:extLst xmlns:a="http://schemas.openxmlformats.org/drawingml/2006/main">
              <a:ext uri="{FF2B5EF4-FFF2-40B4-BE49-F238E27FC236}">
                <a16:creationId xmlns:a16="http://schemas.microsoft.com/office/drawing/2014/main" id="{5F72D581-83C5-4F86-920C-816FBCB0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718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count-complete; run gate to confirm</a:t>
            </a:r>
          </a:p>
        </p:txBody>
      </p:sp>
      <p:sp>
        <p:nvSpPr>
          <p:cNvPr id="12" name="bar-label-4-N4">
            <a:extLst xmlns:a="http://schemas.openxmlformats.org/drawingml/2006/main">
              <a:ext uri="{FF2B5EF4-FFF2-40B4-BE49-F238E27FC236}">
                <a16:creationId xmlns:a16="http://schemas.microsoft.com/office/drawing/2014/main" id="{8F5EDAED-9FED-42E9-B4ED-B8DE9AD8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N4</a:t>
            </a:r>
          </a:p>
        </p:txBody>
      </p:sp>
      <p:sp>
        <p:nvSpPr>
          <p:cNvPr id="13" name="bar-bg-4-N4">
            <a:extLst xmlns:a="http://schemas.openxmlformats.org/drawingml/2006/main">
              <a:ext uri="{FF2B5EF4-FFF2-40B4-BE49-F238E27FC236}">
                <a16:creationId xmlns:a16="http://schemas.microsoft.com/office/drawing/2014/main" id="{79CB7285-7BD0-406D-A4EB-7AE3F308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62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14" name="bar-fill-4-N4">
            <a:extLst xmlns:a="http://schemas.openxmlformats.org/drawingml/2006/main">
              <a:ext uri="{FF2B5EF4-FFF2-40B4-BE49-F238E27FC236}">
                <a16:creationId xmlns:a16="http://schemas.microsoft.com/office/drawing/2014/main" id="{FB25828B-9179-4D25-8948-1B76F4D5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62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15" name="bar-value-4-N4">
            <a:extLst xmlns:a="http://schemas.openxmlformats.org/drawingml/2006/main">
              <a:ext uri="{FF2B5EF4-FFF2-40B4-BE49-F238E27FC236}">
                <a16:creationId xmlns:a16="http://schemas.microsoft.com/office/drawing/2014/main" id="{962EF2A7-2116-4190-AC17-E7891D8D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5242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212/212</a:t>
            </a:r>
          </a:p>
        </p:txBody>
      </p:sp>
      <p:sp>
        <p:nvSpPr>
          <p:cNvPr id="16" name="bar-note-4-N4">
            <a:extLst xmlns:a="http://schemas.openxmlformats.org/drawingml/2006/main">
              <a:ext uri="{FF2B5EF4-FFF2-40B4-BE49-F238E27FC236}">
                <a16:creationId xmlns:a16="http://schemas.microsoft.com/office/drawing/2014/main" id="{94B4D247-5DC2-41FC-9678-0C86829E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7433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count-complete; run gate to confirm</a:t>
            </a:r>
          </a:p>
        </p:txBody>
      </p:sp>
      <p:sp>
        <p:nvSpPr>
          <p:cNvPr id="17" name="bar-label-4-N3">
            <a:extLst xmlns:a="http://schemas.openxmlformats.org/drawingml/2006/main">
              <a:ext uri="{FF2B5EF4-FFF2-40B4-BE49-F238E27FC236}">
                <a16:creationId xmlns:a16="http://schemas.microsoft.com/office/drawing/2014/main" id="{28A0DD29-3987-4EE3-AEFB-79624297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N3</a:t>
            </a:r>
          </a:p>
        </p:txBody>
      </p:sp>
      <p:sp>
        <p:nvSpPr>
          <p:cNvPr id="18" name="bar-bg-4-N3">
            <a:extLst xmlns:a="http://schemas.openxmlformats.org/drawingml/2006/main">
              <a:ext uri="{FF2B5EF4-FFF2-40B4-BE49-F238E27FC236}">
                <a16:creationId xmlns:a16="http://schemas.microsoft.com/office/drawing/2014/main" id="{0EFF331E-977D-41B7-9FD8-267A48E1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133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19" name="bar-fill-4-N3">
            <a:extLst xmlns:a="http://schemas.openxmlformats.org/drawingml/2006/main">
              <a:ext uri="{FF2B5EF4-FFF2-40B4-BE49-F238E27FC236}">
                <a16:creationId xmlns:a16="http://schemas.microsoft.com/office/drawing/2014/main" id="{F44F9D8B-BE42-4A41-BB9E-5B93B41C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133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20" name="bar-value-4-N3">
            <a:extLst xmlns:a="http://schemas.openxmlformats.org/drawingml/2006/main">
              <a:ext uri="{FF2B5EF4-FFF2-40B4-BE49-F238E27FC236}">
                <a16:creationId xmlns:a16="http://schemas.microsoft.com/office/drawing/2014/main" id="{C2D9C22D-3C02-4C72-A534-FB357CE6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957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341/341</a:t>
            </a:r>
          </a:p>
        </p:txBody>
      </p:sp>
      <p:sp>
        <p:nvSpPr>
          <p:cNvPr id="21" name="bar-note-4-N3">
            <a:extLst xmlns:a="http://schemas.openxmlformats.org/drawingml/2006/main">
              <a:ext uri="{FF2B5EF4-FFF2-40B4-BE49-F238E27FC236}">
                <a16:creationId xmlns:a16="http://schemas.microsoft.com/office/drawing/2014/main" id="{17D52478-4682-4775-A8FA-22F8A0A2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3148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count-complete; run gate to confirm</a:t>
            </a:r>
          </a:p>
        </p:txBody>
      </p:sp>
      <p:sp>
        <p:nvSpPr>
          <p:cNvPr id="22" name="bar-label-4-N2">
            <a:extLst xmlns:a="http://schemas.openxmlformats.org/drawingml/2006/main">
              <a:ext uri="{FF2B5EF4-FFF2-40B4-BE49-F238E27FC236}">
                <a16:creationId xmlns:a16="http://schemas.microsoft.com/office/drawing/2014/main" id="{F534063E-6171-42E9-9D26-1C298DB6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N2</a:t>
            </a:r>
          </a:p>
        </p:txBody>
      </p:sp>
      <p:sp>
        <p:nvSpPr>
          <p:cNvPr id="23" name="bar-bg-4-N2">
            <a:extLst xmlns:a="http://schemas.openxmlformats.org/drawingml/2006/main">
              <a:ext uri="{FF2B5EF4-FFF2-40B4-BE49-F238E27FC236}">
                <a16:creationId xmlns:a16="http://schemas.microsoft.com/office/drawing/2014/main" id="{566AED10-9D68-48B9-9BFF-4525F2EF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705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24" name="bar-fill-4-N2">
            <a:extLst xmlns:a="http://schemas.openxmlformats.org/drawingml/2006/main">
              <a:ext uri="{FF2B5EF4-FFF2-40B4-BE49-F238E27FC236}">
                <a16:creationId xmlns:a16="http://schemas.microsoft.com/office/drawing/2014/main" id="{B444A3F4-B5FA-466E-AD31-8B0AA6AD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705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25" name="bar-value-4-N2">
            <a:extLst xmlns:a="http://schemas.openxmlformats.org/drawingml/2006/main">
              <a:ext uri="{FF2B5EF4-FFF2-40B4-BE49-F238E27FC236}">
                <a16:creationId xmlns:a16="http://schemas.microsoft.com/office/drawing/2014/main" id="{94BAEFDE-E344-48A4-866F-511BA76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6672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349/349</a:t>
            </a:r>
          </a:p>
        </p:txBody>
      </p:sp>
      <p:sp>
        <p:nvSpPr>
          <p:cNvPr id="26" name="bar-note-4-N2">
            <a:extLst xmlns:a="http://schemas.openxmlformats.org/drawingml/2006/main">
              <a:ext uri="{FF2B5EF4-FFF2-40B4-BE49-F238E27FC236}">
                <a16:creationId xmlns:a16="http://schemas.microsoft.com/office/drawing/2014/main" id="{DC18CD9F-8D7D-4537-990C-E433F8E5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863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count-complete; run gate to confirm</a:t>
            </a:r>
          </a:p>
        </p:txBody>
      </p:sp>
      <p:sp>
        <p:nvSpPr>
          <p:cNvPr id="27" name="bar-label-4-N1">
            <a:extLst xmlns:a="http://schemas.openxmlformats.org/drawingml/2006/main">
              <a:ext uri="{FF2B5EF4-FFF2-40B4-BE49-F238E27FC236}">
                <a16:creationId xmlns:a16="http://schemas.microsoft.com/office/drawing/2014/main" id="{101E8EF9-5244-4365-B6EB-05D15D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N1</a:t>
            </a:r>
          </a:p>
        </p:txBody>
      </p:sp>
      <p:sp>
        <p:nvSpPr>
          <p:cNvPr id="28" name="bar-bg-4-N1">
            <a:extLst xmlns:a="http://schemas.openxmlformats.org/drawingml/2006/main">
              <a:ext uri="{FF2B5EF4-FFF2-40B4-BE49-F238E27FC236}">
                <a16:creationId xmlns:a16="http://schemas.microsoft.com/office/drawing/2014/main" id="{2C739B19-3D47-4591-BA39-C00698B7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276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29" name="bar-fill-4-N1">
            <a:extLst xmlns:a="http://schemas.openxmlformats.org/drawingml/2006/main">
              <a:ext uri="{FF2B5EF4-FFF2-40B4-BE49-F238E27FC236}">
                <a16:creationId xmlns:a16="http://schemas.microsoft.com/office/drawing/2014/main" id="{279E6FC1-DC5A-453D-8777-7148D62F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276850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30" name="bar-value-4-N1">
            <a:extLst xmlns:a="http://schemas.openxmlformats.org/drawingml/2006/main">
              <a:ext uri="{FF2B5EF4-FFF2-40B4-BE49-F238E27FC236}">
                <a16:creationId xmlns:a16="http://schemas.microsoft.com/office/drawing/2014/main" id="{604FF0AE-5B8A-4817-89DA-99F6E83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2387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C98A17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C98A17"/>
                </a:solidFill>
                <a:latin typeface="Aptos Mono"/>
                <a:ea typeface="Aptos Mono"/>
                <a:cs typeface="Aptos Mono"/>
              </a:rPr>
              <a:t>328/1230</a:t>
            </a:r>
          </a:p>
        </p:txBody>
      </p:sp>
      <p:sp>
        <p:nvSpPr>
          <p:cNvPr id="31" name="bar-note-4-N1">
            <a:extLst xmlns:a="http://schemas.openxmlformats.org/drawingml/2006/main">
              <a:ext uri="{FF2B5EF4-FFF2-40B4-BE49-F238E27FC236}">
                <a16:creationId xmlns:a16="http://schemas.microsoft.com/office/drawing/2014/main" id="{F1D0E0A0-6E66-494E-AEF8-A4929E2F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578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902 still missing current-standard Sapphire/Platinum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374592-7DB3-46DA-A72D-E01C1A7B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19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Word decks: current-standard Platinum coverage</a:t>
            </a:r>
          </a:p>
        </p:txBody>
      </p:sp>
      <p:sp>
        <p:nvSpPr>
          <p:cNvPr id="33" name="bar-label-4-N5">
            <a:extLst xmlns:a="http://schemas.openxmlformats.org/drawingml/2006/main">
              <a:ext uri="{FF2B5EF4-FFF2-40B4-BE49-F238E27FC236}">
                <a16:creationId xmlns:a16="http://schemas.microsoft.com/office/drawing/2014/main" id="{0EB94146-63FB-45D5-8FD5-E1EDEAAC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622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N5</a:t>
            </a:r>
          </a:p>
        </p:txBody>
      </p:sp>
      <p:sp>
        <p:nvSpPr>
          <p:cNvPr id="34" name="bar-bg-4-N5">
            <a:extLst xmlns:a="http://schemas.openxmlformats.org/drawingml/2006/main">
              <a:ext uri="{FF2B5EF4-FFF2-40B4-BE49-F238E27FC236}">
                <a16:creationId xmlns:a16="http://schemas.microsoft.com/office/drawing/2014/main" id="{0CA9AF5A-FE62-4002-AB5E-6C184284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90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35" name="bar-fill-4-N5">
            <a:extLst xmlns:a="http://schemas.openxmlformats.org/drawingml/2006/main">
              <a:ext uri="{FF2B5EF4-FFF2-40B4-BE49-F238E27FC236}">
                <a16:creationId xmlns:a16="http://schemas.microsoft.com/office/drawing/2014/main" id="{24AFAB24-16B2-4A0C-B50D-F4A8D471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90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36" name="bar-value-4-N5">
            <a:extLst xmlns:a="http://schemas.openxmlformats.org/drawingml/2006/main">
              <a:ext uri="{FF2B5EF4-FFF2-40B4-BE49-F238E27FC236}">
                <a16:creationId xmlns:a16="http://schemas.microsoft.com/office/drawing/2014/main" id="{12F67A5C-3049-491E-822A-5F7B5AC3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9527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287/287</a:t>
            </a:r>
          </a:p>
        </p:txBody>
      </p:sp>
      <p:sp>
        <p:nvSpPr>
          <p:cNvPr id="37" name="bar-note-4-N5">
            <a:extLst xmlns:a="http://schemas.openxmlformats.org/drawingml/2006/main">
              <a:ext uri="{FF2B5EF4-FFF2-40B4-BE49-F238E27FC236}">
                <a16:creationId xmlns:a16="http://schemas.microsoft.com/office/drawing/2014/main" id="{796838CD-99AF-4F58-95E7-FF5494BA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locked scope passes lane counts</a:t>
            </a:r>
          </a:p>
        </p:txBody>
      </p:sp>
      <p:sp>
        <p:nvSpPr>
          <p:cNvPr id="38" name="bar-label-4-N4">
            <a:extLst xmlns:a="http://schemas.openxmlformats.org/drawingml/2006/main">
              <a:ext uri="{FF2B5EF4-FFF2-40B4-BE49-F238E27FC236}">
                <a16:creationId xmlns:a16="http://schemas.microsoft.com/office/drawing/2014/main" id="{6521130B-7456-4068-A46C-85F52DAE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337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N4</a:t>
            </a:r>
          </a:p>
        </p:txBody>
      </p:sp>
      <p:sp>
        <p:nvSpPr>
          <p:cNvPr id="39" name="bar-bg-4-N4">
            <a:extLst xmlns:a="http://schemas.openxmlformats.org/drawingml/2006/main">
              <a:ext uri="{FF2B5EF4-FFF2-40B4-BE49-F238E27FC236}">
                <a16:creationId xmlns:a16="http://schemas.microsoft.com/office/drawing/2014/main" id="{1A3A03ED-2A4F-4CAA-A052-10A67889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62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40" name="bar-fill-4-N4">
            <a:extLst xmlns:a="http://schemas.openxmlformats.org/drawingml/2006/main">
              <a:ext uri="{FF2B5EF4-FFF2-40B4-BE49-F238E27FC236}">
                <a16:creationId xmlns:a16="http://schemas.microsoft.com/office/drawing/2014/main" id="{E4CCAAC1-0FAF-4DA3-93E8-AB8EC108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62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41" name="bar-value-4-N4">
            <a:extLst xmlns:a="http://schemas.openxmlformats.org/drawingml/2006/main">
              <a:ext uri="{FF2B5EF4-FFF2-40B4-BE49-F238E27FC236}">
                <a16:creationId xmlns:a16="http://schemas.microsoft.com/office/drawing/2014/main" id="{E4FBABC0-0A34-4FDD-A34F-33A78672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5242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700/700</a:t>
            </a:r>
          </a:p>
        </p:txBody>
      </p:sp>
      <p:sp>
        <p:nvSpPr>
          <p:cNvPr id="42" name="bar-note-4-N4">
            <a:extLst xmlns:a="http://schemas.openxmlformats.org/drawingml/2006/main">
              <a:ext uri="{FF2B5EF4-FFF2-40B4-BE49-F238E27FC236}">
                <a16:creationId xmlns:a16="http://schemas.microsoft.com/office/drawing/2014/main" id="{BDF2E646-064E-46EC-810F-141BB245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433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locked scope passes lane counts</a:t>
            </a:r>
          </a:p>
        </p:txBody>
      </p:sp>
      <p:sp>
        <p:nvSpPr>
          <p:cNvPr id="43" name="bar-label-4-N3">
            <a:extLst xmlns:a="http://schemas.openxmlformats.org/drawingml/2006/main">
              <a:ext uri="{FF2B5EF4-FFF2-40B4-BE49-F238E27FC236}">
                <a16:creationId xmlns:a16="http://schemas.microsoft.com/office/drawing/2014/main" id="{B53A7D91-1C6D-4A13-AE68-86EE555C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N3</a:t>
            </a:r>
          </a:p>
        </p:txBody>
      </p:sp>
      <p:sp>
        <p:nvSpPr>
          <p:cNvPr id="44" name="bar-bg-4-N3">
            <a:extLst xmlns:a="http://schemas.openxmlformats.org/drawingml/2006/main">
              <a:ext uri="{FF2B5EF4-FFF2-40B4-BE49-F238E27FC236}">
                <a16:creationId xmlns:a16="http://schemas.microsoft.com/office/drawing/2014/main" id="{45D61E20-0B5F-408A-B6E2-7F434235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45" name="bar-fill-4-N3">
            <a:extLst xmlns:a="http://schemas.openxmlformats.org/drawingml/2006/main">
              <a:ext uri="{FF2B5EF4-FFF2-40B4-BE49-F238E27FC236}">
                <a16:creationId xmlns:a16="http://schemas.microsoft.com/office/drawing/2014/main" id="{90067F8F-1A7A-4906-9B7B-692CA99D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53287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46" name="bar-value-4-N3">
            <a:extLst xmlns:a="http://schemas.openxmlformats.org/drawingml/2006/main">
              <a:ext uri="{FF2B5EF4-FFF2-40B4-BE49-F238E27FC236}">
                <a16:creationId xmlns:a16="http://schemas.microsoft.com/office/drawing/2014/main" id="{B84EA5B4-DECB-450F-AD76-43CAE9A3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957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C98A17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C98A17"/>
                </a:solidFill>
                <a:latin typeface="Aptos Mono"/>
                <a:ea typeface="Aptos Mono"/>
                <a:cs typeface="Aptos Mono"/>
              </a:rPr>
              <a:t>8/429</a:t>
            </a:r>
          </a:p>
        </p:txBody>
      </p:sp>
      <p:sp>
        <p:nvSpPr>
          <p:cNvPr id="47" name="bar-note-4-N3">
            <a:extLst xmlns:a="http://schemas.openxmlformats.org/drawingml/2006/main">
              <a:ext uri="{FF2B5EF4-FFF2-40B4-BE49-F238E27FC236}">
                <a16:creationId xmlns:a16="http://schemas.microsoft.com/office/drawing/2014/main" id="{F69A23CF-6410-4608-B699-19D69887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148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421 rows missing Gold/Sapphire/Platinum</a:t>
            </a:r>
          </a:p>
        </p:txBody>
      </p:sp>
      <p:sp>
        <p:nvSpPr>
          <p:cNvPr id="48" name="bar-label-4-N2">
            <a:extLst xmlns:a="http://schemas.openxmlformats.org/drawingml/2006/main">
              <a:ext uri="{FF2B5EF4-FFF2-40B4-BE49-F238E27FC236}">
                <a16:creationId xmlns:a16="http://schemas.microsoft.com/office/drawing/2014/main" id="{ECF6EE8B-CBA8-4C0B-B7D7-45995F44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767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N2</a:t>
            </a:r>
          </a:p>
        </p:txBody>
      </p:sp>
      <p:sp>
        <p:nvSpPr>
          <p:cNvPr id="49" name="bar-bg-4-N2">
            <a:extLst xmlns:a="http://schemas.openxmlformats.org/drawingml/2006/main">
              <a:ext uri="{FF2B5EF4-FFF2-40B4-BE49-F238E27FC236}">
                <a16:creationId xmlns:a16="http://schemas.microsoft.com/office/drawing/2014/main" id="{FEBC36BD-50CB-4B43-B2E6-A06561D1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053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50" name="bar-fill-4-N2">
            <a:extLst xmlns:a="http://schemas.openxmlformats.org/drawingml/2006/main">
              <a:ext uri="{FF2B5EF4-FFF2-40B4-BE49-F238E27FC236}">
                <a16:creationId xmlns:a16="http://schemas.microsoft.com/office/drawing/2014/main" id="{320DA4C0-81C4-4367-AE70-DF6BAD5E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05350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51" name="bar-value-4-N2">
            <a:extLst xmlns:a="http://schemas.openxmlformats.org/drawingml/2006/main">
              <a:ext uri="{FF2B5EF4-FFF2-40B4-BE49-F238E27FC236}">
                <a16:creationId xmlns:a16="http://schemas.microsoft.com/office/drawing/2014/main" id="{6F90701E-E70C-4767-8EAA-3232C46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6672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B03A2E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B03A2E"/>
                </a:solidFill>
                <a:latin typeface="Aptos Mono"/>
                <a:ea typeface="Aptos Mono"/>
                <a:cs typeface="Aptos Mono"/>
              </a:rPr>
              <a:t>0/28</a:t>
            </a:r>
          </a:p>
        </p:txBody>
      </p:sp>
      <p:sp>
        <p:nvSpPr>
          <p:cNvPr id="52" name="bar-note-4-N2">
            <a:extLst xmlns:a="http://schemas.openxmlformats.org/drawingml/2006/main">
              <a:ext uri="{FF2B5EF4-FFF2-40B4-BE49-F238E27FC236}">
                <a16:creationId xmlns:a16="http://schemas.microsoft.com/office/drawing/2014/main" id="{3F9F1311-64D4-44E0-B8F1-9718D7A7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863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Silver-only backlog</a:t>
            </a:r>
          </a:p>
        </p:txBody>
      </p:sp>
      <p:sp>
        <p:nvSpPr>
          <p:cNvPr id="53" name="bar-label-4-N1">
            <a:extLst xmlns:a="http://schemas.openxmlformats.org/drawingml/2006/main">
              <a:ext uri="{FF2B5EF4-FFF2-40B4-BE49-F238E27FC236}">
                <a16:creationId xmlns:a16="http://schemas.microsoft.com/office/drawing/2014/main" id="{A22D394D-3F85-418D-9BB2-AF358DB2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4825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N1</a:t>
            </a:r>
          </a:p>
        </p:txBody>
      </p:sp>
      <p:sp>
        <p:nvSpPr>
          <p:cNvPr id="54" name="bar-bg-4-N1">
            <a:extLst xmlns:a="http://schemas.openxmlformats.org/drawingml/2006/main">
              <a:ext uri="{FF2B5EF4-FFF2-40B4-BE49-F238E27FC236}">
                <a16:creationId xmlns:a16="http://schemas.microsoft.com/office/drawing/2014/main" id="{AC8E2924-044F-4AFC-BE1A-FE954ADF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76850"/>
            <a:ext cx="2857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DF"/>
          </a:solidFill>
          <a:ln xmlns:a="http://schemas.openxmlformats.org/drawingml/2006/main" w="0">
            <a:solidFill>
              <a:srgbClr val="E3E6DF"/>
            </a:solidFill>
            <a:prstDash val="solid"/>
          </a:ln>
        </p:spPr>
      </p:sp>
      <p:sp>
        <p:nvSpPr>
          <p:cNvPr id="55" name="bar-fill-4-N1">
            <a:extLst xmlns:a="http://schemas.openxmlformats.org/drawingml/2006/main">
              <a:ext uri="{FF2B5EF4-FFF2-40B4-BE49-F238E27FC236}">
                <a16:creationId xmlns:a16="http://schemas.microsoft.com/office/drawing/2014/main" id="{03269C1A-C2FF-4C16-A1EA-912E66AC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76850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56" name="bar-value-4-N1">
            <a:extLst xmlns:a="http://schemas.openxmlformats.org/drawingml/2006/main">
              <a:ext uri="{FF2B5EF4-FFF2-40B4-BE49-F238E27FC236}">
                <a16:creationId xmlns:a16="http://schemas.microsoft.com/office/drawing/2014/main" id="{FCB95B1F-3F6A-4052-8521-40384E0D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387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B03A2E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B03A2E"/>
                </a:solidFill>
                <a:latin typeface="Aptos Mono"/>
                <a:ea typeface="Aptos Mono"/>
                <a:cs typeface="Aptos Mono"/>
              </a:rPr>
              <a:t>0/26</a:t>
            </a:r>
          </a:p>
        </p:txBody>
      </p:sp>
      <p:sp>
        <p:nvSpPr>
          <p:cNvPr id="57" name="bar-note-4-N1">
            <a:extLst xmlns:a="http://schemas.openxmlformats.org/drawingml/2006/main">
              <a:ext uri="{FF2B5EF4-FFF2-40B4-BE49-F238E27FC236}">
                <a16:creationId xmlns:a16="http://schemas.microsoft.com/office/drawing/2014/main" id="{5A984D2D-1DE1-4334-9359-CD649181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4578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Silver-only backlog</a:t>
            </a:r>
          </a:p>
        </p:txBody>
      </p:sp>
      <p:sp>
        <p:nvSpPr>
          <p:cNvPr id="58" name="divider-lane-state">
            <a:extLst xmlns:a="http://schemas.openxmlformats.org/drawingml/2006/main">
              <a:ext uri="{FF2B5EF4-FFF2-40B4-BE49-F238E27FC236}">
                <a16:creationId xmlns:a16="http://schemas.microsoft.com/office/drawing/2014/main" id="{ACC78F9C-20FA-4829-9789-C8E4A233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14288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59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20F5B57A-DE50-4DF6-BA75-D5DB4809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60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875764E9-D065-4B2D-94BB-00A12995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npm run deck:closeout -- --levels=5,4,3,2,1; npm run deck:kanji:review-status.</a:t>
            </a:r>
          </a:p>
        </p:txBody>
      </p:sp>
      <p:sp>
        <p:nvSpPr>
          <p:cNvPr id="61" name="page-marker-4">
            <a:extLst xmlns:a="http://schemas.openxmlformats.org/drawingml/2006/main">
              <a:ext uri="{FF2B5EF4-FFF2-40B4-BE49-F238E27FC236}">
                <a16:creationId xmlns:a16="http://schemas.microsoft.com/office/drawing/2014/main" id="{1378443A-8BBC-47AD-A821-5C625A53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1113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58F03B5-97F8-45A2-B7A6-44BDCA14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EF4"/>
          </a:solidFill>
          <a:ln xmlns:a="http://schemas.openxmlformats.org/drawingml/2006/main" w="0">
            <a:solidFill>
              <a:srgbClr val="F2EEF4"/>
            </a:solidFill>
            <a:prstDash val="solid"/>
          </a:ln>
        </p:spPr>
      </p:sp>
      <p:sp>
        <p:nvSpPr>
          <p:cNvPr id="2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E47BCCD5-7F64-4F46-80C4-6DBD7665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3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5660AA42-3F9F-408F-A0E3-854E41A8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PROOF LEDGER</a:t>
            </a:r>
          </a:p>
        </p:txBody>
      </p:sp>
      <p:sp>
        <p:nvSpPr>
          <p:cNvPr id="4" name="claim-title-5">
            <a:extLst xmlns:a="http://schemas.openxmlformats.org/drawingml/2006/main">
              <a:ext uri="{FF2B5EF4-FFF2-40B4-BE49-F238E27FC236}">
                <a16:creationId xmlns:a16="http://schemas.microsoft.com/office/drawing/2014/main" id="{57DBB3F7-0CB9-43CC-B248-30EDC66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Obsidian proof certifies only scoped, ledger-bound locks.</a:t>
            </a:r>
          </a:p>
        </p:txBody>
      </p:sp>
      <p:sp>
        <p:nvSpPr>
          <p:cNvPr id="5" name="support-5">
            <a:extLst xmlns:a="http://schemas.openxmlformats.org/drawingml/2006/main">
              <a:ext uri="{FF2B5EF4-FFF2-40B4-BE49-F238E27FC236}">
                <a16:creationId xmlns:a16="http://schemas.microsoft.com/office/drawing/2014/main" id="{A8F18F8F-BB47-4200-ADBF-94E3309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781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The ledger validates canonical proof events for completed N5/N4/N3/N2 kanji and N5/N4 word scopes. It does not start or imply proof for N1 kanji or N3/N2/N1 words.</a:t>
            </a:r>
          </a:p>
        </p:txBody>
      </p:sp>
      <p:sp>
        <p:nvSpPr>
          <p:cNvPr id="6" name="metric-box-5-kanji proof">
            <a:extLst xmlns:a="http://schemas.openxmlformats.org/drawingml/2006/main">
              <a:ext uri="{FF2B5EF4-FFF2-40B4-BE49-F238E27FC236}">
                <a16:creationId xmlns:a16="http://schemas.microsoft.com/office/drawing/2014/main" id="{1B41884B-549F-431E-921C-9CD3409E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6200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B4E71"/>
            </a:solidFill>
            <a:prstDash val="solid"/>
          </a:ln>
        </p:spPr>
      </p:sp>
      <p:sp>
        <p:nvSpPr>
          <p:cNvPr id="7" name="metric-accent-5-kanji proof">
            <a:extLst xmlns:a="http://schemas.openxmlformats.org/drawingml/2006/main">
              <a:ext uri="{FF2B5EF4-FFF2-40B4-BE49-F238E27FC236}">
                <a16:creationId xmlns:a16="http://schemas.microsoft.com/office/drawing/2014/main" id="{B0A613BD-7FED-4F78-9F44-2D0C6110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620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8" name="metric-value-5-kanji proof">
            <a:extLst xmlns:a="http://schemas.openxmlformats.org/drawingml/2006/main">
              <a:ext uri="{FF2B5EF4-FFF2-40B4-BE49-F238E27FC236}">
                <a16:creationId xmlns:a16="http://schemas.microsoft.com/office/drawing/2014/main" id="{7AB1BC0E-1445-4155-BA2E-E00B5CBC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876300"/>
            <a:ext cx="1828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982</a:t>
            </a:r>
          </a:p>
        </p:txBody>
      </p:sp>
      <p:sp>
        <p:nvSpPr>
          <p:cNvPr id="9" name="metric-label-5-kanji proof">
            <a:extLst xmlns:a="http://schemas.openxmlformats.org/drawingml/2006/main">
              <a:ext uri="{FF2B5EF4-FFF2-40B4-BE49-F238E27FC236}">
                <a16:creationId xmlns:a16="http://schemas.microsoft.com/office/drawing/2014/main" id="{85DBC601-66A8-461B-8517-955A7BA1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219200"/>
            <a:ext cx="18288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kanji proof</a:t>
            </a:r>
          </a:p>
        </p:txBody>
      </p:sp>
      <p:sp>
        <p:nvSpPr>
          <p:cNvPr id="10" name="metric-note-5-kanji proof">
            <a:extLst xmlns:a="http://schemas.openxmlformats.org/drawingml/2006/main">
              <a:ext uri="{FF2B5EF4-FFF2-40B4-BE49-F238E27FC236}">
                <a16:creationId xmlns:a16="http://schemas.microsoft.com/office/drawing/2014/main" id="{D790B1BA-8FA4-4310-BF84-9F3F9FF5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457325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N5/N4/N3/N2 only.</a:t>
            </a:r>
          </a:p>
        </p:txBody>
      </p:sp>
      <p:sp>
        <p:nvSpPr>
          <p:cNvPr id="11" name="metric-box-5-word proof">
            <a:extLst xmlns:a="http://schemas.openxmlformats.org/drawingml/2006/main">
              <a:ext uri="{FF2B5EF4-FFF2-40B4-BE49-F238E27FC236}">
                <a16:creationId xmlns:a16="http://schemas.microsoft.com/office/drawing/2014/main" id="{6425AA20-BC70-4ACD-9424-28A23A57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764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D7C79"/>
            </a:solidFill>
            <a:prstDash val="solid"/>
          </a:ln>
        </p:spPr>
      </p:sp>
      <p:sp>
        <p:nvSpPr>
          <p:cNvPr id="12" name="metric-accent-5-word proof">
            <a:extLst xmlns:a="http://schemas.openxmlformats.org/drawingml/2006/main">
              <a:ext uri="{FF2B5EF4-FFF2-40B4-BE49-F238E27FC236}">
                <a16:creationId xmlns:a16="http://schemas.microsoft.com/office/drawing/2014/main" id="{262B0AF3-76A7-49D3-AF0F-BDEB2181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764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13" name="metric-value-5-word proof">
            <a:extLst xmlns:a="http://schemas.openxmlformats.org/drawingml/2006/main">
              <a:ext uri="{FF2B5EF4-FFF2-40B4-BE49-F238E27FC236}">
                <a16:creationId xmlns:a16="http://schemas.microsoft.com/office/drawing/2014/main" id="{1EBCA793-F667-4C9B-AA36-FA20451A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90750"/>
            <a:ext cx="1828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987</a:t>
            </a:r>
          </a:p>
        </p:txBody>
      </p:sp>
      <p:sp>
        <p:nvSpPr>
          <p:cNvPr id="14" name="metric-label-5-word proof">
            <a:extLst xmlns:a="http://schemas.openxmlformats.org/drawingml/2006/main">
              <a:ext uri="{FF2B5EF4-FFF2-40B4-BE49-F238E27FC236}">
                <a16:creationId xmlns:a16="http://schemas.microsoft.com/office/drawing/2014/main" id="{5C129437-91AC-4024-867D-AD5E92F4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18288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word proof</a:t>
            </a:r>
          </a:p>
        </p:txBody>
      </p:sp>
      <p:sp>
        <p:nvSpPr>
          <p:cNvPr id="15" name="metric-note-5-word proof">
            <a:extLst xmlns:a="http://schemas.openxmlformats.org/drawingml/2006/main">
              <a:ext uri="{FF2B5EF4-FFF2-40B4-BE49-F238E27FC236}">
                <a16:creationId xmlns:a16="http://schemas.microsoft.com/office/drawing/2014/main" id="{3C87BCE9-080A-4FA1-993A-AB0E9E56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71775"/>
            <a:ext cx="1828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N5/N4 only.</a:t>
            </a:r>
          </a:p>
        </p:txBody>
      </p:sp>
      <p:sp>
        <p:nvSpPr>
          <p:cNvPr id="16" name="bar-label-5-kanji N5">
            <a:extLst xmlns:a="http://schemas.openxmlformats.org/drawingml/2006/main">
              <a:ext uri="{FF2B5EF4-FFF2-40B4-BE49-F238E27FC236}">
                <a16:creationId xmlns:a16="http://schemas.microsoft.com/office/drawing/2014/main" id="{DC44F0F3-F33A-4428-8AE9-3BE03073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kanji N5</a:t>
            </a:r>
          </a:p>
        </p:txBody>
      </p:sp>
      <p:sp>
        <p:nvSpPr>
          <p:cNvPr id="17" name="bar-bg-5-kanji N5">
            <a:extLst xmlns:a="http://schemas.openxmlformats.org/drawingml/2006/main">
              <a:ext uri="{FF2B5EF4-FFF2-40B4-BE49-F238E27FC236}">
                <a16:creationId xmlns:a16="http://schemas.microsoft.com/office/drawing/2014/main" id="{9F969505-7D0E-430B-8321-A7927DE2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813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0E9"/>
          </a:solidFill>
          <a:ln xmlns:a="http://schemas.openxmlformats.org/drawingml/2006/main" w="0">
            <a:solidFill>
              <a:srgbClr val="E5E0E9"/>
            </a:solidFill>
            <a:prstDash val="solid"/>
          </a:ln>
        </p:spPr>
      </p:sp>
      <p:sp>
        <p:nvSpPr>
          <p:cNvPr id="18" name="bar-fill-5-kanji N5">
            <a:extLst xmlns:a="http://schemas.openxmlformats.org/drawingml/2006/main">
              <a:ext uri="{FF2B5EF4-FFF2-40B4-BE49-F238E27FC236}">
                <a16:creationId xmlns:a16="http://schemas.microsoft.com/office/drawing/2014/main" id="{175D83A0-7DF1-43EF-99A2-98E31C1A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81300"/>
            <a:ext cx="39188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19" name="bar-value-5-kanji N5">
            <a:extLst xmlns:a="http://schemas.openxmlformats.org/drawingml/2006/main">
              <a:ext uri="{FF2B5EF4-FFF2-40B4-BE49-F238E27FC236}">
                <a16:creationId xmlns:a16="http://schemas.microsoft.com/office/drawing/2014/main" id="{6C6EDF64-BF55-4653-BE22-08B99EDD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432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80/700</a:t>
            </a:r>
          </a:p>
        </p:txBody>
      </p:sp>
      <p:sp>
        <p:nvSpPr>
          <p:cNvPr id="20" name="bar-note-5-kanji N5">
            <a:extLst xmlns:a="http://schemas.openxmlformats.org/drawingml/2006/main">
              <a:ext uri="{FF2B5EF4-FFF2-40B4-BE49-F238E27FC236}">
                <a16:creationId xmlns:a16="http://schemas.microsoft.com/office/drawing/2014/main" id="{D188E300-596C-44B9-BB69-C8796316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962275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72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bar scale uses 700 max; labels carry exact proof-event counts</a:t>
            </a:r>
          </a:p>
        </p:txBody>
      </p:sp>
      <p:sp>
        <p:nvSpPr>
          <p:cNvPr id="21" name="bar-label-5-kanji N4">
            <a:extLst xmlns:a="http://schemas.openxmlformats.org/drawingml/2006/main">
              <a:ext uri="{FF2B5EF4-FFF2-40B4-BE49-F238E27FC236}">
                <a16:creationId xmlns:a16="http://schemas.microsoft.com/office/drawing/2014/main" id="{08B486EA-A22B-4EC2-9976-CF0D5D14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kanji N4</a:t>
            </a:r>
          </a:p>
        </p:txBody>
      </p:sp>
      <p:sp>
        <p:nvSpPr>
          <p:cNvPr id="22" name="bar-bg-5-kanji N4">
            <a:extLst xmlns:a="http://schemas.openxmlformats.org/drawingml/2006/main">
              <a:ext uri="{FF2B5EF4-FFF2-40B4-BE49-F238E27FC236}">
                <a16:creationId xmlns:a16="http://schemas.microsoft.com/office/drawing/2014/main" id="{7B514295-295D-4F5F-9139-5CC3DB38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385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0E9"/>
          </a:solidFill>
          <a:ln xmlns:a="http://schemas.openxmlformats.org/drawingml/2006/main" w="0">
            <a:solidFill>
              <a:srgbClr val="E5E0E9"/>
            </a:solidFill>
            <a:prstDash val="solid"/>
          </a:ln>
        </p:spPr>
      </p:sp>
      <p:sp>
        <p:nvSpPr>
          <p:cNvPr id="23" name="bar-fill-5-kanji N4">
            <a:extLst xmlns:a="http://schemas.openxmlformats.org/drawingml/2006/main">
              <a:ext uri="{FF2B5EF4-FFF2-40B4-BE49-F238E27FC236}">
                <a16:creationId xmlns:a16="http://schemas.microsoft.com/office/drawing/2014/main" id="{24CF4F26-BD41-4032-BD45-3DE22653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38500"/>
            <a:ext cx="1038497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24" name="bar-value-5-kanji N4">
            <a:extLst xmlns:a="http://schemas.openxmlformats.org/drawingml/2006/main">
              <a:ext uri="{FF2B5EF4-FFF2-40B4-BE49-F238E27FC236}">
                <a16:creationId xmlns:a16="http://schemas.microsoft.com/office/drawing/2014/main" id="{33146209-7644-40FC-80DC-2D4D6C31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2004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212/700</a:t>
            </a:r>
          </a:p>
        </p:txBody>
      </p:sp>
      <p:sp>
        <p:nvSpPr>
          <p:cNvPr id="25" name="bar-label-5-kanji N3">
            <a:extLst xmlns:a="http://schemas.openxmlformats.org/drawingml/2006/main">
              <a:ext uri="{FF2B5EF4-FFF2-40B4-BE49-F238E27FC236}">
                <a16:creationId xmlns:a16="http://schemas.microsoft.com/office/drawing/2014/main" id="{BC0441A6-6B9B-4612-B129-98216131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kanji N3</a:t>
            </a:r>
          </a:p>
        </p:txBody>
      </p:sp>
      <p:sp>
        <p:nvSpPr>
          <p:cNvPr id="26" name="bar-bg-5-kanji N3">
            <a:extLst xmlns:a="http://schemas.openxmlformats.org/drawingml/2006/main">
              <a:ext uri="{FF2B5EF4-FFF2-40B4-BE49-F238E27FC236}">
                <a16:creationId xmlns:a16="http://schemas.microsoft.com/office/drawing/2014/main" id="{1713F2F0-2592-4913-B106-70767F69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957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0E9"/>
          </a:solidFill>
          <a:ln xmlns:a="http://schemas.openxmlformats.org/drawingml/2006/main" w="0">
            <a:solidFill>
              <a:srgbClr val="E5E0E9"/>
            </a:solidFill>
            <a:prstDash val="solid"/>
          </a:ln>
        </p:spPr>
      </p:sp>
      <p:sp>
        <p:nvSpPr>
          <p:cNvPr id="27" name="bar-fill-5-kanji N3">
            <a:extLst xmlns:a="http://schemas.openxmlformats.org/drawingml/2006/main">
              <a:ext uri="{FF2B5EF4-FFF2-40B4-BE49-F238E27FC236}">
                <a16:creationId xmlns:a16="http://schemas.microsoft.com/office/drawing/2014/main" id="{1D420264-6B0D-4034-87F6-FB75F7F4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95700"/>
            <a:ext cx="167041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28" name="bar-value-5-kanji N3">
            <a:extLst xmlns:a="http://schemas.openxmlformats.org/drawingml/2006/main">
              <a:ext uri="{FF2B5EF4-FFF2-40B4-BE49-F238E27FC236}">
                <a16:creationId xmlns:a16="http://schemas.microsoft.com/office/drawing/2014/main" id="{3012085D-CA18-4DFC-B9C6-62425504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6576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341/700</a:t>
            </a:r>
          </a:p>
        </p:txBody>
      </p:sp>
      <p:sp>
        <p:nvSpPr>
          <p:cNvPr id="29" name="bar-label-5-kanji N2">
            <a:extLst xmlns:a="http://schemas.openxmlformats.org/drawingml/2006/main">
              <a:ext uri="{FF2B5EF4-FFF2-40B4-BE49-F238E27FC236}">
                <a16:creationId xmlns:a16="http://schemas.microsoft.com/office/drawing/2014/main" id="{56FCA4F9-E5FA-43DB-910E-C97FBCE3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kanji N2</a:t>
            </a:r>
          </a:p>
        </p:txBody>
      </p:sp>
      <p:sp>
        <p:nvSpPr>
          <p:cNvPr id="30" name="bar-bg-5-kanji N2">
            <a:extLst xmlns:a="http://schemas.openxmlformats.org/drawingml/2006/main">
              <a:ext uri="{FF2B5EF4-FFF2-40B4-BE49-F238E27FC236}">
                <a16:creationId xmlns:a16="http://schemas.microsoft.com/office/drawing/2014/main" id="{519ABBAD-3B03-4FB4-9661-CA703706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529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0E9"/>
          </a:solidFill>
          <a:ln xmlns:a="http://schemas.openxmlformats.org/drawingml/2006/main" w="0">
            <a:solidFill>
              <a:srgbClr val="E5E0E9"/>
            </a:solidFill>
            <a:prstDash val="solid"/>
          </a:ln>
        </p:spPr>
      </p:sp>
      <p:sp>
        <p:nvSpPr>
          <p:cNvPr id="31" name="bar-fill-5-kanji N2">
            <a:extLst xmlns:a="http://schemas.openxmlformats.org/drawingml/2006/main">
              <a:ext uri="{FF2B5EF4-FFF2-40B4-BE49-F238E27FC236}">
                <a16:creationId xmlns:a16="http://schemas.microsoft.com/office/drawing/2014/main" id="{2173D1BA-7CD9-4EC8-8FC1-B6D06C57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52900"/>
            <a:ext cx="170960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32" name="bar-value-5-kanji N2">
            <a:extLst xmlns:a="http://schemas.openxmlformats.org/drawingml/2006/main">
              <a:ext uri="{FF2B5EF4-FFF2-40B4-BE49-F238E27FC236}">
                <a16:creationId xmlns:a16="http://schemas.microsoft.com/office/drawing/2014/main" id="{187155AF-B14F-42C8-B9FF-0A06264B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1148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349/700</a:t>
            </a:r>
          </a:p>
        </p:txBody>
      </p:sp>
      <p:sp>
        <p:nvSpPr>
          <p:cNvPr id="33" name="bar-label-5-word N5">
            <a:extLst xmlns:a="http://schemas.openxmlformats.org/drawingml/2006/main">
              <a:ext uri="{FF2B5EF4-FFF2-40B4-BE49-F238E27FC236}">
                <a16:creationId xmlns:a16="http://schemas.microsoft.com/office/drawing/2014/main" id="{DB4BDEB7-4181-4BA5-9CCF-0E7324A4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word N5</a:t>
            </a:r>
          </a:p>
        </p:txBody>
      </p:sp>
      <p:sp>
        <p:nvSpPr>
          <p:cNvPr id="34" name="bar-bg-5-word N5">
            <a:extLst xmlns:a="http://schemas.openxmlformats.org/drawingml/2006/main">
              <a:ext uri="{FF2B5EF4-FFF2-40B4-BE49-F238E27FC236}">
                <a16:creationId xmlns:a16="http://schemas.microsoft.com/office/drawing/2014/main" id="{9B6726AA-3063-4305-905E-54ED39BD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101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0E9"/>
          </a:solidFill>
          <a:ln xmlns:a="http://schemas.openxmlformats.org/drawingml/2006/main" w="0">
            <a:solidFill>
              <a:srgbClr val="E5E0E9"/>
            </a:solidFill>
            <a:prstDash val="solid"/>
          </a:ln>
        </p:spPr>
      </p:sp>
      <p:sp>
        <p:nvSpPr>
          <p:cNvPr id="35" name="bar-fill-5-word N5">
            <a:extLst xmlns:a="http://schemas.openxmlformats.org/drawingml/2006/main">
              <a:ext uri="{FF2B5EF4-FFF2-40B4-BE49-F238E27FC236}">
                <a16:creationId xmlns:a16="http://schemas.microsoft.com/office/drawing/2014/main" id="{5FBCF1C4-4391-45D9-AC67-6E8A987A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10100"/>
            <a:ext cx="140589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36" name="bar-value-5-word N5">
            <a:extLst xmlns:a="http://schemas.openxmlformats.org/drawingml/2006/main">
              <a:ext uri="{FF2B5EF4-FFF2-40B4-BE49-F238E27FC236}">
                <a16:creationId xmlns:a16="http://schemas.microsoft.com/office/drawing/2014/main" id="{CC6EBB9E-0175-4A65-973B-5E2D52A4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5720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287/700</a:t>
            </a:r>
          </a:p>
        </p:txBody>
      </p:sp>
      <p:sp>
        <p:nvSpPr>
          <p:cNvPr id="37" name="bar-label-5-word N4">
            <a:extLst xmlns:a="http://schemas.openxmlformats.org/drawingml/2006/main">
              <a:ext uri="{FF2B5EF4-FFF2-40B4-BE49-F238E27FC236}">
                <a16:creationId xmlns:a16="http://schemas.microsoft.com/office/drawing/2014/main" id="{18372911-FBD7-48CA-B1F3-028FD53E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word N4</a:t>
            </a:r>
          </a:p>
        </p:txBody>
      </p:sp>
      <p:sp>
        <p:nvSpPr>
          <p:cNvPr id="38" name="bar-bg-5-word N4">
            <a:extLst xmlns:a="http://schemas.openxmlformats.org/drawingml/2006/main">
              <a:ext uri="{FF2B5EF4-FFF2-40B4-BE49-F238E27FC236}">
                <a16:creationId xmlns:a16="http://schemas.microsoft.com/office/drawing/2014/main" id="{33C3A8CF-93E3-410D-97D3-86E500B8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673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0E9"/>
          </a:solidFill>
          <a:ln xmlns:a="http://schemas.openxmlformats.org/drawingml/2006/main" w="0">
            <a:solidFill>
              <a:srgbClr val="E5E0E9"/>
            </a:solidFill>
            <a:prstDash val="solid"/>
          </a:ln>
        </p:spPr>
      </p:sp>
      <p:sp>
        <p:nvSpPr>
          <p:cNvPr id="39" name="bar-fill-5-word N4">
            <a:extLst xmlns:a="http://schemas.openxmlformats.org/drawingml/2006/main">
              <a:ext uri="{FF2B5EF4-FFF2-40B4-BE49-F238E27FC236}">
                <a16:creationId xmlns:a16="http://schemas.microsoft.com/office/drawing/2014/main" id="{2CE940E8-CD8F-4A64-92CF-AB9D39CF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673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40" name="bar-value-5-word N4">
            <a:extLst xmlns:a="http://schemas.openxmlformats.org/drawingml/2006/main">
              <a:ext uri="{FF2B5EF4-FFF2-40B4-BE49-F238E27FC236}">
                <a16:creationId xmlns:a16="http://schemas.microsoft.com/office/drawing/2014/main" id="{3CB3B37F-A786-4C96-9C0E-491C2CFE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292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700/700</a:t>
            </a:r>
          </a:p>
        </p:txBody>
      </p:sp>
      <p:sp>
        <p:nvSpPr>
          <p:cNvPr id="41" name="proof-boundary-0">
            <a:extLst xmlns:a="http://schemas.openxmlformats.org/drawingml/2006/main">
              <a:ext uri="{FF2B5EF4-FFF2-40B4-BE49-F238E27FC236}">
                <a16:creationId xmlns:a16="http://schemas.microsoft.com/office/drawing/2014/main" id="{C127635E-B304-4F99-BF41-A2E33B3D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38500"/>
            <a:ext cx="3676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B4E7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4A22C0-D115-4D93-95B2-D19603D9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2325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30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930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canonical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30D5DD-E33F-4A23-B5DA-FAC5A153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6232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9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templates/obsidian_proof_ledger/*.jsonl</a:t>
            </a:r>
          </a:p>
        </p:txBody>
      </p:sp>
      <p:sp>
        <p:nvSpPr>
          <p:cNvPr id="44" name="proof-boundary-1">
            <a:extLst xmlns:a="http://schemas.openxmlformats.org/drawingml/2006/main">
              <a:ext uri="{FF2B5EF4-FFF2-40B4-BE49-F238E27FC236}">
                <a16:creationId xmlns:a16="http://schemas.microsoft.com/office/drawing/2014/main" id="{FD96D715-693D-492B-AA5B-91FD7DAA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3676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B"/>
          </a:solidFill>
          <a:ln xmlns:a="http://schemas.openxmlformats.org/drawingml/2006/main" w="9525">
            <a:solidFill>
              <a:srgbClr val="CBD5C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416D272-CFF6-471F-B331-B6844E50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029075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3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3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generated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416DEA4-803D-4884-BDB6-C4776646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2907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9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compatibility views and SQLite mirrors are generated artifacts</a:t>
            </a:r>
          </a:p>
        </p:txBody>
      </p:sp>
      <p:sp>
        <p:nvSpPr>
          <p:cNvPr id="47" name="proof-boundary-2">
            <a:extLst xmlns:a="http://schemas.openxmlformats.org/drawingml/2006/main">
              <a:ext uri="{FF2B5EF4-FFF2-40B4-BE49-F238E27FC236}">
                <a16:creationId xmlns:a16="http://schemas.microsoft.com/office/drawing/2014/main" id="{3C6D099D-0C48-4EB6-92A0-3EBF0E5D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72000"/>
            <a:ext cx="3676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B"/>
          </a:solidFill>
          <a:ln xmlns:a="http://schemas.openxmlformats.org/drawingml/2006/main" w="9525">
            <a:solidFill>
              <a:srgbClr val="CBD5C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60674B-3204-4E5C-BFD7-568DF3F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95825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3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3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not proof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6772589-78C3-4797-9117-2B3C7931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9582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9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NLP, APKG readiness, media identity, and source evidence alone</a:t>
            </a:r>
          </a:p>
        </p:txBody>
      </p:sp>
      <p:sp>
        <p:nvSpPr>
          <p:cNvPr id="50" name="proof-boundary-3">
            <a:extLst xmlns:a="http://schemas.openxmlformats.org/drawingml/2006/main">
              <a:ext uri="{FF2B5EF4-FFF2-40B4-BE49-F238E27FC236}">
                <a16:creationId xmlns:a16="http://schemas.microsoft.com/office/drawing/2014/main" id="{788479C2-232B-42E6-9A3D-8F344155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38750"/>
            <a:ext cx="3676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B"/>
          </a:solidFill>
          <a:ln xmlns:a="http://schemas.openxmlformats.org/drawingml/2006/main" w="9525">
            <a:solidFill>
              <a:srgbClr val="CBD5C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F0C88F-1319-48A8-BEC2-E6CAA8E0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62575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3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93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not started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4D6E52-F31F-4ED9-A26D-862F24F3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362575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9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kanji N1 and word N3/N2/N1 Obsidian proof</a:t>
            </a:r>
          </a:p>
        </p:txBody>
      </p:sp>
      <p:sp>
        <p:nvSpPr>
          <p:cNvPr id="5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F39D12DB-3687-458B-8556-7C7157DE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5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09488C9A-0B7C-4E93-9438-A863FFA2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Source: npm run data:obsidian:proof:validate. No Obsidian proof was recorded in this rollout.</a:t>
            </a:r>
          </a:p>
        </p:txBody>
      </p:sp>
      <p:sp>
        <p:nvSpPr>
          <p:cNvPr id="55" name="page-marker-5">
            <a:extLst xmlns:a="http://schemas.openxmlformats.org/drawingml/2006/main">
              <a:ext uri="{FF2B5EF4-FFF2-40B4-BE49-F238E27FC236}">
                <a16:creationId xmlns:a16="http://schemas.microsoft.com/office/drawing/2014/main" id="{CC98C463-1C66-4513-A491-2727A6B1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820757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7C7F201-7A42-4D02-A348-74BFB9EB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02374E30-8E3D-4158-B608-3FB7BFBD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3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BAE074B3-A378-46B3-8A63-409B4636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SUPPORT LANES</a:t>
            </a:r>
          </a:p>
        </p:txBody>
      </p:sp>
      <p:sp>
        <p:nvSpPr>
          <p:cNvPr id="4" name="claim-title-6">
            <a:extLst xmlns:a="http://schemas.openxmlformats.org/drawingml/2006/main">
              <a:ext uri="{FF2B5EF4-FFF2-40B4-BE49-F238E27FC236}">
                <a16:creationId xmlns:a16="http://schemas.microsoft.com/office/drawing/2014/main" id="{6A082D02-91DF-4825-B70E-F367C398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477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NLP and readiness checks support review; they do not certify content.</a:t>
            </a:r>
          </a:p>
        </p:txBody>
      </p:sp>
      <p:sp>
        <p:nvSpPr>
          <p:cNvPr id="5" name="support-6">
            <a:extLst xmlns:a="http://schemas.openxmlformats.org/drawingml/2006/main">
              <a:ext uri="{FF2B5EF4-FFF2-40B4-BE49-F238E27FC236}">
                <a16:creationId xmlns:a16="http://schemas.microsoft.com/office/drawing/2014/main" id="{9B8A8319-18BD-420E-936E-EBDCEE90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809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The governance gate is healthy, but it says exactly what it is: model/runtime/support artifacts are available, while human promotion and lane-specific review remain required.</a:t>
            </a:r>
          </a:p>
        </p:txBody>
      </p:sp>
      <p:sp>
        <p:nvSpPr>
          <p:cNvPr id="6" name="tag-bg-6-pass: model manifest">
            <a:extLst xmlns:a="http://schemas.openxmlformats.org/drawingml/2006/main">
              <a:ext uri="{FF2B5EF4-FFF2-40B4-BE49-F238E27FC236}">
                <a16:creationId xmlns:a16="http://schemas.microsoft.com/office/drawing/2014/main" id="{10DD0776-5B8E-4E73-B172-B6440E06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7" name="tag-text-6-pass: model manifest">
            <a:extLst xmlns:a="http://schemas.openxmlformats.org/drawingml/2006/main">
              <a:ext uri="{FF2B5EF4-FFF2-40B4-BE49-F238E27FC236}">
                <a16:creationId xmlns:a16="http://schemas.microsoft.com/office/drawing/2014/main" id="{F3B1B966-A379-44CB-9666-1DCED597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model manifest</a:t>
            </a:r>
          </a:p>
        </p:txBody>
      </p:sp>
      <p:sp>
        <p:nvSpPr>
          <p:cNvPr id="8" name="tag-bg-6-pass: tokenization artifacts">
            <a:extLst xmlns:a="http://schemas.openxmlformats.org/drawingml/2006/main">
              <a:ext uri="{FF2B5EF4-FFF2-40B4-BE49-F238E27FC236}">
                <a16:creationId xmlns:a16="http://schemas.microsoft.com/office/drawing/2014/main" id="{20F1FC9A-1748-49CF-981A-FE69308A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860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9" name="tag-text-6-pass: tokenization artifacts">
            <a:extLst xmlns:a="http://schemas.openxmlformats.org/drawingml/2006/main">
              <a:ext uri="{FF2B5EF4-FFF2-40B4-BE49-F238E27FC236}">
                <a16:creationId xmlns:a16="http://schemas.microsoft.com/office/drawing/2014/main" id="{24F1C57C-8133-4438-BB30-35A33629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tokenization artifacts</a:t>
            </a:r>
          </a:p>
        </p:txBody>
      </p:sp>
      <p:sp>
        <p:nvSpPr>
          <p:cNvPr id="10" name="tag-bg-6-pass: embedding artifacts">
            <a:extLst xmlns:a="http://schemas.openxmlformats.org/drawingml/2006/main">
              <a:ext uri="{FF2B5EF4-FFF2-40B4-BE49-F238E27FC236}">
                <a16:creationId xmlns:a16="http://schemas.microsoft.com/office/drawing/2014/main" id="{2B3BD256-1991-4743-A640-1F0E8FEC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860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11" name="tag-text-6-pass: embedding artifacts">
            <a:extLst xmlns:a="http://schemas.openxmlformats.org/drawingml/2006/main">
              <a:ext uri="{FF2B5EF4-FFF2-40B4-BE49-F238E27FC236}">
                <a16:creationId xmlns:a16="http://schemas.microsoft.com/office/drawing/2014/main" id="{82D0C8FF-8622-4F11-8A7A-0812474F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241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embedding artifacts</a:t>
            </a:r>
          </a:p>
        </p:txBody>
      </p:sp>
      <p:sp>
        <p:nvSpPr>
          <p:cNvPr id="12" name="tag-bg-6-pass: suggestion artifacts">
            <a:extLst xmlns:a="http://schemas.openxmlformats.org/drawingml/2006/main">
              <a:ext uri="{FF2B5EF4-FFF2-40B4-BE49-F238E27FC236}">
                <a16:creationId xmlns:a16="http://schemas.microsoft.com/office/drawing/2014/main" id="{DA376573-C2D8-4672-8836-21C1E75F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13" name="tag-text-6-pass: suggestion artifacts">
            <a:extLst xmlns:a="http://schemas.openxmlformats.org/drawingml/2006/main">
              <a:ext uri="{FF2B5EF4-FFF2-40B4-BE49-F238E27FC236}">
                <a16:creationId xmlns:a16="http://schemas.microsoft.com/office/drawing/2014/main" id="{A1661848-42B0-4FDB-A720-DF3426E8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suggestion artifacts</a:t>
            </a:r>
          </a:p>
        </p:txBody>
      </p:sp>
      <p:sp>
        <p:nvSpPr>
          <p:cNvPr id="14" name="tag-bg-6-pass: review packets">
            <a:extLst xmlns:a="http://schemas.openxmlformats.org/drawingml/2006/main">
              <a:ext uri="{FF2B5EF4-FFF2-40B4-BE49-F238E27FC236}">
                <a16:creationId xmlns:a16="http://schemas.microsoft.com/office/drawing/2014/main" id="{BA01EC60-832D-43B8-8ADA-909AD8EF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15" name="tag-text-6-pass: review packets">
            <a:extLst xmlns:a="http://schemas.openxmlformats.org/drawingml/2006/main">
              <a:ext uri="{FF2B5EF4-FFF2-40B4-BE49-F238E27FC236}">
                <a16:creationId xmlns:a16="http://schemas.microsoft.com/office/drawing/2014/main" id="{A3F4B713-874D-4D87-95F7-8F48EF5D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147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review packets</a:t>
            </a:r>
          </a:p>
        </p:txBody>
      </p:sp>
      <p:sp>
        <p:nvSpPr>
          <p:cNvPr id="16" name="tag-bg-6-pass: draft proposals">
            <a:extLst xmlns:a="http://schemas.openxmlformats.org/drawingml/2006/main">
              <a:ext uri="{FF2B5EF4-FFF2-40B4-BE49-F238E27FC236}">
                <a16:creationId xmlns:a16="http://schemas.microsoft.com/office/drawing/2014/main" id="{7C782E40-7C48-4814-868F-0A61A4CA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27660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17" name="tag-text-6-pass: draft proposals">
            <a:extLst xmlns:a="http://schemas.openxmlformats.org/drawingml/2006/main">
              <a:ext uri="{FF2B5EF4-FFF2-40B4-BE49-F238E27FC236}">
                <a16:creationId xmlns:a16="http://schemas.microsoft.com/office/drawing/2014/main" id="{B44B597A-8F37-4140-AA62-3D838F85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1470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draft proposals</a:t>
            </a:r>
          </a:p>
        </p:txBody>
      </p:sp>
      <p:sp>
        <p:nvSpPr>
          <p:cNvPr id="18" name="tag-bg-6-pass: runtime readiness">
            <a:extLst xmlns:a="http://schemas.openxmlformats.org/drawingml/2006/main">
              <a:ext uri="{FF2B5EF4-FFF2-40B4-BE49-F238E27FC236}">
                <a16:creationId xmlns:a16="http://schemas.microsoft.com/office/drawing/2014/main" id="{4E6EAD8C-BB9B-4178-AFEF-0CD5A7DC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19" name="tag-text-6-pass: runtime readiness">
            <a:extLst xmlns:a="http://schemas.openxmlformats.org/drawingml/2006/main">
              <a:ext uri="{FF2B5EF4-FFF2-40B4-BE49-F238E27FC236}">
                <a16:creationId xmlns:a16="http://schemas.microsoft.com/office/drawing/2014/main" id="{3B907382-369D-432C-B520-7B274346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pass: runtime readiness</a:t>
            </a:r>
          </a:p>
        </p:txBody>
      </p:sp>
      <p:sp>
        <p:nvSpPr>
          <p:cNvPr id="20" name="metric-box-6-certifies cards">
            <a:extLst xmlns:a="http://schemas.openxmlformats.org/drawingml/2006/main">
              <a:ext uri="{FF2B5EF4-FFF2-40B4-BE49-F238E27FC236}">
                <a16:creationId xmlns:a16="http://schemas.microsoft.com/office/drawing/2014/main" id="{16E624E9-D03E-4A18-AB3E-95E41EF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D5CF"/>
          </a:solidFill>
          <a:ln xmlns:a="http://schemas.openxmlformats.org/drawingml/2006/main" w="11430">
            <a:solidFill>
              <a:srgbClr val="B03A2E"/>
            </a:solidFill>
            <a:prstDash val="solid"/>
          </a:ln>
        </p:spPr>
      </p:sp>
      <p:sp>
        <p:nvSpPr>
          <p:cNvPr id="21" name="metric-accent-6-certifies cards">
            <a:extLst xmlns:a="http://schemas.openxmlformats.org/drawingml/2006/main">
              <a:ext uri="{FF2B5EF4-FFF2-40B4-BE49-F238E27FC236}">
                <a16:creationId xmlns:a16="http://schemas.microsoft.com/office/drawing/2014/main" id="{D6B2C848-4515-4DB0-9B88-E2859F8F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22" name="metric-value-6-certifies cards">
            <a:extLst xmlns:a="http://schemas.openxmlformats.org/drawingml/2006/main">
              <a:ext uri="{FF2B5EF4-FFF2-40B4-BE49-F238E27FC236}">
                <a16:creationId xmlns:a16="http://schemas.microsoft.com/office/drawing/2014/main" id="{290F4E3F-85C6-4941-BAAC-9DB428CE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23" name="metric-label-6-certifies cards">
            <a:extLst xmlns:a="http://schemas.openxmlformats.org/drawingml/2006/main">
              <a:ext uri="{FF2B5EF4-FFF2-40B4-BE49-F238E27FC236}">
                <a16:creationId xmlns:a16="http://schemas.microsoft.com/office/drawing/2014/main" id="{B12C815B-8E03-4721-8424-34D9BAAE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33700"/>
            <a:ext cx="2114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certifies cards</a:t>
            </a:r>
          </a:p>
        </p:txBody>
      </p:sp>
      <p:sp>
        <p:nvSpPr>
          <p:cNvPr id="24" name="metric-box-6-writes tracked templates">
            <a:extLst xmlns:a="http://schemas.openxmlformats.org/drawingml/2006/main">
              <a:ext uri="{FF2B5EF4-FFF2-40B4-BE49-F238E27FC236}">
                <a16:creationId xmlns:a16="http://schemas.microsoft.com/office/drawing/2014/main" id="{928F0968-A349-4BC3-B5C0-FD47D0D9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1945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D5CF"/>
          </a:solidFill>
          <a:ln xmlns:a="http://schemas.openxmlformats.org/drawingml/2006/main" w="11430">
            <a:solidFill>
              <a:srgbClr val="B03A2E"/>
            </a:solidFill>
            <a:prstDash val="solid"/>
          </a:ln>
        </p:spPr>
      </p:sp>
      <p:sp>
        <p:nvSpPr>
          <p:cNvPr id="25" name="metric-accent-6-writes tracked templates">
            <a:extLst xmlns:a="http://schemas.openxmlformats.org/drawingml/2006/main">
              <a:ext uri="{FF2B5EF4-FFF2-40B4-BE49-F238E27FC236}">
                <a16:creationId xmlns:a16="http://schemas.microsoft.com/office/drawing/2014/main" id="{CB21B1A4-A0B3-42C7-AF06-2AB59600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194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26" name="metric-value-6-writes tracked templates">
            <a:extLst xmlns:a="http://schemas.openxmlformats.org/drawingml/2006/main">
              <a:ext uri="{FF2B5EF4-FFF2-40B4-BE49-F238E27FC236}">
                <a16:creationId xmlns:a16="http://schemas.microsoft.com/office/drawing/2014/main" id="{4C63CB3A-801F-4221-B05A-BA01B444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337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27" name="metric-label-6-writes tracked templates">
            <a:extLst xmlns:a="http://schemas.openxmlformats.org/drawingml/2006/main">
              <a:ext uri="{FF2B5EF4-FFF2-40B4-BE49-F238E27FC236}">
                <a16:creationId xmlns:a16="http://schemas.microsoft.com/office/drawing/2014/main" id="{C01DC57C-A79C-423F-A5B4-E4D9D96A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76650"/>
            <a:ext cx="2114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writes tracked templates</a:t>
            </a:r>
          </a:p>
        </p:txBody>
      </p:sp>
      <p:sp>
        <p:nvSpPr>
          <p:cNvPr id="28" name="metric-box-6-claims release readiness">
            <a:extLst xmlns:a="http://schemas.openxmlformats.org/drawingml/2006/main">
              <a:ext uri="{FF2B5EF4-FFF2-40B4-BE49-F238E27FC236}">
                <a16:creationId xmlns:a16="http://schemas.microsoft.com/office/drawing/2014/main" id="{6E0B2610-5E8D-4788-A5F0-222705A2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6240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D5CF"/>
          </a:solidFill>
          <a:ln xmlns:a="http://schemas.openxmlformats.org/drawingml/2006/main" w="11430">
            <a:solidFill>
              <a:srgbClr val="B03A2E"/>
            </a:solidFill>
            <a:prstDash val="solid"/>
          </a:ln>
        </p:spPr>
      </p:sp>
      <p:sp>
        <p:nvSpPr>
          <p:cNvPr id="29" name="metric-accent-6-claims release readiness">
            <a:extLst xmlns:a="http://schemas.openxmlformats.org/drawingml/2006/main">
              <a:ext uri="{FF2B5EF4-FFF2-40B4-BE49-F238E27FC236}">
                <a16:creationId xmlns:a16="http://schemas.microsoft.com/office/drawing/2014/main" id="{E7427E36-CDFE-43AB-8101-41EC701E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624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30" name="metric-value-6-claims release readiness">
            <a:extLst xmlns:a="http://schemas.openxmlformats.org/drawingml/2006/main">
              <a:ext uri="{FF2B5EF4-FFF2-40B4-BE49-F238E27FC236}">
                <a16:creationId xmlns:a16="http://schemas.microsoft.com/office/drawing/2014/main" id="{F06CDD64-A789-4415-882C-BC1F5D47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767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31" name="metric-label-6-claims release readiness">
            <a:extLst xmlns:a="http://schemas.openxmlformats.org/drawingml/2006/main">
              <a:ext uri="{FF2B5EF4-FFF2-40B4-BE49-F238E27FC236}">
                <a16:creationId xmlns:a16="http://schemas.microsoft.com/office/drawing/2014/main" id="{E36A4C9E-3D9C-48D7-ADE9-C3E6B07F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9600"/>
            <a:ext cx="2114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claims release readiness</a:t>
            </a:r>
          </a:p>
        </p:txBody>
      </p:sp>
      <p:sp>
        <p:nvSpPr>
          <p:cNvPr id="32" name="metric-box-6-human promotion required">
            <a:extLst xmlns:a="http://schemas.openxmlformats.org/drawingml/2006/main">
              <a:ext uri="{FF2B5EF4-FFF2-40B4-BE49-F238E27FC236}">
                <a16:creationId xmlns:a16="http://schemas.microsoft.com/office/drawing/2014/main" id="{20E635CB-D637-413A-926E-79EDB04F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0535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DF"/>
          </a:solidFill>
          <a:ln xmlns:a="http://schemas.openxmlformats.org/drawingml/2006/main" w="11430">
            <a:solidFill>
              <a:srgbClr val="2F7D4E"/>
            </a:solidFill>
            <a:prstDash val="solid"/>
          </a:ln>
        </p:spPr>
      </p:sp>
      <p:sp>
        <p:nvSpPr>
          <p:cNvPr id="33" name="metric-accent-6-human promotion required">
            <a:extLst xmlns:a="http://schemas.openxmlformats.org/drawingml/2006/main">
              <a:ext uri="{FF2B5EF4-FFF2-40B4-BE49-F238E27FC236}">
                <a16:creationId xmlns:a16="http://schemas.microsoft.com/office/drawing/2014/main" id="{164A71F8-499C-47A1-BFD1-405A4C54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053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E"/>
          </a:solidFill>
          <a:ln xmlns:a="http://schemas.openxmlformats.org/drawingml/2006/main" w="0">
            <a:solidFill>
              <a:srgbClr val="2F7D4E"/>
            </a:solidFill>
            <a:prstDash val="solid"/>
          </a:ln>
        </p:spPr>
      </p:sp>
      <p:sp>
        <p:nvSpPr>
          <p:cNvPr id="34" name="metric-value-6-human promotion required">
            <a:extLst xmlns:a="http://schemas.openxmlformats.org/drawingml/2006/main">
              <a:ext uri="{FF2B5EF4-FFF2-40B4-BE49-F238E27FC236}">
                <a16:creationId xmlns:a16="http://schemas.microsoft.com/office/drawing/2014/main" id="{E7264504-B7DC-4726-B824-D8DA078C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196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yes</a:t>
            </a:r>
          </a:p>
        </p:txBody>
      </p:sp>
      <p:sp>
        <p:nvSpPr>
          <p:cNvPr id="35" name="metric-label-6-human promotion required">
            <a:extLst xmlns:a="http://schemas.openxmlformats.org/drawingml/2006/main">
              <a:ext uri="{FF2B5EF4-FFF2-40B4-BE49-F238E27FC236}">
                <a16:creationId xmlns:a16="http://schemas.microsoft.com/office/drawing/2014/main" id="{C56F91CE-5470-44FA-9A58-85B95B21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114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human promotion required</a:t>
            </a:r>
          </a:p>
        </p:txBody>
      </p:sp>
      <p:sp>
        <p:nvSpPr>
          <p:cNvPr id="36" name="mechanical-readiness-boundary">
            <a:extLst xmlns:a="http://schemas.openxmlformats.org/drawingml/2006/main">
              <a:ext uri="{FF2B5EF4-FFF2-40B4-BE49-F238E27FC236}">
                <a16:creationId xmlns:a16="http://schemas.microsoft.com/office/drawing/2014/main" id="{CEA83CF1-89FC-4845-8DF7-5A19CF3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95850"/>
            <a:ext cx="6210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8DF"/>
          </a:solidFill>
          <a:ln xmlns:a="http://schemas.openxmlformats.org/drawingml/2006/main" w="9525">
            <a:solidFill>
              <a:srgbClr val="C98A17"/>
            </a:solidFill>
            <a:prstDash val="solid"/>
          </a:ln>
        </p:spPr>
      </p:sp>
      <p:sp>
        <p:nvSpPr>
          <p:cNvPr id="37" name="support-6">
            <a:extLst xmlns:a="http://schemas.openxmlformats.org/drawingml/2006/main">
              <a:ext uri="{FF2B5EF4-FFF2-40B4-BE49-F238E27FC236}">
                <a16:creationId xmlns:a16="http://schemas.microsoft.com/office/drawing/2014/main" id="{2E4BA9D8-6E5E-43F6-A9E8-7B91B3A6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67300"/>
            <a:ext cx="5715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Mechanical readiness and APKG/media checks prove generated artifact support, not Sapphire, Platinum, Obsidian, source truth, or manual import/listening QA.</a:t>
            </a:r>
          </a:p>
        </p:txBody>
      </p:sp>
      <p:sp>
        <p:nvSpPr>
          <p:cNvPr id="38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05E48260-204D-48E8-8765-B67AB058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39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79D538A9-D218-4B70-85BE-C8409502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npm run nlp:governance-gate; npm run deck:closeout -- --levels=5,4,3,2,1.</a:t>
            </a:r>
          </a:p>
        </p:txBody>
      </p:sp>
      <p:sp>
        <p:nvSpPr>
          <p:cNvPr id="40" name="page-marker-6">
            <a:extLst xmlns:a="http://schemas.openxmlformats.org/drawingml/2006/main">
              <a:ext uri="{FF2B5EF4-FFF2-40B4-BE49-F238E27FC236}">
                <a16:creationId xmlns:a16="http://schemas.microsoft.com/office/drawing/2014/main" id="{9006327F-5992-4ECF-82BA-CE25BACA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952166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5F29C2F-E7C9-4AF8-B442-38441557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solidFill>
              <a:srgbClr val="17202A"/>
            </a:solidFill>
            <a:prstDash val="solid"/>
          </a:ln>
        </p:spPr>
      </p:sp>
      <p:sp>
        <p:nvSpPr>
          <p:cNvPr id="2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D4C7A434-9B68-4AF1-A0DF-D6EF776D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B562"/>
          </a:solidFill>
          <a:ln xmlns:a="http://schemas.openxmlformats.org/drawingml/2006/main" w="0">
            <a:solidFill>
              <a:srgbClr val="F1B562"/>
            </a:solidFill>
            <a:prstDash val="solid"/>
          </a:ln>
        </p:spPr>
      </p:sp>
      <p:sp>
        <p:nvSpPr>
          <p:cNvPr id="3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39FF5A4B-CCEC-48B4-95AB-538760C7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1B562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1B562"/>
                </a:solidFill>
                <a:latin typeface="Aptos Mono"/>
                <a:ea typeface="Aptos Mono"/>
                <a:cs typeface="Aptos Mono"/>
              </a:rPr>
              <a:t>RELEASE TRUST</a:t>
            </a:r>
          </a:p>
        </p:txBody>
      </p:sp>
      <p:sp>
        <p:nvSpPr>
          <p:cNvPr id="4" name="claim-title-7">
            <a:extLst xmlns:a="http://schemas.openxmlformats.org/drawingml/2006/main">
              <a:ext uri="{FF2B5EF4-FFF2-40B4-BE49-F238E27FC236}">
                <a16:creationId xmlns:a16="http://schemas.microsoft.com/office/drawing/2014/main" id="{9A3EC09E-68EF-4E7F-8735-E403CE2A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38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The release-trust gate fails closed instead of laundering blockers.</a:t>
            </a:r>
          </a:p>
        </p:txBody>
      </p:sp>
      <p:sp>
        <p:nvSpPr>
          <p:cNvPr id="5" name="support-7">
            <a:extLst xmlns:a="http://schemas.openxmlformats.org/drawingml/2006/main">
              <a:ext uri="{FF2B5EF4-FFF2-40B4-BE49-F238E27FC236}">
                <a16:creationId xmlns:a16="http://schemas.microsoft.com/office/drawing/2014/main" id="{9190C1EE-45A5-4761-B466-DEF87C8A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7DDD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DDA"/>
                </a:solidFill>
                <a:latin typeface="Aptos"/>
                <a:ea typeface="Aptos"/>
                <a:cs typeface="Aptos"/>
              </a:rPr>
              <a:t>This is an enterprise-strength behavior: the system names open release risks and blocks broad readiness claims until the governed requirements are satisfied.</a:t>
            </a:r>
          </a:p>
        </p:txBody>
      </p:sp>
      <p:sp>
        <p:nvSpPr>
          <p:cNvPr id="6" name="metric-box-7-release-trust status">
            <a:extLst xmlns:a="http://schemas.openxmlformats.org/drawingml/2006/main">
              <a:ext uri="{FF2B5EF4-FFF2-40B4-BE49-F238E27FC236}">
                <a16:creationId xmlns:a16="http://schemas.microsoft.com/office/drawing/2014/main" id="{E60877CB-5ED6-402C-B98B-A3482B69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47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C"/>
          </a:solidFill>
          <a:ln xmlns:a="http://schemas.openxmlformats.org/drawingml/2006/main" w="11430">
            <a:solidFill>
              <a:srgbClr val="B03A2E"/>
            </a:solidFill>
            <a:prstDash val="solid"/>
          </a:ln>
        </p:spPr>
      </p:sp>
      <p:sp>
        <p:nvSpPr>
          <p:cNvPr id="7" name="metric-accent-7-release-trust status">
            <a:extLst xmlns:a="http://schemas.openxmlformats.org/drawingml/2006/main">
              <a:ext uri="{FF2B5EF4-FFF2-40B4-BE49-F238E27FC236}">
                <a16:creationId xmlns:a16="http://schemas.microsoft.com/office/drawing/2014/main" id="{4685A4C5-B5FD-4AA9-8A0E-C4C2261E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8" name="metric-value-7-release-trust status">
            <a:extLst xmlns:a="http://schemas.openxmlformats.org/drawingml/2006/main">
              <a:ext uri="{FF2B5EF4-FFF2-40B4-BE49-F238E27FC236}">
                <a16:creationId xmlns:a16="http://schemas.microsoft.com/office/drawing/2014/main" id="{8C081356-5C13-40EE-89C8-AB4DEE23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209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fail</a:t>
            </a:r>
          </a:p>
        </p:txBody>
      </p:sp>
      <p:sp>
        <p:nvSpPr>
          <p:cNvPr id="9" name="metric-label-7-release-trust status">
            <a:extLst xmlns:a="http://schemas.openxmlformats.org/drawingml/2006/main">
              <a:ext uri="{FF2B5EF4-FFF2-40B4-BE49-F238E27FC236}">
                <a16:creationId xmlns:a16="http://schemas.microsoft.com/office/drawing/2014/main" id="{51E32BB6-5228-4973-AF6A-0ACA7920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22098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release-trust status</a:t>
            </a:r>
          </a:p>
        </p:txBody>
      </p:sp>
      <p:sp>
        <p:nvSpPr>
          <p:cNvPr id="10" name="metric-note-7-release-trust status">
            <a:extLst xmlns:a="http://schemas.openxmlformats.org/drawingml/2006/main">
              <a:ext uri="{FF2B5EF4-FFF2-40B4-BE49-F238E27FC236}">
                <a16:creationId xmlns:a16="http://schemas.microsoft.com/office/drawing/2014/main" id="{7450D15C-02F1-41A7-A488-6C4EA90D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2209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D2DAD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D2DAD8"/>
                </a:solidFill>
                <a:latin typeface="Aptos"/>
                <a:ea typeface="Aptos"/>
                <a:cs typeface="Aptos"/>
              </a:rPr>
              <a:t>Full release-trust mode is enforced.</a:t>
            </a:r>
          </a:p>
        </p:txBody>
      </p:sp>
      <p:sp>
        <p:nvSpPr>
          <p:cNvPr id="11" name="metric-box-7-high/critical blockers">
            <a:extLst xmlns:a="http://schemas.openxmlformats.org/drawingml/2006/main">
              <a:ext uri="{FF2B5EF4-FFF2-40B4-BE49-F238E27FC236}">
                <a16:creationId xmlns:a16="http://schemas.microsoft.com/office/drawing/2014/main" id="{80C19F85-F0A6-429C-B1CC-E198E37A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67000"/>
            <a:ext cx="247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C"/>
          </a:solidFill>
          <a:ln xmlns:a="http://schemas.openxmlformats.org/drawingml/2006/main" w="11430">
            <a:solidFill>
              <a:srgbClr val="F1B562"/>
            </a:solidFill>
            <a:prstDash val="solid"/>
          </a:ln>
        </p:spPr>
      </p:sp>
      <p:sp>
        <p:nvSpPr>
          <p:cNvPr id="12" name="metric-accent-7-high/critical blockers">
            <a:extLst xmlns:a="http://schemas.openxmlformats.org/drawingml/2006/main">
              <a:ext uri="{FF2B5EF4-FFF2-40B4-BE49-F238E27FC236}">
                <a16:creationId xmlns:a16="http://schemas.microsoft.com/office/drawing/2014/main" id="{0773EA3B-ED65-41D1-A879-F371CDA1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670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B562"/>
          </a:solidFill>
          <a:ln xmlns:a="http://schemas.openxmlformats.org/drawingml/2006/main" w="0">
            <a:solidFill>
              <a:srgbClr val="F1B562"/>
            </a:solidFill>
            <a:prstDash val="solid"/>
          </a:ln>
        </p:spPr>
      </p:sp>
      <p:sp>
        <p:nvSpPr>
          <p:cNvPr id="13" name="metric-value-7-high/critical blockers">
            <a:extLst xmlns:a="http://schemas.openxmlformats.org/drawingml/2006/main">
              <a:ext uri="{FF2B5EF4-FFF2-40B4-BE49-F238E27FC236}">
                <a16:creationId xmlns:a16="http://schemas.microsoft.com/office/drawing/2014/main" id="{C3559E25-046A-4100-9A04-14D6437C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81300"/>
            <a:ext cx="2209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4" name="metric-label-7-high/critical blockers">
            <a:extLst xmlns:a="http://schemas.openxmlformats.org/drawingml/2006/main">
              <a:ext uri="{FF2B5EF4-FFF2-40B4-BE49-F238E27FC236}">
                <a16:creationId xmlns:a16="http://schemas.microsoft.com/office/drawing/2014/main" id="{0DF4C248-1EAF-41A1-9BB4-EE1FEA9A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24200"/>
            <a:ext cx="22098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high/critical blockers</a:t>
            </a:r>
          </a:p>
        </p:txBody>
      </p:sp>
      <p:sp>
        <p:nvSpPr>
          <p:cNvPr id="15" name="metric-note-7-high/critical blockers">
            <a:extLst xmlns:a="http://schemas.openxmlformats.org/drawingml/2006/main">
              <a:ext uri="{FF2B5EF4-FFF2-40B4-BE49-F238E27FC236}">
                <a16:creationId xmlns:a16="http://schemas.microsoft.com/office/drawing/2014/main" id="{B8DA94EE-283C-41FA-BB63-EA5FC664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62325"/>
            <a:ext cx="2209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D2DAD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D2DAD8"/>
                </a:solidFill>
                <a:latin typeface="Aptos"/>
                <a:ea typeface="Aptos"/>
                <a:cs typeface="Aptos"/>
              </a:rPr>
              <a:t>SEC-P0-004, PROD-REL-001</a:t>
            </a:r>
          </a:p>
        </p:txBody>
      </p:sp>
      <p:sp>
        <p:nvSpPr>
          <p:cNvPr id="16" name="metric-box-7-unimplemented req">
            <a:extLst xmlns:a="http://schemas.openxmlformats.org/drawingml/2006/main">
              <a:ext uri="{FF2B5EF4-FFF2-40B4-BE49-F238E27FC236}">
                <a16:creationId xmlns:a16="http://schemas.microsoft.com/office/drawing/2014/main" id="{F5C928E4-0B7B-4366-BDD2-B30AAFEF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67000"/>
            <a:ext cx="247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C"/>
          </a:solidFill>
          <a:ln xmlns:a="http://schemas.openxmlformats.org/drawingml/2006/main" w="11430">
            <a:solidFill>
              <a:srgbClr val="B03A2E"/>
            </a:solidFill>
            <a:prstDash val="solid"/>
          </a:ln>
        </p:spPr>
      </p:sp>
      <p:sp>
        <p:nvSpPr>
          <p:cNvPr id="17" name="metric-accent-7-unimplemented req">
            <a:extLst xmlns:a="http://schemas.openxmlformats.org/drawingml/2006/main">
              <a:ext uri="{FF2B5EF4-FFF2-40B4-BE49-F238E27FC236}">
                <a16:creationId xmlns:a16="http://schemas.microsoft.com/office/drawing/2014/main" id="{2B450407-681F-4F8C-B45E-31A5811E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670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18" name="metric-value-7-unimplemented req">
            <a:extLst xmlns:a="http://schemas.openxmlformats.org/drawingml/2006/main">
              <a:ext uri="{FF2B5EF4-FFF2-40B4-BE49-F238E27FC236}">
                <a16:creationId xmlns:a16="http://schemas.microsoft.com/office/drawing/2014/main" id="{B6C3CCDE-5053-4312-BEC7-81B3CB52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2209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metric-label-7-unimplemented req">
            <a:extLst xmlns:a="http://schemas.openxmlformats.org/drawingml/2006/main">
              <a:ext uri="{FF2B5EF4-FFF2-40B4-BE49-F238E27FC236}">
                <a16:creationId xmlns:a16="http://schemas.microsoft.com/office/drawing/2014/main" id="{0B1900AD-2BBF-4F14-A13C-A7BFDEBE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22098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unimplemented req</a:t>
            </a:r>
          </a:p>
        </p:txBody>
      </p:sp>
      <p:sp>
        <p:nvSpPr>
          <p:cNvPr id="20" name="metric-note-7-unimplemented req">
            <a:extLst xmlns:a="http://schemas.openxmlformats.org/drawingml/2006/main">
              <a:ext uri="{FF2B5EF4-FFF2-40B4-BE49-F238E27FC236}">
                <a16:creationId xmlns:a16="http://schemas.microsoft.com/office/drawing/2014/main" id="{E1BA598D-C821-48AE-8838-A533DF28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62325"/>
            <a:ext cx="2209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D2DAD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D2DAD8"/>
                </a:solidFill>
                <a:latin typeface="Aptos"/>
                <a:ea typeface="Aptos"/>
                <a:cs typeface="Aptos"/>
              </a:rPr>
              <a:t>SEC-REQ-007</a:t>
            </a:r>
          </a:p>
        </p:txBody>
      </p:sp>
      <p:sp>
        <p:nvSpPr>
          <p:cNvPr id="21" name="release-row-SEC-P0-004">
            <a:extLst xmlns:a="http://schemas.openxmlformats.org/drawingml/2006/main">
              <a:ext uri="{FF2B5EF4-FFF2-40B4-BE49-F238E27FC236}">
                <a16:creationId xmlns:a16="http://schemas.microsoft.com/office/drawing/2014/main" id="{68F202AF-EA6E-4484-B9B3-FAEB9100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76750"/>
            <a:ext cx="868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440"/>
          </a:solidFill>
          <a:ln xmlns:a="http://schemas.openxmlformats.org/drawingml/2006/main" w="7620">
            <a:solidFill>
              <a:srgbClr val="4653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EE6B30-D371-479A-8888-CE399547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1B562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1B562"/>
                </a:solidFill>
                <a:latin typeface="Aptos Mono"/>
                <a:ea typeface="Aptos Mono"/>
                <a:cs typeface="Aptos Mono"/>
              </a:rPr>
              <a:t>SEC-P0-004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39396D-7379-4A7D-81FC-2AB9EFEA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33900"/>
            <a:ext cx="628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D7DDD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DDA"/>
                </a:solidFill>
                <a:latin typeface="Aptos"/>
                <a:ea typeface="Aptos"/>
                <a:cs typeface="Aptos"/>
              </a:rPr>
              <a:t>open high/critical release-blocker risk</a:t>
            </a:r>
          </a:p>
        </p:txBody>
      </p:sp>
      <p:sp>
        <p:nvSpPr>
          <p:cNvPr id="24" name="release-row-PROD-REL-001">
            <a:extLst xmlns:a="http://schemas.openxmlformats.org/drawingml/2006/main">
              <a:ext uri="{FF2B5EF4-FFF2-40B4-BE49-F238E27FC236}">
                <a16:creationId xmlns:a16="http://schemas.microsoft.com/office/drawing/2014/main" id="{3E2B9ABE-D146-4699-A4C4-C3C46E18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95850"/>
            <a:ext cx="868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6"/>
          </a:solidFill>
          <a:ln xmlns:a="http://schemas.openxmlformats.org/drawingml/2006/main" w="7620">
            <a:solidFill>
              <a:srgbClr val="4653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DBA795-C5E0-44B8-ADAB-3F07ABFA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530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1B562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1B562"/>
                </a:solidFill>
                <a:latin typeface="Aptos Mono"/>
                <a:ea typeface="Aptos Mono"/>
                <a:cs typeface="Aptos Mono"/>
              </a:rPr>
              <a:t>PROD-REL-001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89BBD8-FF41-42C2-AE78-93CB558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53000"/>
            <a:ext cx="628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D7DDD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DDA"/>
                </a:solidFill>
                <a:latin typeface="Aptos"/>
                <a:ea typeface="Aptos"/>
                <a:cs typeface="Aptos"/>
              </a:rPr>
              <a:t>open high/critical release-blocker risk</a:t>
            </a:r>
          </a:p>
        </p:txBody>
      </p:sp>
      <p:sp>
        <p:nvSpPr>
          <p:cNvPr id="27" name="release-row-SEC-REQ-007">
            <a:extLst xmlns:a="http://schemas.openxmlformats.org/drawingml/2006/main">
              <a:ext uri="{FF2B5EF4-FFF2-40B4-BE49-F238E27FC236}">
                <a16:creationId xmlns:a16="http://schemas.microsoft.com/office/drawing/2014/main" id="{D0F6D783-9E00-4110-A8CD-B302B0FA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14950"/>
            <a:ext cx="868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440"/>
          </a:solidFill>
          <a:ln xmlns:a="http://schemas.openxmlformats.org/drawingml/2006/main" w="7620">
            <a:solidFill>
              <a:srgbClr val="4653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929EAD-91C3-446F-BE9A-7F00379A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721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1B562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1B562"/>
                </a:solidFill>
                <a:latin typeface="Aptos Mono"/>
                <a:ea typeface="Aptos Mono"/>
                <a:cs typeface="Aptos Mono"/>
              </a:rPr>
              <a:t>SEC-REQ-007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132F7E-79D4-4C74-96CA-C7C22BFF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72100"/>
            <a:ext cx="628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D7DDD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DDA"/>
                </a:solidFill>
                <a:latin typeface="Aptos"/>
                <a:ea typeface="Aptos"/>
                <a:cs typeface="Aptos"/>
              </a:rPr>
              <a:t>unimplemented release-blocker requirement</a:t>
            </a:r>
          </a:p>
        </p:txBody>
      </p:sp>
      <p:sp>
        <p:nvSpPr>
          <p:cNvPr id="30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60987198-08D5-4161-9F33-AC3DCD6D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35B"/>
          </a:solidFill>
          <a:ln xmlns:a="http://schemas.openxmlformats.org/drawingml/2006/main" w="0">
            <a:solidFill>
              <a:srgbClr val="46535B"/>
            </a:solidFill>
            <a:prstDash val="solid"/>
          </a:ln>
        </p:spPr>
      </p:sp>
      <p:sp>
        <p:nvSpPr>
          <p:cNvPr id="31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02D6A61A-46DC-470D-98A9-45991384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BFC8C6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BFC8C6"/>
                </a:solidFill>
                <a:latin typeface="Aptos Mono"/>
                <a:ea typeface="Aptos Mono"/>
                <a:cs typeface="Aptos Mono"/>
              </a:rPr>
              <a:t>Source: npm run security:release-trust. Classification: expected fail-closed blocker evidence.</a:t>
            </a:r>
          </a:p>
        </p:txBody>
      </p:sp>
      <p:sp>
        <p:nvSpPr>
          <p:cNvPr id="32" name="page-marker-7">
            <a:extLst xmlns:a="http://schemas.openxmlformats.org/drawingml/2006/main">
              <a:ext uri="{FF2B5EF4-FFF2-40B4-BE49-F238E27FC236}">
                <a16:creationId xmlns:a16="http://schemas.microsoft.com/office/drawing/2014/main" id="{DA60C4A0-A267-4B0D-9B5B-0999AE44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645690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5ED202-5DA9-4547-B070-9583D61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C"/>
          </a:solidFill>
          <a:ln xmlns:a="http://schemas.openxmlformats.org/drawingml/2006/main" w="0">
            <a:solidFill>
              <a:srgbClr val="EEF1EC"/>
            </a:solidFill>
            <a:prstDash val="solid"/>
          </a:ln>
        </p:spPr>
      </p:sp>
      <p:sp>
        <p:nvSpPr>
          <p:cNvPr id="2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2A8415EC-A607-4DEE-B127-BED2BB0B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E"/>
          </a:solidFill>
          <a:ln xmlns:a="http://schemas.openxmlformats.org/drawingml/2006/main" w="0">
            <a:solidFill>
              <a:srgbClr val="2F7D4E"/>
            </a:solidFill>
            <a:prstDash val="solid"/>
          </a:ln>
        </p:spPr>
      </p:sp>
      <p:sp>
        <p:nvSpPr>
          <p:cNvPr id="3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6D95F4D1-2715-46DD-8ADB-17889D4C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D4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F7D4E"/>
                </a:solidFill>
                <a:latin typeface="Aptos Mono"/>
                <a:ea typeface="Aptos Mono"/>
                <a:cs typeface="Aptos Mono"/>
              </a:rPr>
              <a:t>PERFORMANCE AND MEMORY</a:t>
            </a:r>
          </a:p>
        </p:txBody>
      </p:sp>
      <p:sp>
        <p:nvSpPr>
          <p:cNvPr id="4" name="claim-title-8">
            <a:extLst xmlns:a="http://schemas.openxmlformats.org/drawingml/2006/main">
              <a:ext uri="{FF2B5EF4-FFF2-40B4-BE49-F238E27FC236}">
                <a16:creationId xmlns:a16="http://schemas.microsoft.com/office/drawing/2014/main" id="{44B2BB5D-996E-4615-9493-7FBBE0A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572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Memory posture is governed as a matrix, with hard limits only where justified.</a:t>
            </a:r>
          </a:p>
        </p:txBody>
      </p:sp>
      <p:sp>
        <p:nvSpPr>
          <p:cNvPr id="5" name="support-8">
            <a:extLst xmlns:a="http://schemas.openxmlformats.org/drawingml/2006/main">
              <a:ext uri="{FF2B5EF4-FFF2-40B4-BE49-F238E27FC236}">
                <a16:creationId xmlns:a16="http://schemas.microsoft.com/office/drawing/2014/main" id="{337F5500-1C10-4479-961F-AF6B63F8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838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The matrix validates command wiring, declared boundaries, timing budgets, memory sampling, and CI-backed package contracts. It does not pretend one local run proves system-wide performance stability.</a:t>
            </a:r>
          </a:p>
        </p:txBody>
      </p:sp>
      <p:sp>
        <p:nvSpPr>
          <p:cNvPr id="6" name="metric-box-8-lanes">
            <a:extLst xmlns:a="http://schemas.openxmlformats.org/drawingml/2006/main">
              <a:ext uri="{FF2B5EF4-FFF2-40B4-BE49-F238E27FC236}">
                <a16:creationId xmlns:a16="http://schemas.microsoft.com/office/drawing/2014/main" id="{B1310210-BD46-4A72-8CFC-B4AAB8D5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2305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7D4E"/>
            </a:solidFill>
            <a:prstDash val="solid"/>
          </a:ln>
        </p:spPr>
      </p:sp>
      <p:sp>
        <p:nvSpPr>
          <p:cNvPr id="7" name="metric-accent-8-lanes">
            <a:extLst xmlns:a="http://schemas.openxmlformats.org/drawingml/2006/main">
              <a:ext uri="{FF2B5EF4-FFF2-40B4-BE49-F238E27FC236}">
                <a16:creationId xmlns:a16="http://schemas.microsoft.com/office/drawing/2014/main" id="{44296168-ACCD-4CC8-9D49-F63B4BD7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E"/>
          </a:solidFill>
          <a:ln xmlns:a="http://schemas.openxmlformats.org/drawingml/2006/main" w="0">
            <a:solidFill>
              <a:srgbClr val="2F7D4E"/>
            </a:solidFill>
            <a:prstDash val="solid"/>
          </a:ln>
        </p:spPr>
      </p:sp>
      <p:sp>
        <p:nvSpPr>
          <p:cNvPr id="8" name="metric-value-8-lanes">
            <a:extLst xmlns:a="http://schemas.openxmlformats.org/drawingml/2006/main">
              <a:ext uri="{FF2B5EF4-FFF2-40B4-BE49-F238E27FC236}">
                <a16:creationId xmlns:a16="http://schemas.microsoft.com/office/drawing/2014/main" id="{5C19F157-37C6-45F6-88A9-ACD001DA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9" name="metric-label-8-lanes">
            <a:extLst xmlns:a="http://schemas.openxmlformats.org/drawingml/2006/main">
              <a:ext uri="{FF2B5EF4-FFF2-40B4-BE49-F238E27FC236}">
                <a16:creationId xmlns:a16="http://schemas.microsoft.com/office/drawing/2014/main" id="{8DBF91E3-C661-4DD0-80AD-37B6A281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lanes</a:t>
            </a:r>
          </a:p>
        </p:txBody>
      </p:sp>
      <p:sp>
        <p:nvSpPr>
          <p:cNvPr id="10" name="metric-note-8-lanes">
            <a:extLst xmlns:a="http://schemas.openxmlformats.org/drawingml/2006/main">
              <a:ext uri="{FF2B5EF4-FFF2-40B4-BE49-F238E27FC236}">
                <a16:creationId xmlns:a16="http://schemas.microsoft.com/office/drawing/2014/main" id="{29778308-01BC-408A-B9BC-95D9C873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28975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build, package, ETL, source, export, smoke, release</a:t>
            </a:r>
          </a:p>
        </p:txBody>
      </p:sp>
      <p:sp>
        <p:nvSpPr>
          <p:cNvPr id="11" name="metric-box-8-timing budgets">
            <a:extLst xmlns:a="http://schemas.openxmlformats.org/drawingml/2006/main">
              <a:ext uri="{FF2B5EF4-FFF2-40B4-BE49-F238E27FC236}">
                <a16:creationId xmlns:a16="http://schemas.microsoft.com/office/drawing/2014/main" id="{F1A74487-CDD4-4103-9AC7-F12E054E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533650"/>
            <a:ext cx="2305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D7C79"/>
            </a:solidFill>
            <a:prstDash val="solid"/>
          </a:ln>
        </p:spPr>
      </p:sp>
      <p:sp>
        <p:nvSpPr>
          <p:cNvPr id="12" name="metric-accent-8-timing budgets">
            <a:extLst xmlns:a="http://schemas.openxmlformats.org/drawingml/2006/main">
              <a:ext uri="{FF2B5EF4-FFF2-40B4-BE49-F238E27FC236}">
                <a16:creationId xmlns:a16="http://schemas.microsoft.com/office/drawing/2014/main" id="{FA164A59-37EB-483D-8085-69ACAF39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5336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79"/>
          </a:solidFill>
          <a:ln xmlns:a="http://schemas.openxmlformats.org/drawingml/2006/main" w="0">
            <a:solidFill>
              <a:srgbClr val="0D7C79"/>
            </a:solidFill>
            <a:prstDash val="solid"/>
          </a:ln>
        </p:spPr>
      </p:sp>
      <p:sp>
        <p:nvSpPr>
          <p:cNvPr id="13" name="metric-value-8-timing budgets">
            <a:extLst xmlns:a="http://schemas.openxmlformats.org/drawingml/2006/main">
              <a:ext uri="{FF2B5EF4-FFF2-40B4-BE49-F238E27FC236}">
                <a16:creationId xmlns:a16="http://schemas.microsoft.com/office/drawing/2014/main" id="{00C83187-2AE9-4541-BD75-FA00E0EB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47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4" name="metric-label-8-timing budgets">
            <a:extLst xmlns:a="http://schemas.openxmlformats.org/drawingml/2006/main">
              <a:ext uri="{FF2B5EF4-FFF2-40B4-BE49-F238E27FC236}">
                <a16:creationId xmlns:a16="http://schemas.microsoft.com/office/drawing/2014/main" id="{A09ABF06-BE72-475F-8AF8-E9E6205D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timing budgets</a:t>
            </a:r>
          </a:p>
        </p:txBody>
      </p:sp>
      <p:sp>
        <p:nvSpPr>
          <p:cNvPr id="15" name="metric-note-8-timing budgets">
            <a:extLst xmlns:a="http://schemas.openxmlformats.org/drawingml/2006/main">
              <a:ext uri="{FF2B5EF4-FFF2-40B4-BE49-F238E27FC236}">
                <a16:creationId xmlns:a16="http://schemas.microsoft.com/office/drawing/2014/main" id="{86BA1C85-1ACC-4FAB-880B-697A2BDD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28975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present on runtime-sensitive lanes</a:t>
            </a:r>
          </a:p>
        </p:txBody>
      </p:sp>
      <p:sp>
        <p:nvSpPr>
          <p:cNvPr id="16" name="metric-box-8-memory samples">
            <a:extLst xmlns:a="http://schemas.openxmlformats.org/drawingml/2006/main">
              <a:ext uri="{FF2B5EF4-FFF2-40B4-BE49-F238E27FC236}">
                <a16:creationId xmlns:a16="http://schemas.microsoft.com/office/drawing/2014/main" id="{E9429B6F-7662-4091-A379-741A945D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33650"/>
            <a:ext cx="2305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8A17"/>
            </a:solidFill>
            <a:prstDash val="solid"/>
          </a:ln>
        </p:spPr>
      </p:sp>
      <p:sp>
        <p:nvSpPr>
          <p:cNvPr id="17" name="metric-accent-8-memory samples">
            <a:extLst xmlns:a="http://schemas.openxmlformats.org/drawingml/2006/main">
              <a:ext uri="{FF2B5EF4-FFF2-40B4-BE49-F238E27FC236}">
                <a16:creationId xmlns:a16="http://schemas.microsoft.com/office/drawing/2014/main" id="{56BB1F77-AAC1-4B20-BAD6-B5381BB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336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17"/>
          </a:solidFill>
          <a:ln xmlns:a="http://schemas.openxmlformats.org/drawingml/2006/main" w="0">
            <a:solidFill>
              <a:srgbClr val="C98A17"/>
            </a:solidFill>
            <a:prstDash val="solid"/>
          </a:ln>
        </p:spPr>
      </p:sp>
      <p:sp>
        <p:nvSpPr>
          <p:cNvPr id="18" name="metric-value-8-memory samples">
            <a:extLst xmlns:a="http://schemas.openxmlformats.org/drawingml/2006/main">
              <a:ext uri="{FF2B5EF4-FFF2-40B4-BE49-F238E27FC236}">
                <a16:creationId xmlns:a16="http://schemas.microsoft.com/office/drawing/2014/main" id="{C6040BAF-9F5A-4039-A5C3-2A2B6597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47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9" name="metric-label-8-memory samples">
            <a:extLst xmlns:a="http://schemas.openxmlformats.org/drawingml/2006/main">
              <a:ext uri="{FF2B5EF4-FFF2-40B4-BE49-F238E27FC236}">
                <a16:creationId xmlns:a16="http://schemas.microsoft.com/office/drawing/2014/main" id="{9C3D8840-CB0F-4793-A0F8-2420F787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90850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memory samples</a:t>
            </a:r>
          </a:p>
        </p:txBody>
      </p:sp>
      <p:sp>
        <p:nvSpPr>
          <p:cNvPr id="20" name="metric-note-8-memory samples">
            <a:extLst xmlns:a="http://schemas.openxmlformats.org/drawingml/2006/main">
              <a:ext uri="{FF2B5EF4-FFF2-40B4-BE49-F238E27FC236}">
                <a16:creationId xmlns:a16="http://schemas.microsoft.com/office/drawing/2014/main" id="{1187FDC8-456C-4B47-8EE1-FEE580DB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28975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tracked where sampling is active</a:t>
            </a:r>
          </a:p>
        </p:txBody>
      </p:sp>
      <p:sp>
        <p:nvSpPr>
          <p:cNvPr id="21" name="metric-box-8-CI-backed lanes">
            <a:extLst xmlns:a="http://schemas.openxmlformats.org/drawingml/2006/main">
              <a:ext uri="{FF2B5EF4-FFF2-40B4-BE49-F238E27FC236}">
                <a16:creationId xmlns:a16="http://schemas.microsoft.com/office/drawing/2014/main" id="{FBFB7B18-4B05-41CA-9E15-55FA0383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2305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B4E71"/>
            </a:solidFill>
            <a:prstDash val="solid"/>
          </a:ln>
        </p:spPr>
      </p:sp>
      <p:sp>
        <p:nvSpPr>
          <p:cNvPr id="22" name="metric-accent-8-CI-backed lanes">
            <a:extLst xmlns:a="http://schemas.openxmlformats.org/drawingml/2006/main">
              <a:ext uri="{FF2B5EF4-FFF2-40B4-BE49-F238E27FC236}">
                <a16:creationId xmlns:a16="http://schemas.microsoft.com/office/drawing/2014/main" id="{CBE38C4C-8F21-463C-A8C0-3BD1F6E6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E71"/>
          </a:solidFill>
          <a:ln xmlns:a="http://schemas.openxmlformats.org/drawingml/2006/main" w="0">
            <a:solidFill>
              <a:srgbClr val="6B4E71"/>
            </a:solidFill>
            <a:prstDash val="solid"/>
          </a:ln>
        </p:spPr>
      </p:sp>
      <p:sp>
        <p:nvSpPr>
          <p:cNvPr id="23" name="metric-value-8-CI-backed lanes">
            <a:extLst xmlns:a="http://schemas.openxmlformats.org/drawingml/2006/main">
              <a:ext uri="{FF2B5EF4-FFF2-40B4-BE49-F238E27FC236}">
                <a16:creationId xmlns:a16="http://schemas.microsoft.com/office/drawing/2014/main" id="{71361DCE-4DC4-4D02-80EF-5C862742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47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4" name="metric-label-8-CI-backed lanes">
            <a:extLst xmlns:a="http://schemas.openxmlformats.org/drawingml/2006/main">
              <a:ext uri="{FF2B5EF4-FFF2-40B4-BE49-F238E27FC236}">
                <a16:creationId xmlns:a16="http://schemas.microsoft.com/office/drawing/2014/main" id="{8CBF07B6-61CE-4429-8140-3122106D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990850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CI-backed lanes</a:t>
            </a:r>
          </a:p>
        </p:txBody>
      </p:sp>
      <p:sp>
        <p:nvSpPr>
          <p:cNvPr id="25" name="metric-note-8-CI-backed lanes">
            <a:extLst xmlns:a="http://schemas.openxmlformats.org/drawingml/2006/main">
              <a:ext uri="{FF2B5EF4-FFF2-40B4-BE49-F238E27FC236}">
                <a16:creationId xmlns:a16="http://schemas.microsoft.com/office/drawing/2014/main" id="{4804BF12-D96F-4704-90EA-19D79397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28975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package/contract smoke surfaces</a:t>
            </a:r>
          </a:p>
        </p:txBody>
      </p:sp>
      <p:sp>
        <p:nvSpPr>
          <p:cNvPr id="26" name="row-8-">
            <a:extLst xmlns:a="http://schemas.openxmlformats.org/drawingml/2006/main">
              <a:ext uri="{FF2B5EF4-FFF2-40B4-BE49-F238E27FC236}">
                <a16:creationId xmlns:a16="http://schemas.microsoft.com/office/drawing/2014/main" id="{464BAFF1-4D72-4ACE-BE45-BEFEC927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5715">
            <a:solidFill>
              <a:srgbClr val="17202A"/>
            </a:solidFill>
            <a:prstDash val="solid"/>
          </a:ln>
        </p:spPr>
      </p:sp>
      <p:sp>
        <p:nvSpPr>
          <p:cNvPr id="27" name="row-text-8--0">
            <a:extLst xmlns:a="http://schemas.openxmlformats.org/drawingml/2006/main">
              <a:ext uri="{FF2B5EF4-FFF2-40B4-BE49-F238E27FC236}">
                <a16:creationId xmlns:a16="http://schemas.microsoft.com/office/drawing/2014/main" id="{D4E97EFE-D920-4EDC-88A2-EFEEF4CC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row-text-8--1">
            <a:extLst xmlns:a="http://schemas.openxmlformats.org/drawingml/2006/main">
              <a:ext uri="{FF2B5EF4-FFF2-40B4-BE49-F238E27FC236}">
                <a16:creationId xmlns:a16="http://schemas.microsoft.com/office/drawing/2014/main" id="{D5442A53-C092-4411-A3B7-CEC8E5C5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52900"/>
            <a:ext cx="308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row-text-8--2">
            <a:extLst xmlns:a="http://schemas.openxmlformats.org/drawingml/2006/main">
              <a:ext uri="{FF2B5EF4-FFF2-40B4-BE49-F238E27FC236}">
                <a16:creationId xmlns:a16="http://schemas.microsoft.com/office/drawing/2014/main" id="{54929889-14F9-4A71-8535-DA7BD565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52900"/>
            <a:ext cx="3848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294BF3-6970-46D2-A003-FE58D4B6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8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Boundary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7FB068-1EF2-4530-84D4-23787D4D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15290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8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Authority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61326-AE83-4258-8E7A-C6EE7119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52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8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Packet interpretation</a:t>
            </a:r>
          </a:p>
        </p:txBody>
      </p:sp>
      <p:sp>
        <p:nvSpPr>
          <p:cNvPr id="33" name="row-8-JSONL proof ledger">
            <a:extLst xmlns:a="http://schemas.openxmlformats.org/drawingml/2006/main">
              <a:ext uri="{FF2B5EF4-FFF2-40B4-BE49-F238E27FC236}">
                <a16:creationId xmlns:a16="http://schemas.microsoft.com/office/drawing/2014/main" id="{D2B49185-FB9B-4B97-91A1-DCEF3D3E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34" name="row-text-8-JSONL proof ledger-0">
            <a:extLst xmlns:a="http://schemas.openxmlformats.org/drawingml/2006/main">
              <a:ext uri="{FF2B5EF4-FFF2-40B4-BE49-F238E27FC236}">
                <a16:creationId xmlns:a16="http://schemas.microsoft.com/office/drawing/2014/main" id="{8B3F6D0B-C850-43F5-B6E0-95278719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JSONL proof ledger</a:t>
            </a:r>
          </a:p>
        </p:txBody>
      </p:sp>
      <p:sp>
        <p:nvSpPr>
          <p:cNvPr id="35" name="row-text-8-JSONL proof ledger-1">
            <a:extLst xmlns:a="http://schemas.openxmlformats.org/drawingml/2006/main">
              <a:ext uri="{FF2B5EF4-FFF2-40B4-BE49-F238E27FC236}">
                <a16:creationId xmlns:a16="http://schemas.microsoft.com/office/drawing/2014/main" id="{9E558FEA-BE28-4BD8-8086-0238F72B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33900"/>
            <a:ext cx="308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canonical source truth for Obsidian proof</a:t>
            </a:r>
          </a:p>
        </p:txBody>
      </p:sp>
      <p:sp>
        <p:nvSpPr>
          <p:cNvPr id="36" name="row-text-8-JSONL proof ledger-2">
            <a:extLst xmlns:a="http://schemas.openxmlformats.org/drawingml/2006/main">
              <a:ext uri="{FF2B5EF4-FFF2-40B4-BE49-F238E27FC236}">
                <a16:creationId xmlns:a16="http://schemas.microsoft.com/office/drawing/2014/main" id="{A6C79541-DACA-4FFD-B1A6-9C87CD4A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33900"/>
            <a:ext cx="3848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SQLite/views are generated mirrors, not authority</a:t>
            </a:r>
          </a:p>
        </p:txBody>
      </p:sp>
      <p:sp>
        <p:nvSpPr>
          <p:cNvPr id="37" name="row-8-perf:memory:matrix">
            <a:extLst xmlns:a="http://schemas.openxmlformats.org/drawingml/2006/main">
              <a:ext uri="{FF2B5EF4-FFF2-40B4-BE49-F238E27FC236}">
                <a16:creationId xmlns:a16="http://schemas.microsoft.com/office/drawing/2014/main" id="{8AEF96DF-02FD-4D53-8E9F-F7CFECED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38" name="row-text-8-perf:memory:matrix-0">
            <a:extLst xmlns:a="http://schemas.openxmlformats.org/drawingml/2006/main">
              <a:ext uri="{FF2B5EF4-FFF2-40B4-BE49-F238E27FC236}">
                <a16:creationId xmlns:a16="http://schemas.microsoft.com/office/drawing/2014/main" id="{894C6BA4-8C94-47BD-BFCE-EA178698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perf:memory:matrix</a:t>
            </a:r>
          </a:p>
        </p:txBody>
      </p:sp>
      <p:sp>
        <p:nvSpPr>
          <p:cNvPr id="39" name="row-text-8-perf:memory:matrix-1">
            <a:extLst xmlns:a="http://schemas.openxmlformats.org/drawingml/2006/main">
              <a:ext uri="{FF2B5EF4-FFF2-40B4-BE49-F238E27FC236}">
                <a16:creationId xmlns:a16="http://schemas.microsoft.com/office/drawing/2014/main" id="{ABA83478-8784-4C40-9A45-AE646BD2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953000"/>
            <a:ext cx="308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governance map and command contract</a:t>
            </a:r>
          </a:p>
        </p:txBody>
      </p:sp>
      <p:sp>
        <p:nvSpPr>
          <p:cNvPr id="40" name="row-text-8-perf:memory:matrix-2">
            <a:extLst xmlns:a="http://schemas.openxmlformats.org/drawingml/2006/main">
              <a:ext uri="{FF2B5EF4-FFF2-40B4-BE49-F238E27FC236}">
                <a16:creationId xmlns:a16="http://schemas.microsoft.com/office/drawing/2014/main" id="{D4B695DE-57D0-46EB-830A-A97CBB31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53000"/>
            <a:ext cx="3848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pass means posture is mapped, not release certified</a:t>
            </a:r>
          </a:p>
        </p:txBody>
      </p:sp>
      <p:sp>
        <p:nvSpPr>
          <p:cNvPr id="41" name="row-8-hard memory limit">
            <a:extLst xmlns:a="http://schemas.openxmlformats.org/drawingml/2006/main">
              <a:ext uri="{FF2B5EF4-FFF2-40B4-BE49-F238E27FC236}">
                <a16:creationId xmlns:a16="http://schemas.microsoft.com/office/drawing/2014/main" id="{8CC6552F-B1E0-49D8-B12E-EAED7F32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5715">
            <a:solidFill>
              <a:srgbClr val="CBD5CF"/>
            </a:solidFill>
            <a:prstDash val="solid"/>
          </a:ln>
        </p:spPr>
      </p:sp>
      <p:sp>
        <p:nvSpPr>
          <p:cNvPr id="42" name="row-text-8-hard memory limit-0">
            <a:extLst xmlns:a="http://schemas.openxmlformats.org/drawingml/2006/main">
              <a:ext uri="{FF2B5EF4-FFF2-40B4-BE49-F238E27FC236}">
                <a16:creationId xmlns:a16="http://schemas.microsoft.com/office/drawing/2014/main" id="{E28F5CFE-1C0F-42DC-BC7A-C91885AD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7210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hard memory limit</a:t>
            </a:r>
          </a:p>
        </p:txBody>
      </p:sp>
      <p:sp>
        <p:nvSpPr>
          <p:cNvPr id="43" name="row-text-8-hard memory limit-1">
            <a:extLst xmlns:a="http://schemas.openxmlformats.org/drawingml/2006/main">
              <a:ext uri="{FF2B5EF4-FFF2-40B4-BE49-F238E27FC236}">
                <a16:creationId xmlns:a16="http://schemas.microsoft.com/office/drawing/2014/main" id="{83CEB7EA-DB1E-45CE-9D2F-C976FEFF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72100"/>
            <a:ext cx="308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not active</a:t>
            </a:r>
          </a:p>
        </p:txBody>
      </p:sp>
      <p:sp>
        <p:nvSpPr>
          <p:cNvPr id="44" name="row-text-8-hard memory limit-2">
            <a:extLst xmlns:a="http://schemas.openxmlformats.org/drawingml/2006/main">
              <a:ext uri="{FF2B5EF4-FFF2-40B4-BE49-F238E27FC236}">
                <a16:creationId xmlns:a16="http://schemas.microsoft.com/office/drawing/2014/main" id="{BD5C3AB5-1355-4E2B-BE8B-092ED9F1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372100"/>
            <a:ext cx="3848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1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trend-only until repeated evidence justifies limits</a:t>
            </a:r>
          </a:p>
        </p:txBody>
      </p:sp>
      <p:sp>
        <p:nvSpPr>
          <p:cNvPr id="45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A39B375A-9F0D-405B-B50B-3FB3143F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46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2FECADBE-4DFC-427B-AE16-38F23096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npm run perf:memory:matrix; npm run data:obsidian:proof:validate.</a:t>
            </a:r>
          </a:p>
        </p:txBody>
      </p:sp>
      <p:sp>
        <p:nvSpPr>
          <p:cNvPr id="47" name="page-marker-8">
            <a:extLst xmlns:a="http://schemas.openxmlformats.org/drawingml/2006/main">
              <a:ext uri="{FF2B5EF4-FFF2-40B4-BE49-F238E27FC236}">
                <a16:creationId xmlns:a16="http://schemas.microsoft.com/office/drawing/2014/main" id="{16E9A130-2D09-4860-B2CC-4D420A5D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99624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3D9515C-6093-4ACE-A4B2-AE6CD8AD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F7F3EA"/>
            </a:solidFill>
            <a:prstDash val="solid"/>
          </a:ln>
        </p:spPr>
      </p:sp>
      <p:sp>
        <p:nvSpPr>
          <p:cNvPr id="2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5D091D67-D105-442E-9F0D-18B66783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3A2E"/>
          </a:solidFill>
          <a:ln xmlns:a="http://schemas.openxmlformats.org/drawingml/2006/main" w="0">
            <a:solidFill>
              <a:srgbClr val="B03A2E"/>
            </a:solidFill>
            <a:prstDash val="solid"/>
          </a:ln>
        </p:spPr>
      </p:sp>
      <p:sp>
        <p:nvSpPr>
          <p:cNvPr id="3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88236B33-19E6-467A-BFAD-7ADE24C7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03A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03A2E"/>
                </a:solidFill>
                <a:latin typeface="Aptos Mono"/>
                <a:ea typeface="Aptos Mono"/>
                <a:cs typeface="Aptos Mono"/>
              </a:rPr>
              <a:t>REVIEWER ROUTE</a:t>
            </a:r>
          </a:p>
        </p:txBody>
      </p:sp>
      <p:sp>
        <p:nvSpPr>
          <p:cNvPr id="4" name="claim-title-9">
            <a:extLst xmlns:a="http://schemas.openxmlformats.org/drawingml/2006/main">
              <a:ext uri="{FF2B5EF4-FFF2-40B4-BE49-F238E27FC236}">
                <a16:creationId xmlns:a16="http://schemas.microsoft.com/office/drawing/2014/main" id="{4305EE46-C11A-48E9-B2D0-EEB3454A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8667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 reviewer can verify the system quickly without trusting the deck.</a:t>
            </a:r>
          </a:p>
        </p:txBody>
      </p:sp>
      <p:sp>
        <p:nvSpPr>
          <p:cNvPr id="5" name="support-9">
            <a:extLst xmlns:a="http://schemas.openxmlformats.org/drawingml/2006/main">
              <a:ext uri="{FF2B5EF4-FFF2-40B4-BE49-F238E27FC236}">
                <a16:creationId xmlns:a16="http://schemas.microsoft.com/office/drawing/2014/main" id="{85074D5B-2164-46D7-8B6D-16739F80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8096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A556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A5563"/>
                </a:solidFill>
                <a:latin typeface="Aptos"/>
                <a:ea typeface="Aptos"/>
                <a:cs typeface="Aptos"/>
              </a:rPr>
              <a:t>The packet is intentionally auditable. The commands below reproduce branch posture, lane status, proof-ledger validity, NLP boundaries, performance/memory posture, and release blockers.</a:t>
            </a:r>
          </a:p>
        </p:txBody>
      </p:sp>
      <p:sp>
        <p:nvSpPr>
          <p:cNvPr id="6" name="command-row-0">
            <a:extLst xmlns:a="http://schemas.openxmlformats.org/drawingml/2006/main">
              <a:ext uri="{FF2B5EF4-FFF2-40B4-BE49-F238E27FC236}">
                <a16:creationId xmlns:a16="http://schemas.microsoft.com/office/drawing/2014/main" id="{2DB3D278-68E7-4A5E-82AA-68C5461F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7" name="command-text-0">
            <a:extLst xmlns:a="http://schemas.openxmlformats.org/drawingml/2006/main">
              <a:ext uri="{FF2B5EF4-FFF2-40B4-BE49-F238E27FC236}">
                <a16:creationId xmlns:a16="http://schemas.microsoft.com/office/drawing/2014/main" id="{C6E1E8A5-05A8-41E0-922B-BD57D777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git status --short --branch</a:t>
            </a:r>
          </a:p>
        </p:txBody>
      </p:sp>
      <p:sp>
        <p:nvSpPr>
          <p:cNvPr id="8" name="command-row-1">
            <a:extLst xmlns:a="http://schemas.openxmlformats.org/drawingml/2006/main">
              <a:ext uri="{FF2B5EF4-FFF2-40B4-BE49-F238E27FC236}">
                <a16:creationId xmlns:a16="http://schemas.microsoft.com/office/drawing/2014/main" id="{FEDFF0B9-D26B-473F-A949-FAEF8D86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9" name="command-text-1">
            <a:extLst xmlns:a="http://schemas.openxmlformats.org/drawingml/2006/main">
              <a:ext uri="{FF2B5EF4-FFF2-40B4-BE49-F238E27FC236}">
                <a16:creationId xmlns:a16="http://schemas.microsoft.com/office/drawing/2014/main" id="{3CCECDBF-906F-4FDE-9391-60CD38A3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git log -1 --oneline --decorate</a:t>
            </a:r>
          </a:p>
        </p:txBody>
      </p:sp>
      <p:sp>
        <p:nvSpPr>
          <p:cNvPr id="10" name="command-row-2">
            <a:extLst xmlns:a="http://schemas.openxmlformats.org/drawingml/2006/main">
              <a:ext uri="{FF2B5EF4-FFF2-40B4-BE49-F238E27FC236}">
                <a16:creationId xmlns:a16="http://schemas.microsoft.com/office/drawing/2014/main" id="{502CEF10-AB16-4D9A-908F-ABC08650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11" name="command-text-2">
            <a:extLst xmlns:a="http://schemas.openxmlformats.org/drawingml/2006/main">
              <a:ext uri="{FF2B5EF4-FFF2-40B4-BE49-F238E27FC236}">
                <a16:creationId xmlns:a16="http://schemas.microsoft.com/office/drawing/2014/main" id="{44802CA7-2F24-4A3D-996A-3587522F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242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git branch -a -vv</a:t>
            </a:r>
          </a:p>
        </p:txBody>
      </p:sp>
      <p:sp>
        <p:nvSpPr>
          <p:cNvPr id="12" name="command-row-3">
            <a:extLst xmlns:a="http://schemas.openxmlformats.org/drawingml/2006/main">
              <a:ext uri="{FF2B5EF4-FFF2-40B4-BE49-F238E27FC236}">
                <a16:creationId xmlns:a16="http://schemas.microsoft.com/office/drawing/2014/main" id="{41F391D6-F965-495F-AFD8-20330630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13" name="command-text-3">
            <a:extLst xmlns:a="http://schemas.openxmlformats.org/drawingml/2006/main">
              <a:ext uri="{FF2B5EF4-FFF2-40B4-BE49-F238E27FC236}">
                <a16:creationId xmlns:a16="http://schemas.microsoft.com/office/drawing/2014/main" id="{F160FE68-AB2C-4E53-99AF-715FC3C4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git ls-remote --heads origin</a:t>
            </a:r>
          </a:p>
        </p:txBody>
      </p:sp>
      <p:sp>
        <p:nvSpPr>
          <p:cNvPr id="14" name="command-row-4">
            <a:extLst xmlns:a="http://schemas.openxmlformats.org/drawingml/2006/main">
              <a:ext uri="{FF2B5EF4-FFF2-40B4-BE49-F238E27FC236}">
                <a16:creationId xmlns:a16="http://schemas.microsoft.com/office/drawing/2014/main" id="{FE626C92-7EE6-480C-82E1-5BDF6C86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15" name="command-text-4">
            <a:extLst xmlns:a="http://schemas.openxmlformats.org/drawingml/2006/main">
              <a:ext uri="{FF2B5EF4-FFF2-40B4-BE49-F238E27FC236}">
                <a16:creationId xmlns:a16="http://schemas.microsoft.com/office/drawing/2014/main" id="{E0EB27D2-554D-44C0-9165-E2C246D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npm run deck:closeout -- --levels=5,4,3,2,1</a:t>
            </a:r>
          </a:p>
        </p:txBody>
      </p:sp>
      <p:sp>
        <p:nvSpPr>
          <p:cNvPr id="16" name="command-row-5">
            <a:extLst xmlns:a="http://schemas.openxmlformats.org/drawingml/2006/main">
              <a:ext uri="{FF2B5EF4-FFF2-40B4-BE49-F238E27FC236}">
                <a16:creationId xmlns:a16="http://schemas.microsoft.com/office/drawing/2014/main" id="{482283ED-27D1-4903-9D47-4C63B54D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17" name="command-text-5">
            <a:extLst xmlns:a="http://schemas.openxmlformats.org/drawingml/2006/main">
              <a:ext uri="{FF2B5EF4-FFF2-40B4-BE49-F238E27FC236}">
                <a16:creationId xmlns:a16="http://schemas.microsoft.com/office/drawing/2014/main" id="{E750A2C8-339A-46C1-9CA5-73A7D277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npm run deck:kanji:review-status</a:t>
            </a:r>
          </a:p>
        </p:txBody>
      </p:sp>
      <p:sp>
        <p:nvSpPr>
          <p:cNvPr id="18" name="command-row-6">
            <a:extLst xmlns:a="http://schemas.openxmlformats.org/drawingml/2006/main">
              <a:ext uri="{FF2B5EF4-FFF2-40B4-BE49-F238E27FC236}">
                <a16:creationId xmlns:a16="http://schemas.microsoft.com/office/drawing/2014/main" id="{1D1191EA-892F-4BAD-89CC-9BB988E4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053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19" name="command-text-6">
            <a:extLst xmlns:a="http://schemas.openxmlformats.org/drawingml/2006/main">
              <a:ext uri="{FF2B5EF4-FFF2-40B4-BE49-F238E27FC236}">
                <a16:creationId xmlns:a16="http://schemas.microsoft.com/office/drawing/2014/main" id="{5C206677-DDED-4E33-8C9E-C5ECA9E0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npm run data:obsidian:proof:validate</a:t>
            </a:r>
          </a:p>
        </p:txBody>
      </p:sp>
      <p:sp>
        <p:nvSpPr>
          <p:cNvPr id="20" name="command-row-7">
            <a:extLst xmlns:a="http://schemas.openxmlformats.org/drawingml/2006/main">
              <a:ext uri="{FF2B5EF4-FFF2-40B4-BE49-F238E27FC236}">
                <a16:creationId xmlns:a16="http://schemas.microsoft.com/office/drawing/2014/main" id="{945EB88F-8DCB-40E8-AB97-A22F4A32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21" name="command-text-7">
            <a:extLst xmlns:a="http://schemas.openxmlformats.org/drawingml/2006/main">
              <a:ext uri="{FF2B5EF4-FFF2-40B4-BE49-F238E27FC236}">
                <a16:creationId xmlns:a16="http://schemas.microsoft.com/office/drawing/2014/main" id="{F9A17800-DD9E-4CFE-9E33-5060C989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npm run nlp:governance-gate</a:t>
            </a:r>
          </a:p>
        </p:txBody>
      </p:sp>
      <p:sp>
        <p:nvSpPr>
          <p:cNvPr id="22" name="command-row-8">
            <a:extLst xmlns:a="http://schemas.openxmlformats.org/drawingml/2006/main">
              <a:ext uri="{FF2B5EF4-FFF2-40B4-BE49-F238E27FC236}">
                <a16:creationId xmlns:a16="http://schemas.microsoft.com/office/drawing/2014/main" id="{987DA903-F387-480C-931A-3D8165C3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23" name="command-text-8">
            <a:extLst xmlns:a="http://schemas.openxmlformats.org/drawingml/2006/main">
              <a:ext uri="{FF2B5EF4-FFF2-40B4-BE49-F238E27FC236}">
                <a16:creationId xmlns:a16="http://schemas.microsoft.com/office/drawing/2014/main" id="{584A4386-6205-4352-88DC-F21A8751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30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npm run perf:memory:matrix</a:t>
            </a:r>
          </a:p>
        </p:txBody>
      </p:sp>
      <p:sp>
        <p:nvSpPr>
          <p:cNvPr id="24" name="command-row-9">
            <a:extLst xmlns:a="http://schemas.openxmlformats.org/drawingml/2006/main">
              <a:ext uri="{FF2B5EF4-FFF2-40B4-BE49-F238E27FC236}">
                <a16:creationId xmlns:a16="http://schemas.microsoft.com/office/drawing/2014/main" id="{61399901-25EA-4C66-815C-E4D0FFBE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556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4763">
            <a:solidFill>
              <a:srgbClr val="CBD5CF"/>
            </a:solidFill>
            <a:prstDash val="solid"/>
          </a:ln>
        </p:spPr>
      </p:sp>
      <p:sp>
        <p:nvSpPr>
          <p:cNvPr id="25" name="command-text-9">
            <a:extLst xmlns:a="http://schemas.openxmlformats.org/drawingml/2006/main">
              <a:ext uri="{FF2B5EF4-FFF2-40B4-BE49-F238E27FC236}">
                <a16:creationId xmlns:a16="http://schemas.microsoft.com/office/drawing/2014/main" id="{BC68D070-EE91-49A1-8A69-AA9165CA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525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81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npm run security:release-trust</a:t>
            </a:r>
          </a:p>
        </p:txBody>
      </p:sp>
      <p:sp>
        <p:nvSpPr>
          <p:cNvPr id="26" name="tag-bg-9-No Obsidian proof recorded">
            <a:extLst xmlns:a="http://schemas.openxmlformats.org/drawingml/2006/main">
              <a:ext uri="{FF2B5EF4-FFF2-40B4-BE49-F238E27FC236}">
                <a16:creationId xmlns:a16="http://schemas.microsoft.com/office/drawing/2014/main" id="{B9859CF9-53D8-4EE6-9A04-85A7A359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76500"/>
            <a:ext cx="2533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DEEB"/>
          </a:solidFill>
          <a:ln xmlns:a="http://schemas.openxmlformats.org/drawingml/2006/main" w="0">
            <a:solidFill>
              <a:srgbClr val="E8DEEB"/>
            </a:solidFill>
            <a:prstDash val="solid"/>
          </a:ln>
        </p:spPr>
      </p:sp>
      <p:sp>
        <p:nvSpPr>
          <p:cNvPr id="27" name="tag-text-9-No Obsidian proof recorded">
            <a:extLst xmlns:a="http://schemas.openxmlformats.org/drawingml/2006/main">
              <a:ext uri="{FF2B5EF4-FFF2-40B4-BE49-F238E27FC236}">
                <a16:creationId xmlns:a16="http://schemas.microsoft.com/office/drawing/2014/main" id="{58F2BB2F-8292-48A7-AD1E-FF4A8C80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146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6B4E71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6B4E71"/>
                </a:solidFill>
                <a:latin typeface="Aptos Mono"/>
                <a:ea typeface="Aptos Mono"/>
                <a:cs typeface="Aptos Mono"/>
              </a:rPr>
              <a:t>No Obsidian proof recorded</a:t>
            </a:r>
          </a:p>
        </p:txBody>
      </p:sp>
      <p:sp>
        <p:nvSpPr>
          <p:cNvPr id="28" name="tag-bg-9-No lane batch was run">
            <a:extLst xmlns:a="http://schemas.openxmlformats.org/drawingml/2006/main">
              <a:ext uri="{FF2B5EF4-FFF2-40B4-BE49-F238E27FC236}">
                <a16:creationId xmlns:a16="http://schemas.microsoft.com/office/drawing/2014/main" id="{7A691A82-494E-45B6-AE08-961ABD18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14650"/>
            <a:ext cx="2647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DEA"/>
          </a:solidFill>
          <a:ln xmlns:a="http://schemas.openxmlformats.org/drawingml/2006/main" w="0">
            <a:solidFill>
              <a:srgbClr val="DCEDEA"/>
            </a:solidFill>
            <a:prstDash val="solid"/>
          </a:ln>
        </p:spPr>
      </p:sp>
      <p:sp>
        <p:nvSpPr>
          <p:cNvPr id="29" name="tag-text-9-No lane batch was run">
            <a:extLst xmlns:a="http://schemas.openxmlformats.org/drawingml/2006/main">
              <a:ext uri="{FF2B5EF4-FFF2-40B4-BE49-F238E27FC236}">
                <a16:creationId xmlns:a16="http://schemas.microsoft.com/office/drawing/2014/main" id="{E4FDBAE8-0B4C-45BA-A6E0-2AB0AC48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52750"/>
            <a:ext cx="2457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0D7C79"/>
                </a:solidFill>
                <a:latin typeface="Aptos Mono"/>
                <a:ea typeface="Aptos Mono"/>
                <a:cs typeface="Aptos Mono"/>
              </a:rPr>
              <a:t>No lane batch was run</a:t>
            </a:r>
          </a:p>
        </p:txBody>
      </p:sp>
      <p:sp>
        <p:nvSpPr>
          <p:cNvPr id="30" name="tag-bg-9-Manual QA not performed">
            <a:extLst xmlns:a="http://schemas.openxmlformats.org/drawingml/2006/main">
              <a:ext uri="{FF2B5EF4-FFF2-40B4-BE49-F238E27FC236}">
                <a16:creationId xmlns:a16="http://schemas.microsoft.com/office/drawing/2014/main" id="{E774515D-47F0-458B-8F6D-F54AE598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52800"/>
            <a:ext cx="3028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2C7"/>
          </a:solidFill>
          <a:ln xmlns:a="http://schemas.openxmlformats.org/drawingml/2006/main" w="0">
            <a:solidFill>
              <a:srgbClr val="F1E2C7"/>
            </a:solidFill>
            <a:prstDash val="solid"/>
          </a:ln>
        </p:spPr>
      </p:sp>
      <p:sp>
        <p:nvSpPr>
          <p:cNvPr id="31" name="tag-text-9-Manual QA not performed">
            <a:extLst xmlns:a="http://schemas.openxmlformats.org/drawingml/2006/main">
              <a:ext uri="{FF2B5EF4-FFF2-40B4-BE49-F238E27FC236}">
                <a16:creationId xmlns:a16="http://schemas.microsoft.com/office/drawing/2014/main" id="{3EE43DA5-4523-4A97-94B4-70959CC7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90900"/>
            <a:ext cx="2838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C98A17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C98A17"/>
                </a:solidFill>
                <a:latin typeface="Aptos Mono"/>
                <a:ea typeface="Aptos Mono"/>
                <a:cs typeface="Aptos Mono"/>
              </a:rPr>
              <a:t>Manual QA not performed</a:t>
            </a:r>
          </a:p>
        </p:txBody>
      </p:sp>
      <p:sp>
        <p:nvSpPr>
          <p:cNvPr id="32" name="tag-bg-9-Release trust fails closed">
            <a:extLst xmlns:a="http://schemas.openxmlformats.org/drawingml/2006/main">
              <a:ext uri="{FF2B5EF4-FFF2-40B4-BE49-F238E27FC236}">
                <a16:creationId xmlns:a16="http://schemas.microsoft.com/office/drawing/2014/main" id="{D4F06758-2861-4114-BD9C-D78277E6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790950"/>
            <a:ext cx="3181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D5CF"/>
          </a:solidFill>
          <a:ln xmlns:a="http://schemas.openxmlformats.org/drawingml/2006/main" w="0">
            <a:solidFill>
              <a:srgbClr val="ECD5CF"/>
            </a:solidFill>
            <a:prstDash val="solid"/>
          </a:ln>
        </p:spPr>
      </p:sp>
      <p:sp>
        <p:nvSpPr>
          <p:cNvPr id="33" name="tag-text-9-Release trust fails closed">
            <a:extLst xmlns:a="http://schemas.openxmlformats.org/drawingml/2006/main">
              <a:ext uri="{FF2B5EF4-FFF2-40B4-BE49-F238E27FC236}">
                <a16:creationId xmlns:a16="http://schemas.microsoft.com/office/drawing/2014/main" id="{061A7C87-6A05-443D-B574-39C9003E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29050"/>
            <a:ext cx="2990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40" b="1">
                <a:solidFill>
                  <a:srgbClr val="B03A2E"/>
                </a:solidFill>
                <a:latin typeface="Aptos Mono"/>
                <a:ea typeface="Aptos Mono"/>
                <a:cs typeface="Aptos Mono"/>
              </a:defRPr>
            </a:pPr>
            <a:r>
              <a:rPr sz="840" b="1">
                <a:solidFill>
                  <a:srgbClr val="B03A2E"/>
                </a:solidFill>
                <a:latin typeface="Aptos Mono"/>
                <a:ea typeface="Aptos Mono"/>
                <a:cs typeface="Aptos Mono"/>
              </a:rPr>
              <a:t>Release trust fails closed</a:t>
            </a:r>
          </a:p>
        </p:txBody>
      </p:sp>
      <p:sp>
        <p:nvSpPr>
          <p:cNvPr id="34" name="known-doc-drift-box">
            <a:extLst xmlns:a="http://schemas.openxmlformats.org/drawingml/2006/main">
              <a:ext uri="{FF2B5EF4-FFF2-40B4-BE49-F238E27FC236}">
                <a16:creationId xmlns:a16="http://schemas.microsoft.com/office/drawing/2014/main" id="{A1D0A64D-D64A-464B-95F7-8D11A107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05300"/>
            <a:ext cx="3905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8DF"/>
          </a:solidFill>
          <a:ln xmlns:a="http://schemas.openxmlformats.org/drawingml/2006/main" w="9525">
            <a:solidFill>
              <a:srgbClr val="C98A17"/>
            </a:solidFill>
            <a:prstDash val="solid"/>
          </a:ln>
        </p:spPr>
      </p:sp>
      <p:sp>
        <p:nvSpPr>
          <p:cNvPr id="35" name="support-9">
            <a:extLst xmlns:a="http://schemas.openxmlformats.org/drawingml/2006/main">
              <a:ext uri="{FF2B5EF4-FFF2-40B4-BE49-F238E27FC236}">
                <a16:creationId xmlns:a16="http://schemas.microsoft.com/office/drawing/2014/main" id="{236B6314-D2A1-4843-8BC4-692D2102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958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 drift resolved: employer overview and system architecture now use 1470 word rows. README remains the single orientation snapshot.</a:t>
            </a:r>
          </a:p>
        </p:txBody>
      </p:sp>
      <p:sp>
        <p:nvSpPr>
          <p:cNvPr id="36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89F258E2-9736-45A0-9AEE-4F79D52B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F"/>
          </a:solidFill>
          <a:ln xmlns:a="http://schemas.openxmlformats.org/drawingml/2006/main" w="0">
            <a:solidFill>
              <a:srgbClr val="CBD5CF"/>
            </a:solidFill>
            <a:prstDash val="solid"/>
          </a:ln>
        </p:spPr>
      </p:sp>
      <p:sp>
        <p:nvSpPr>
          <p:cNvPr id="37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74707B85-0F6A-46C0-B1E0-60F56160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23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72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Sources: live commands in source-notes.txt; main baseline 645f49fb docs: add reviewer packets and command cleanup.</a:t>
            </a:r>
          </a:p>
        </p:txBody>
      </p:sp>
      <p:sp>
        <p:nvSpPr>
          <p:cNvPr id="38" name="page-marker-9">
            <a:extLst xmlns:a="http://schemas.openxmlformats.org/drawingml/2006/main">
              <a:ext uri="{FF2B5EF4-FFF2-40B4-BE49-F238E27FC236}">
                <a16:creationId xmlns:a16="http://schemas.microsoft.com/office/drawing/2014/main" id="{A0E9E935-8A49-4DBA-96F3-DD41454A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472936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2026-06-11T16:59:17.2490000Z</dcterms:created>
  <dcterms:modified xsi:type="dcterms:W3CDTF">2026-06-11T16:59:17.2490000Z</dcterms:modified>
</coreProperties>
</file>