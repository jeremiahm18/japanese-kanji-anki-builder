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e27b4309484215" /><Relationship Type="http://schemas.openxmlformats.org/officeDocument/2006/relationships/extended-properties" Target="/docProps/app.xml" Id="R587ea1bb7a48413b" /><Relationship Type="http://schemas.openxmlformats.org/officeDocument/2006/relationships/officeDocument" Target="/ppt/presentation.xml" Id="R06bdf124e55045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4365c8d9d4261"/>
  </p:sldMasterIdLst>
  <p:notesMasterIdLst>
    <p:notesMasterId xmlns:r="http://schemas.openxmlformats.org/officeDocument/2006/relationships" r:id="R961bb39b842c4a6f"/>
  </p:notesMasterIdLst>
  <p:sldIdLst>
    <p:sldId xmlns:r="http://schemas.openxmlformats.org/officeDocument/2006/relationships" id="256" r:id="Rbaba2da66913421b"/>
    <p:sldId xmlns:r="http://schemas.openxmlformats.org/officeDocument/2006/relationships" id="257" r:id="R8c65de3f77524311"/>
    <p:sldId xmlns:r="http://schemas.openxmlformats.org/officeDocument/2006/relationships" id="258" r:id="R8c66689b2b19446d"/>
    <p:sldId xmlns:r="http://schemas.openxmlformats.org/officeDocument/2006/relationships" id="259" r:id="R6b83db4d5a2c4e13"/>
    <p:sldId xmlns:r="http://schemas.openxmlformats.org/officeDocument/2006/relationships" id="260" r:id="R176523d1c585446f"/>
    <p:sldId xmlns:r="http://schemas.openxmlformats.org/officeDocument/2006/relationships" id="261" r:id="Ra7cbe377fe364a27"/>
    <p:sldId xmlns:r="http://schemas.openxmlformats.org/officeDocument/2006/relationships" id="262" r:id="Rac6fc129a6e94232"/>
    <p:sldId xmlns:r="http://schemas.openxmlformats.org/officeDocument/2006/relationships" id="263" r:id="Rf69d90b8226144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d9ca2a4ae43d1" /><Relationship Type="http://schemas.openxmlformats.org/officeDocument/2006/relationships/slideMaster" Target="/ppt/slideMasters/slideMaster1.xml" Id="R0a14365c8d9d4261" /><Relationship Type="http://schemas.openxmlformats.org/officeDocument/2006/relationships/notesMaster" Target="/ppt/notesMasters/notesMaster1.xml" Id="R961bb39b842c4a6f" /><Relationship Type="http://schemas.openxmlformats.org/officeDocument/2006/relationships/presProps" Target="/ppt/presProps.xml" Id="Ra7cee198619d4ede" /><Relationship Type="http://schemas.openxmlformats.org/officeDocument/2006/relationships/viewProps" Target="/ppt/viewProps.xml" Id="R635678bf3559404b" /><Relationship Type="http://schemas.openxmlformats.org/officeDocument/2006/relationships/tableStyles" Target="/ppt/tableStyles.xml" Id="Re8f4b42b2a634655" /><Relationship Type="http://schemas.openxmlformats.org/officeDocument/2006/relationships/slide" Target="/ppt/slides/slide1.xml" Id="Rbaba2da66913421b" /><Relationship Type="http://schemas.openxmlformats.org/officeDocument/2006/relationships/slide" Target="/ppt/slides/slide2.xml" Id="R8c65de3f77524311" /><Relationship Type="http://schemas.openxmlformats.org/officeDocument/2006/relationships/slide" Target="/ppt/slides/slide3.xml" Id="R8c66689b2b19446d" /><Relationship Type="http://schemas.openxmlformats.org/officeDocument/2006/relationships/slide" Target="/ppt/slides/slide4.xml" Id="R6b83db4d5a2c4e13" /><Relationship Type="http://schemas.openxmlformats.org/officeDocument/2006/relationships/slide" Target="/ppt/slides/slide5.xml" Id="R176523d1c585446f" /><Relationship Type="http://schemas.openxmlformats.org/officeDocument/2006/relationships/slide" Target="/ppt/slides/slide6.xml" Id="Ra7cbe377fe364a27" /><Relationship Type="http://schemas.openxmlformats.org/officeDocument/2006/relationships/slide" Target="/ppt/slides/slide7.xml" Id="Rac6fc129a6e94232" /><Relationship Type="http://schemas.openxmlformats.org/officeDocument/2006/relationships/slide" Target="/ppt/slides/slide8.xml" Id="Rf69d90b82261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03f523b9634a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924ceb3f464259" /><Relationship Type="http://schemas.openxmlformats.org/officeDocument/2006/relationships/notesMaster" Target="/ppt/notesMasters/notesMaster1.xml" Id="R68a483e67a8b43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c2079266904d4b" /><Relationship Type="http://schemas.openxmlformats.org/officeDocument/2006/relationships/notesMaster" Target="/ppt/notesMasters/notesMaster1.xml" Id="R62877321e7ad4d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20b17f28d64812" /><Relationship Type="http://schemas.openxmlformats.org/officeDocument/2006/relationships/notesMaster" Target="/ppt/notesMasters/notesMaster1.xml" Id="R56630087243f46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91cb4569124299" /><Relationship Type="http://schemas.openxmlformats.org/officeDocument/2006/relationships/notesMaster" Target="/ppt/notesMasters/notesMaster1.xml" Id="R18fe914fe9324a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5b741911a8427a" /><Relationship Type="http://schemas.openxmlformats.org/officeDocument/2006/relationships/notesMaster" Target="/ppt/notesMasters/notesMaster1.xml" Id="Rdfe46a76b2b8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8dacd635774a11" /><Relationship Type="http://schemas.openxmlformats.org/officeDocument/2006/relationships/notesMaster" Target="/ppt/notesMasters/notesMaster1.xml" Id="Rd7db4abc72cb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cd80481f84188" /><Relationship Type="http://schemas.openxmlformats.org/officeDocument/2006/relationships/notesMaster" Target="/ppt/notesMasters/notesMaster1.xml" Id="Ra266b7d4323f49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ff0654db6340cb" /><Relationship Type="http://schemas.openxmlformats.org/officeDocument/2006/relationships/notesMaster" Target="/ppt/notesMasters/notesMaster1.xml" Id="R25862b0d76b146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66a915be444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73245f69f64bf6" /><Relationship Type="http://schemas.openxmlformats.org/officeDocument/2006/relationships/slideLayout" Target="/ppt/slideLayouts/slideLayout1.xml" Id="R98f74db5d3c140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f74db5d3c140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7c0c80d784cc2" /><Relationship Type="http://schemas.openxmlformats.org/officeDocument/2006/relationships/notesSlide" Target="/ppt/notesSlides/notesSlide1.xml" Id="R0311ff3ee0c743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d9e25768b49b3" /><Relationship Type="http://schemas.openxmlformats.org/officeDocument/2006/relationships/notesSlide" Target="/ppt/notesSlides/notesSlide2.xml" Id="R9696f736239245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52c7ed19d47d4" /><Relationship Type="http://schemas.openxmlformats.org/officeDocument/2006/relationships/notesSlide" Target="/ppt/notesSlides/notesSlide3.xml" Id="R3689c2b7a0ac41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7c4891c7b48f5" /><Relationship Type="http://schemas.openxmlformats.org/officeDocument/2006/relationships/notesSlide" Target="/ppt/notesSlides/notesSlide4.xml" Id="Rc014cc50375e4e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3cba65a8449f1" /><Relationship Type="http://schemas.openxmlformats.org/officeDocument/2006/relationships/notesSlide" Target="/ppt/notesSlides/notesSlide5.xml" Id="R6ae158c9edc540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d2afea380424c" /><Relationship Type="http://schemas.openxmlformats.org/officeDocument/2006/relationships/notesSlide" Target="/ppt/notesSlides/notesSlide6.xml" Id="Rff72f2857f6d40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b8e7e7044426c" /><Relationship Type="http://schemas.openxmlformats.org/officeDocument/2006/relationships/notesSlide" Target="/ppt/notesSlides/notesSlide7.xml" Id="R80c59fed634b45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f5244bcf94aa8" /><Relationship Type="http://schemas.openxmlformats.org/officeDocument/2006/relationships/notesSlide" Target="/ppt/notesSlides/notesSlide8.xml" Id="R3f7d450aad8e498d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g-1">
            <a:extLst>
              <a:ext uri="{FF2B5EF4-FFF2-40B4-BE49-F238E27FC236}">
                <ns2:creationId id="{C7486E01-FC73-4AAD-BB47-020C673DD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1">
            <a:extLst>
              <a:ext uri="{FF2B5EF4-FFF2-40B4-BE49-F238E27FC236}">
                <ns2:creationId id="{C7F9910A-D375-47CB-905B-939E1B09F45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09550" cy="38100"/>
          </a:xfrm>
          <a:prstGeom prst="rect">
            <a:avLst/>
          </a:prstGeom>
          <a:solidFill>
            <a:srgbClr val="007F7A"/>
          </a:solidFill>
          <a:ln w="0">
            <a:solidFill>
              <a:srgbClr val="007F7A"/>
            </a:solidFill>
            <a:prstDash val="solid"/>
          </a:ln>
        </p:spPr>
      </p:sp>
      <p:sp>
        <p:nvSpPr>
          <p:cNvPr id="3" name="section-1">
            <a:extLst>
              <a:ext uri="{FF2B5EF4-FFF2-40B4-BE49-F238E27FC236}">
                <ns2:creationId id="{EACC2F68-E2B6-4BC5-B08B-10F73A721965}"/>
              </a:ext>
            </a:extLst>
          </p:cNvPr>
          <p:cNvSpPr>
            <a:spLocks noGrp="1"/>
          </p:cNvSpPr>
          <p:nvPr/>
        </p:nvSpPr>
        <p:spPr>
          <a:xfrm>
            <a:off x="933450" y="428625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F7A"/>
                </a:solidFill>
                <a:latin typeface="Aptos"/>
                <a:ea typeface="Aptos"/>
                <a:cs typeface="Aptos"/>
              </a:rPr>
              <a:t>WHAT THIS IS</a:t>
            </a:r>
          </a:p>
        </p:txBody>
      </p:sp>
      <p:sp>
        <p:nvSpPr>
          <p:cNvPr id="4" name="rule-1">
            <a:extLst>
              <a:ext uri="{FF2B5EF4-FFF2-40B4-BE49-F238E27FC236}">
                <ns2:creationId id="{D1633F0C-641F-4FD0-A1B4-2CB6306EBC1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886950" cy="9525"/>
          </a:xfrm>
          <a:prstGeom prst="rect">
            <a:avLst/>
          </a:prstGeom>
          <a:solidFill>
            <a:srgbClr val="DBE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age-1">
            <a:extLst>
              <a:ext uri="{FF2B5EF4-FFF2-40B4-BE49-F238E27FC236}">
                <ns2:creationId id="{CF214AA1-BBE7-43C7-9AA4-BC5F2C00DE3F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title-Japanese Kanji Builder">
            <a:extLst>
              <a:ext uri="{FF2B5EF4-FFF2-40B4-BE49-F238E27FC236}">
                <ns2:creationId id="{505B2FE9-7862-42A2-9623-E109C5BFCB1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858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Japanese Kanji Builder</a:t>
            </a:r>
          </a:p>
        </p:txBody>
      </p:sp>
      <p:sp>
        <p:nvSpPr>
          <p:cNvPr id="7" name="sub-A quality-control system t">
            <a:extLst>
              <a:ext uri="{FF2B5EF4-FFF2-40B4-BE49-F238E27FC236}">
                <ns2:creationId id="{915CAF59-D65C-4EA4-9C06-F8DDD44E294D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8572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 quality-control system that turns curated Japanese learning data into checked flashcards for Anki, the spaced-repetition app.</a:t>
            </a:r>
          </a:p>
        </p:txBody>
      </p:sp>
      <p:sp>
        <p:nvSpPr>
          <p:cNvPr id="8" name="card-Learning data">
            <a:extLst>
              <a:ext uri="{FF2B5EF4-FFF2-40B4-BE49-F238E27FC236}">
                <ns2:creationId id="{0D78A0A2-99DD-46FC-84B5-D8B273A5B93A}"/>
              </a:ext>
            </a:extLst>
          </p:cNvPr>
          <p:cNvSpPr>
            <a:spLocks noGrp="1"/>
          </p:cNvSpPr>
          <p:nvPr/>
        </p:nvSpPr>
        <p:spPr>
          <a:xfrm>
            <a:off x="647700" y="2705100"/>
            <a:ext cx="2571750" cy="2171700"/>
          </a:xfrm>
          <a:prstGeom prst="rect">
            <a:avLst/>
          </a:prstGeom>
          <a:solidFill>
            <a:srgbClr val="FFFFFF"/>
          </a:solidFill>
          <a:ln w="13335">
            <a:solidFill>
              <a:srgbClr val="D79516"/>
            </a:solidFill>
            <a:prstDash val="solid"/>
          </a:ln>
        </p:spPr>
      </p:sp>
      <p:sp>
        <p:nvSpPr>
          <p:cNvPr id="9" name="card-accent-Learning data">
            <a:extLst>
              <a:ext uri="{FF2B5EF4-FFF2-40B4-BE49-F238E27FC236}">
                <ns2:creationId id="{D677826E-D1E9-49D1-B43D-DA58573C205C}"/>
              </a:ext>
            </a:extLst>
          </p:cNvPr>
          <p:cNvSpPr>
            <a:spLocks noGrp="1"/>
          </p:cNvSpPr>
          <p:nvPr/>
        </p:nvSpPr>
        <p:spPr>
          <a:xfrm>
            <a:off x="647700" y="2705100"/>
            <a:ext cx="57150" cy="2171700"/>
          </a:xfrm>
          <a:prstGeom prst="rect">
            <a:avLst/>
          </a:prstGeom>
          <a:solidFill>
            <a:srgbClr val="D79516"/>
          </a:solidFill>
          <a:ln w="0">
            <a:solidFill>
              <a:srgbClr val="D79516"/>
            </a:solidFill>
            <a:prstDash val="solid"/>
          </a:ln>
        </p:spPr>
      </p:sp>
      <p:sp>
        <p:nvSpPr>
          <p:cNvPr id="10" name="card-label-Learning data">
            <a:extLst>
              <a:ext uri="{FF2B5EF4-FFF2-40B4-BE49-F238E27FC236}">
                <ns2:creationId id="{0656088D-69DA-4929-B2F2-E06E2674F215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7951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9516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11" name="card-title-Learning data">
            <a:extLst>
              <a:ext uri="{FF2B5EF4-FFF2-40B4-BE49-F238E27FC236}">
                <ns2:creationId id="{32F7344F-9131-4FDC-AB6F-331804F6BB0D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Learning data</a:t>
            </a:r>
          </a:p>
        </p:txBody>
      </p:sp>
      <p:sp>
        <p:nvSpPr>
          <p:cNvPr id="12" name="card-body-Learning data">
            <a:extLst>
              <a:ext uri="{FF2B5EF4-FFF2-40B4-BE49-F238E27FC236}">
                <ns2:creationId id="{4DE6B463-1C9E-41D9-85E6-25215DFEA03A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21907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JLPT level contracts, curated kanji and vocabulary entries, readings, meanings, examples, audio manifests, stroke-order media, pitch data, and source evidence.</a:t>
            </a:r>
          </a:p>
        </p:txBody>
      </p:sp>
      <p:sp>
        <p:nvSpPr>
          <p:cNvPr id="13" name="card-Governed build pipeline">
            <a:extLst>
              <a:ext uri="{FF2B5EF4-FFF2-40B4-BE49-F238E27FC236}">
                <ns2:creationId id="{78274AD5-5C92-4DCF-9F78-FBEFB349019C}"/>
              </a:ext>
            </a:extLst>
          </p:cNvPr>
          <p:cNvSpPr>
            <a:spLocks noGrp="1"/>
          </p:cNvSpPr>
          <p:nvPr/>
        </p:nvSpPr>
        <p:spPr>
          <a:xfrm>
            <a:off x="3771900" y="2476500"/>
            <a:ext cx="3143250" cy="2628900"/>
          </a:xfrm>
          <a:prstGeom prst="rect">
            <a:avLst/>
          </a:prstGeom>
          <a:solidFill>
            <a:srgbClr val="FFFFFF"/>
          </a:solidFill>
          <a:ln w="13335">
            <a:solidFill>
              <a:srgbClr val="3A6F9D"/>
            </a:solidFill>
            <a:prstDash val="solid"/>
          </a:ln>
        </p:spPr>
      </p:sp>
      <p:sp>
        <p:nvSpPr>
          <p:cNvPr id="14" name="card-accent-Governed build pipeline">
            <a:extLst>
              <a:ext uri="{FF2B5EF4-FFF2-40B4-BE49-F238E27FC236}">
                <ns2:creationId id="{2482674A-0BB7-4656-8850-EF4B58C0E760}"/>
              </a:ext>
            </a:extLst>
          </p:cNvPr>
          <p:cNvSpPr>
            <a:spLocks noGrp="1"/>
          </p:cNvSpPr>
          <p:nvPr/>
        </p:nvSpPr>
        <p:spPr>
          <a:xfrm>
            <a:off x="3771900" y="2476500"/>
            <a:ext cx="57150" cy="2628900"/>
          </a:xfrm>
          <a:prstGeom prst="rect">
            <a:avLst/>
          </a:prstGeom>
          <a:solidFill>
            <a:srgbClr val="3A6F9D"/>
          </a:solidFill>
          <a:ln w="0">
            <a:solidFill>
              <a:srgbClr val="3A6F9D"/>
            </a:solidFill>
            <a:prstDash val="solid"/>
          </a:ln>
        </p:spPr>
      </p:sp>
      <p:sp>
        <p:nvSpPr>
          <p:cNvPr id="15" name="card-label-Governed build pipeline">
            <a:extLst>
              <a:ext uri="{FF2B5EF4-FFF2-40B4-BE49-F238E27FC236}">
                <ns2:creationId id="{E5880F16-FDA6-4AD6-8A69-360FF074DEF2}"/>
              </a:ext>
            </a:extLst>
          </p:cNvPr>
          <p:cNvSpPr>
            <a:spLocks noGrp="1"/>
          </p:cNvSpPr>
          <p:nvPr/>
        </p:nvSpPr>
        <p:spPr>
          <a:xfrm>
            <a:off x="3962400" y="264795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A6F9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A6F9D"/>
                </a:solidFill>
                <a:latin typeface="Aptos"/>
                <a:ea typeface="Aptos"/>
                <a:cs typeface="Aptos"/>
              </a:rPr>
              <a:t>PROGRAM</a:t>
            </a:r>
          </a:p>
        </p:txBody>
      </p:sp>
      <p:sp>
        <p:nvSpPr>
          <p:cNvPr id="16" name="card-title-Governed build pipeline">
            <a:extLst>
              <a:ext uri="{FF2B5EF4-FFF2-40B4-BE49-F238E27FC236}">
                <ns2:creationId id="{320A16E4-851F-44B1-88A3-7B8999752847}"/>
              </a:ext>
            </a:extLst>
          </p:cNvPr>
          <p:cNvSpPr>
            <a:spLocks noGrp="1"/>
          </p:cNvSpPr>
          <p:nvPr/>
        </p:nvSpPr>
        <p:spPr>
          <a:xfrm>
            <a:off x="3962400" y="2895600"/>
            <a:ext cx="2762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Governed build pipeline</a:t>
            </a:r>
          </a:p>
        </p:txBody>
      </p:sp>
      <p:sp>
        <p:nvSpPr>
          <p:cNvPr id="17" name="card-body-Governed build pipeline">
            <a:extLst>
              <a:ext uri="{FF2B5EF4-FFF2-40B4-BE49-F238E27FC236}">
                <ns2:creationId id="{77BA29CF-C025-403B-AD40-1236C8CD2394}"/>
              </a:ext>
            </a:extLst>
          </p:cNvPr>
          <p:cNvSpPr>
            <a:spLocks noGrp="1"/>
          </p:cNvSpPr>
          <p:nvPr/>
        </p:nvSpPr>
        <p:spPr>
          <a:xfrm>
            <a:off x="3962400" y="3257550"/>
            <a:ext cx="27622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Loads and normalizes the data, checks exact card identity, validates required fields, builds deterministic exports, and blocks claims that do not have the right evidence.</a:t>
            </a:r>
          </a:p>
        </p:txBody>
      </p:sp>
      <p:sp>
        <p:nvSpPr>
          <p:cNvPr id="18" name="outputs-heading">
            <a:extLst>
              <a:ext uri="{FF2B5EF4-FFF2-40B4-BE49-F238E27FC236}">
                <ns2:creationId id="{1B0089D3-F142-4B80-9669-BA2A14241B5F}"/>
              </a:ext>
            </a:extLst>
          </p:cNvPr>
          <p:cNvSpPr>
            <a:spLocks noGrp="1"/>
          </p:cNvSpPr>
          <p:nvPr/>
        </p:nvSpPr>
        <p:spPr>
          <a:xfrm>
            <a:off x="7677150" y="247650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9" name="study-Kanji deck">
            <a:extLst>
              <a:ext uri="{FF2B5EF4-FFF2-40B4-BE49-F238E27FC236}">
                <ns2:creationId id="{A79F6691-82D7-4FD4-9AD5-89285B6E522A}"/>
              </a:ext>
            </a:extLst>
          </p:cNvPr>
          <p:cNvSpPr>
            <a:spLocks noGrp="1"/>
          </p:cNvSpPr>
          <p:nvPr/>
        </p:nvSpPr>
        <p:spPr>
          <a:xfrm>
            <a:off x="7658100" y="2914650"/>
            <a:ext cx="1619250" cy="22669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7F7A"/>
            </a:solidFill>
            <a:prstDash val="solid"/>
          </a:ln>
        </p:spPr>
      </p:sp>
      <p:sp>
        <p:nvSpPr>
          <p:cNvPr id="20" name="study-label-Kanji deck">
            <a:extLst>
              <a:ext uri="{FF2B5EF4-FFF2-40B4-BE49-F238E27FC236}">
                <ns2:creationId id="{43D9A1B6-0A48-46C1-B38B-1F9775A1244B}"/>
              </a:ext>
            </a:extLst>
          </p:cNvPr>
          <p:cNvSpPr>
            <a:spLocks noGrp="1"/>
          </p:cNvSpPr>
          <p:nvPr/>
        </p:nvSpPr>
        <p:spPr>
          <a:xfrm>
            <a:off x="7829550" y="30670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7F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F7A"/>
                </a:solidFill>
                <a:latin typeface="Aptos"/>
                <a:ea typeface="Aptos"/>
                <a:cs typeface="Aptos"/>
              </a:rPr>
              <a:t>KANJI DECK</a:t>
            </a:r>
          </a:p>
        </p:txBody>
      </p:sp>
      <p:sp>
        <p:nvSpPr>
          <p:cNvPr id="21" name="study-jp-Kanji deck">
            <a:extLst>
              <a:ext uri="{FF2B5EF4-FFF2-40B4-BE49-F238E27FC236}">
                <ns2:creationId id="{F5CE6D82-9D90-4AF1-9F0D-7C79BE355BDD}"/>
              </a:ext>
            </a:extLst>
          </p:cNvPr>
          <p:cNvSpPr>
            <a:spLocks noGrp="1"/>
          </p:cNvSpPr>
          <p:nvPr/>
        </p:nvSpPr>
        <p:spPr>
          <a:xfrm>
            <a:off x="7829550" y="3371850"/>
            <a:ext cx="1276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450" b="1">
                <a:solidFill>
                  <a:srgbClr val="17212B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7212B"/>
                </a:solidFill>
                <a:latin typeface="Yu Gothic"/>
                <a:ea typeface="Yu Gothic"/>
                <a:cs typeface="Yu Gothic"/>
              </a:rPr>
              <a:t>日</a:t>
            </a:r>
          </a:p>
        </p:txBody>
      </p:sp>
      <p:sp>
        <p:nvSpPr>
          <p:cNvPr id="22" name="study-line-Kanji deck-444">
            <a:extLst>
              <a:ext uri="{FF2B5EF4-FFF2-40B4-BE49-F238E27FC236}">
                <ns2:creationId id="{BE520A3A-6FEE-4160-935F-7D544121DABD}"/>
              </a:ext>
            </a:extLst>
          </p:cNvPr>
          <p:cNvSpPr>
            <a:spLocks noGrp="1"/>
          </p:cNvSpPr>
          <p:nvPr/>
        </p:nvSpPr>
        <p:spPr>
          <a:xfrm>
            <a:off x="7886700" y="42291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one character</a:t>
            </a:r>
          </a:p>
        </p:txBody>
      </p:sp>
      <p:sp>
        <p:nvSpPr>
          <p:cNvPr id="23" name="study-line-Kanji deck-474">
            <a:extLst>
              <a:ext uri="{FF2B5EF4-FFF2-40B4-BE49-F238E27FC236}">
                <ns2:creationId id="{EF997831-C808-480E-BBC2-0DA7865C1FD2}"/>
              </a:ext>
            </a:extLst>
          </p:cNvPr>
          <p:cNvSpPr>
            <a:spLocks noGrp="1"/>
          </p:cNvSpPr>
          <p:nvPr/>
        </p:nvSpPr>
        <p:spPr>
          <a:xfrm>
            <a:off x="7886700" y="45148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reading + meaning</a:t>
            </a:r>
          </a:p>
        </p:txBody>
      </p:sp>
      <p:sp>
        <p:nvSpPr>
          <p:cNvPr id="24" name="study-line-Kanji deck-504">
            <a:extLst>
              <a:ext uri="{FF2B5EF4-FFF2-40B4-BE49-F238E27FC236}">
                <ns2:creationId id="{61F5D4C7-9B12-4504-9748-382086F8911B}"/>
              </a:ext>
            </a:extLst>
          </p:cNvPr>
          <p:cNvSpPr>
            <a:spLocks noGrp="1"/>
          </p:cNvSpPr>
          <p:nvPr/>
        </p:nvSpPr>
        <p:spPr>
          <a:xfrm>
            <a:off x="7886700" y="48006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audio + stroke</a:t>
            </a:r>
          </a:p>
        </p:txBody>
      </p:sp>
      <p:sp>
        <p:nvSpPr>
          <p:cNvPr id="25" name="study-Word deck">
            <a:extLst>
              <a:ext uri="{FF2B5EF4-FFF2-40B4-BE49-F238E27FC236}">
                <ns2:creationId id="{920B6004-C248-44FE-A5A1-9FE01B010A43}"/>
              </a:ext>
            </a:extLst>
          </p:cNvPr>
          <p:cNvSpPr>
            <a:spLocks noGrp="1"/>
          </p:cNvSpPr>
          <p:nvPr/>
        </p:nvSpPr>
        <p:spPr>
          <a:xfrm>
            <a:off x="9582150" y="2914650"/>
            <a:ext cx="1866900" cy="2266950"/>
          </a:xfrm>
          <a:prstGeom prst="rect">
            <a:avLst/>
          </a:prstGeom>
          <a:solidFill>
            <a:srgbClr val="FFFFFF"/>
          </a:solidFill>
          <a:ln w="13335">
            <a:solidFill>
              <a:srgbClr val="70507A"/>
            </a:solidFill>
            <a:prstDash val="solid"/>
          </a:ln>
        </p:spPr>
      </p:sp>
      <p:sp>
        <p:nvSpPr>
          <p:cNvPr id="26" name="study-label-Word deck">
            <a:extLst>
              <a:ext uri="{FF2B5EF4-FFF2-40B4-BE49-F238E27FC236}">
                <ns2:creationId id="{C338C6BE-616C-4EAD-AB4B-FA697F04DD44}"/>
              </a:ext>
            </a:extLst>
          </p:cNvPr>
          <p:cNvSpPr>
            <a:spLocks noGrp="1"/>
          </p:cNvSpPr>
          <p:nvPr/>
        </p:nvSpPr>
        <p:spPr>
          <a:xfrm>
            <a:off x="9753600" y="30670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05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0507A"/>
                </a:solidFill>
                <a:latin typeface="Aptos"/>
                <a:ea typeface="Aptos"/>
                <a:cs typeface="Aptos"/>
              </a:rPr>
              <a:t>WORD DECK</a:t>
            </a:r>
          </a:p>
        </p:txBody>
      </p:sp>
      <p:sp>
        <p:nvSpPr>
          <p:cNvPr id="27" name="study-jp-Word deck">
            <a:extLst>
              <a:ext uri="{FF2B5EF4-FFF2-40B4-BE49-F238E27FC236}">
                <ns2:creationId id="{D8625286-12CC-47CD-B80E-B1A9ACFF1228}"/>
              </a:ext>
            </a:extLst>
          </p:cNvPr>
          <p:cNvSpPr>
            <a:spLocks noGrp="1"/>
          </p:cNvSpPr>
          <p:nvPr/>
        </p:nvSpPr>
        <p:spPr>
          <a:xfrm>
            <a:off x="9753600" y="3371850"/>
            <a:ext cx="152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17212B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212B"/>
                </a:solidFill>
                <a:latin typeface="Yu Gothic"/>
                <a:ea typeface="Yu Gothic"/>
                <a:cs typeface="Yu Gothic"/>
              </a:rPr>
              <a:t>学校</a:t>
            </a:r>
          </a:p>
        </p:txBody>
      </p:sp>
      <p:sp>
        <p:nvSpPr>
          <p:cNvPr id="28" name="study-line-Word deck-444">
            <a:extLst>
              <a:ext uri="{FF2B5EF4-FFF2-40B4-BE49-F238E27FC236}">
                <ns2:creationId id="{9D83A282-AD26-4CD8-BEBD-DCF7163BE8B5}"/>
              </a:ext>
            </a:extLst>
          </p:cNvPr>
          <p:cNvSpPr>
            <a:spLocks noGrp="1"/>
          </p:cNvSpPr>
          <p:nvPr/>
        </p:nvSpPr>
        <p:spPr>
          <a:xfrm>
            <a:off x="9810750" y="42291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exact word</a:t>
            </a:r>
          </a:p>
        </p:txBody>
      </p:sp>
      <p:sp>
        <p:nvSpPr>
          <p:cNvPr id="29" name="study-line-Word deck-474">
            <a:extLst>
              <a:ext uri="{FF2B5EF4-FFF2-40B4-BE49-F238E27FC236}">
                <ns2:creationId id="{44459E50-6A8A-4947-884F-2FDCE47B2894}"/>
              </a:ext>
            </a:extLst>
          </p:cNvPr>
          <p:cNvSpPr>
            <a:spLocks noGrp="1"/>
          </p:cNvSpPr>
          <p:nvPr/>
        </p:nvSpPr>
        <p:spPr>
          <a:xfrm>
            <a:off x="9810750" y="451485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がっこう</a:t>
            </a:r>
          </a:p>
        </p:txBody>
      </p:sp>
      <p:sp>
        <p:nvSpPr>
          <p:cNvPr id="30" name="study-line-Word deck-504">
            <a:extLst>
              <a:ext uri="{FF2B5EF4-FFF2-40B4-BE49-F238E27FC236}">
                <ns2:creationId id="{4B5CB9B0-0238-41C7-B7F2-84C4F458C522}"/>
              </a:ext>
            </a:extLst>
          </p:cNvPr>
          <p:cNvSpPr>
            <a:spLocks noGrp="1"/>
          </p:cNvSpPr>
          <p:nvPr/>
        </p:nvSpPr>
        <p:spPr>
          <a:xfrm>
            <a:off x="9810750" y="48006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example + audio</a:t>
            </a:r>
          </a:p>
        </p:txBody>
      </p:sp>
      <p:sp>
        <p:nvSpPr>
          <p:cNvPr id="31" name="arrow-346-380">
            <a:extLst>
              <a:ext uri="{FF2B5EF4-FFF2-40B4-BE49-F238E27FC236}">
                <ns2:creationId id="{3C84AFBC-DC46-4137-8117-89A39927A8AB}"/>
              </a:ext>
            </a:extLst>
          </p:cNvPr>
          <p:cNvSpPr>
            <a:spLocks noGrp="1"/>
          </p:cNvSpPr>
          <p:nvPr/>
        </p:nvSpPr>
        <p:spPr>
          <a:xfrm>
            <a:off x="3295650" y="361950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arrow-736-360">
            <a:extLst>
              <a:ext uri="{FF2B5EF4-FFF2-40B4-BE49-F238E27FC236}">
                <ns2:creationId id="{446A2047-9E40-49A0-A4D6-F3D71AD17BB5}"/>
              </a:ext>
            </a:extLst>
          </p:cNvPr>
          <p:cNvSpPr>
            <a:spLocks noGrp="1"/>
          </p:cNvSpPr>
          <p:nvPr/>
        </p:nvSpPr>
        <p:spPr>
          <a:xfrm>
            <a:off x="7010400" y="342900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arrow-736-438">
            <a:extLst>
              <a:ext uri="{FF2B5EF4-FFF2-40B4-BE49-F238E27FC236}">
                <ns2:creationId id="{14E5ACCD-9D96-4623-B4B3-4A597749E5CD}"/>
              </a:ext>
            </a:extLst>
          </p:cNvPr>
          <p:cNvSpPr>
            <a:spLocks noGrp="1"/>
          </p:cNvSpPr>
          <p:nvPr/>
        </p:nvSpPr>
        <p:spPr>
          <a:xfrm>
            <a:off x="7010400" y="417195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parallel-note">
            <a:extLst>
              <a:ext uri="{FF2B5EF4-FFF2-40B4-BE49-F238E27FC236}">
                <ns2:creationId id="{30434976-861B-4709-BE51-423D02A7AC7F}"/>
              </a:ext>
            </a:extLst>
          </p:cNvPr>
          <p:cNvSpPr>
            <a:spLocks noGrp="1"/>
          </p:cNvSpPr>
          <p:nvPr/>
        </p:nvSpPr>
        <p:spPr>
          <a:xfrm>
            <a:off x="7658100" y="5219700"/>
            <a:ext cx="3733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Kanji and word decks are parallel outputs, not one transforming into the other.</a:t>
            </a:r>
          </a:p>
        </p:txBody>
      </p:sp>
      <p:sp>
        <p:nvSpPr>
          <p:cNvPr id="35" name="pill-No hand-edited deck claims">
            <a:extLst>
              <a:ext uri="{FF2B5EF4-FFF2-40B4-BE49-F238E27FC236}">
                <ns2:creationId id="{EDD4E135-CA07-49E3-95F2-1A52EA419213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2266950" cy="323850"/>
          </a:xfrm>
          <a:prstGeom prst="rect">
            <a:avLst/>
          </a:prstGeom>
          <a:solidFill>
            <a:srgbClr val="F8ECE8"/>
          </a:solidFill>
          <a:ln w="11430">
            <a:solidFill>
              <a:srgbClr val="B63A32"/>
            </a:solidFill>
            <a:prstDash val="solid"/>
          </a:ln>
        </p:spPr>
      </p:sp>
      <p:sp>
        <p:nvSpPr>
          <p:cNvPr id="36" name="pill-text-No hand-edited deck claims">
            <a:extLst>
              <a:ext uri="{FF2B5EF4-FFF2-40B4-BE49-F238E27FC236}">
                <ns2:creationId id="{7D43B640-0F37-458A-9418-0195EB63636D}"/>
              </a:ext>
            </a:extLst>
          </p:cNvPr>
          <p:cNvSpPr>
            <a:spLocks noGrp="1"/>
          </p:cNvSpPr>
          <p:nvPr/>
        </p:nvSpPr>
        <p:spPr>
          <a:xfrm>
            <a:off x="781050" y="5781675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63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63A32"/>
                </a:solidFill>
                <a:latin typeface="Aptos"/>
                <a:ea typeface="Aptos"/>
                <a:cs typeface="Aptos"/>
              </a:rPr>
              <a:t>No hand-edited deck claims</a:t>
            </a:r>
          </a:p>
        </p:txBody>
      </p:sp>
      <p:sp>
        <p:nvSpPr>
          <p:cNvPr id="37" name="pill-Deterministic exports">
            <a:extLst>
              <a:ext uri="{FF2B5EF4-FFF2-40B4-BE49-F238E27FC236}">
                <ns2:creationId id="{27CEE52E-77AE-446A-83FA-4580EE976676}"/>
              </a:ext>
            </a:extLst>
          </p:cNvPr>
          <p:cNvSpPr>
            <a:spLocks noGrp="1"/>
          </p:cNvSpPr>
          <p:nvPr/>
        </p:nvSpPr>
        <p:spPr>
          <a:xfrm>
            <a:off x="3086100" y="5695950"/>
            <a:ext cx="1981200" cy="323850"/>
          </a:xfrm>
          <a:prstGeom prst="rect">
            <a:avLst/>
          </a:prstGeom>
          <a:solidFill>
            <a:srgbClr val="EDF3F8"/>
          </a:solidFill>
          <a:ln w="11430">
            <a:solidFill>
              <a:srgbClr val="3A6F9D"/>
            </a:solidFill>
            <a:prstDash val="solid"/>
          </a:ln>
        </p:spPr>
      </p:sp>
      <p:sp>
        <p:nvSpPr>
          <p:cNvPr id="38" name="pill-text-Deterministic exports">
            <a:extLst>
              <a:ext uri="{FF2B5EF4-FFF2-40B4-BE49-F238E27FC236}">
                <ns2:creationId id="{7E4AA9F4-297A-4ECE-AE46-89C794E4A383}"/>
              </a:ext>
            </a:extLst>
          </p:cNvPr>
          <p:cNvSpPr>
            <a:spLocks noGrp="1"/>
          </p:cNvSpPr>
          <p:nvPr/>
        </p:nvSpPr>
        <p:spPr>
          <a:xfrm>
            <a:off x="3200400" y="5781675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A6F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A6F9D"/>
                </a:solidFill>
                <a:latin typeface="Aptos"/>
                <a:ea typeface="Aptos"/>
                <a:cs typeface="Aptos"/>
              </a:rPr>
              <a:t>Deterministic exports</a:t>
            </a:r>
          </a:p>
        </p:txBody>
      </p:sp>
      <p:sp>
        <p:nvSpPr>
          <p:cNvPr id="39" name="pill-Proof before certification">
            <a:extLst>
              <a:ext uri="{FF2B5EF4-FFF2-40B4-BE49-F238E27FC236}">
                <ns2:creationId id="{69798AC1-62A8-43BC-831C-E463E66B4E7C}"/>
              </a:ext>
            </a:extLst>
          </p:cNvPr>
          <p:cNvSpPr>
            <a:spLocks noGrp="1"/>
          </p:cNvSpPr>
          <p:nvPr/>
        </p:nvSpPr>
        <p:spPr>
          <a:xfrm>
            <a:off x="5219700" y="5695950"/>
            <a:ext cx="2324100" cy="323850"/>
          </a:xfrm>
          <a:prstGeom prst="rect">
            <a:avLst/>
          </a:prstGeom>
          <a:solidFill>
            <a:srgbClr val="EDF6EF"/>
          </a:solidFill>
          <a:ln w="11430">
            <a:solidFill>
              <a:srgbClr val="2F7D52"/>
            </a:solidFill>
            <a:prstDash val="solid"/>
          </a:ln>
        </p:spPr>
      </p:sp>
      <p:sp>
        <p:nvSpPr>
          <p:cNvPr id="40" name="pill-text-Proof before certification">
            <a:extLst>
              <a:ext uri="{FF2B5EF4-FFF2-40B4-BE49-F238E27FC236}">
                <ns2:creationId id="{9A1B9B3C-0736-43C8-A509-9E9F0819336D}"/>
              </a:ext>
            </a:extLst>
          </p:cNvPr>
          <p:cNvSpPr>
            <a:spLocks noGrp="1"/>
          </p:cNvSpPr>
          <p:nvPr/>
        </p:nvSpPr>
        <p:spPr>
          <a:xfrm>
            <a:off x="5334000" y="57816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7D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2"/>
                </a:solidFill>
                <a:latin typeface="Aptos"/>
                <a:ea typeface="Aptos"/>
                <a:cs typeface="Aptos"/>
              </a:rPr>
              <a:t>Proof before certification</a:t>
            </a:r>
          </a:p>
        </p:txBody>
      </p:sp>
      <p:sp>
        <p:nvSpPr>
          <p:cNvPr id="41" name="source-Sources: READM">
            <a:extLst>
              <a:ext uri="{FF2B5EF4-FFF2-40B4-BE49-F238E27FC236}">
                <ns2:creationId id="{50CFFEB7-AB8A-4D49-B663-8C6BBFBEA955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952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D78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7884"/>
                </a:solidFill>
                <a:latin typeface="Aptos"/>
                <a:ea typeface="Aptos"/>
                <a:cs typeface="Aptos"/>
              </a:rPr>
              <a:t>Sources: README.md; docs/deck-model.md; live closeout and proof validation commands.</a:t>
            </a:r>
          </a:p>
        </p:txBody>
      </p:sp>
    </p:spTree>
    <p:extLst>
      <p:ext uri="{BB962C8B-B14F-4D97-AF65-F5344CB8AC3E}">
        <ns3:creationId val="209547071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g-2">
            <a:extLst>
              <a:ext uri="{FF2B5EF4-FFF2-40B4-BE49-F238E27FC236}">
                <ns2:creationId id="{48989CB8-731B-4856-808A-27C8F69AF1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2">
            <a:extLst>
              <a:ext uri="{FF2B5EF4-FFF2-40B4-BE49-F238E27FC236}">
                <ns2:creationId id="{BE44986A-5C5A-46AA-8051-93B073F9B5E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09550" cy="38100"/>
          </a:xfrm>
          <a:prstGeom prst="rect">
            <a:avLst/>
          </a:prstGeom>
          <a:solidFill>
            <a:srgbClr val="D79516"/>
          </a:solidFill>
          <a:ln w="0">
            <a:solidFill>
              <a:srgbClr val="D79516"/>
            </a:solidFill>
            <a:prstDash val="solid"/>
          </a:ln>
        </p:spPr>
      </p:sp>
      <p:sp>
        <p:nvSpPr>
          <p:cNvPr id="3" name="section-2">
            <a:extLst>
              <a:ext uri="{FF2B5EF4-FFF2-40B4-BE49-F238E27FC236}">
                <ns2:creationId id="{89C66D4F-5AFF-4C06-B35E-9B790F6FB5E6}"/>
              </a:ext>
            </a:extLst>
          </p:cNvPr>
          <p:cNvSpPr>
            <a:spLocks noGrp="1"/>
          </p:cNvSpPr>
          <p:nvPr/>
        </p:nvSpPr>
        <p:spPr>
          <a:xfrm>
            <a:off x="933450" y="428625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795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9516"/>
                </a:solidFill>
                <a:latin typeface="Aptos"/>
                <a:ea typeface="Aptos"/>
                <a:cs typeface="Aptos"/>
              </a:rPr>
              <a:t>WHY KANJI CARDS ARE HARD</a:t>
            </a:r>
          </a:p>
        </p:txBody>
      </p:sp>
      <p:sp>
        <p:nvSpPr>
          <p:cNvPr id="4" name="rule-2">
            <a:extLst>
              <a:ext uri="{FF2B5EF4-FFF2-40B4-BE49-F238E27FC236}">
                <ns2:creationId id="{75302A2F-DF9B-486D-807E-5FD51F3F99A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886950" cy="9525"/>
          </a:xfrm>
          <a:prstGeom prst="rect">
            <a:avLst/>
          </a:prstGeom>
          <a:solidFill>
            <a:srgbClr val="DBE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age-2">
            <a:extLst>
              <a:ext uri="{FF2B5EF4-FFF2-40B4-BE49-F238E27FC236}">
                <ns2:creationId id="{AF58498B-7B6F-44DB-B14D-68CBD227837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itle-Kanji are characters, but ">
            <a:extLst>
              <a:ext uri="{FF2B5EF4-FFF2-40B4-BE49-F238E27FC236}">
                <ns2:creationId id="{4CCEE10C-1797-4FFB-AEC6-F9D08BD3AA2C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096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Kanji are characters, but readings are context-sensitive.</a:t>
            </a:r>
          </a:p>
        </p:txBody>
      </p:sp>
      <p:sp>
        <p:nvSpPr>
          <p:cNvPr id="7" name="sub-A beginner sees one symbol">
            <a:extLst>
              <a:ext uri="{FF2B5EF4-FFF2-40B4-BE49-F238E27FC236}">
                <ns2:creationId id="{DCD7EB04-EC4B-4BE2-B813-87B184F882ED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 beginner sees one symbol; the program has to protect the card from pretending that one symbol always has one sound or one use.</a:t>
            </a:r>
          </a:p>
        </p:txBody>
      </p:sp>
      <p:sp>
        <p:nvSpPr>
          <p:cNvPr id="8" name="card-日">
            <a:extLst>
              <a:ext uri="{FF2B5EF4-FFF2-40B4-BE49-F238E27FC236}">
                <ns2:creationId id="{706074F1-5EF9-478A-8C38-CDE24F64D453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3105150" cy="23812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7F7A"/>
            </a:solidFill>
            <a:prstDash val="solid"/>
          </a:ln>
        </p:spPr>
      </p:sp>
      <p:sp>
        <p:nvSpPr>
          <p:cNvPr id="9" name="card-accent-日">
            <a:extLst>
              <a:ext uri="{FF2B5EF4-FFF2-40B4-BE49-F238E27FC236}">
                <ns2:creationId id="{54CC0790-90E7-40CE-A2D5-99FEBD0F4DD1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57150" cy="2381250"/>
          </a:xfrm>
          <a:prstGeom prst="rect">
            <a:avLst/>
          </a:prstGeom>
          <a:solidFill>
            <a:srgbClr val="007F7A"/>
          </a:solidFill>
          <a:ln w="0">
            <a:solidFill>
              <a:srgbClr val="007F7A"/>
            </a:solidFill>
            <a:prstDash val="solid"/>
          </a:ln>
        </p:spPr>
      </p:sp>
      <p:sp>
        <p:nvSpPr>
          <p:cNvPr id="10" name="card-label-日">
            <a:extLst>
              <a:ext uri="{FF2B5EF4-FFF2-40B4-BE49-F238E27FC236}">
                <ns2:creationId id="{C664F72F-6521-4B36-BC11-CF7738FC6665}"/>
              </a:ext>
            </a:extLst>
          </p:cNvPr>
          <p:cNvSpPr>
            <a:spLocks noGrp="1"/>
          </p:cNvSpPr>
          <p:nvPr/>
        </p:nvSpPr>
        <p:spPr>
          <a:xfrm>
            <a:off x="857250" y="29146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7F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F7A"/>
                </a:solidFill>
                <a:latin typeface="Aptos"/>
                <a:ea typeface="Aptos"/>
                <a:cs typeface="Aptos"/>
              </a:rPr>
              <a:t>CHARACTER</a:t>
            </a:r>
          </a:p>
        </p:txBody>
      </p:sp>
      <p:sp>
        <p:nvSpPr>
          <p:cNvPr id="11" name="card-title-日">
            <a:extLst>
              <a:ext uri="{FF2B5EF4-FFF2-40B4-BE49-F238E27FC236}">
                <ns2:creationId id="{DFEB9C32-C3C7-4266-AD7D-27DD84AB189C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2724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日</a:t>
            </a:r>
          </a:p>
        </p:txBody>
      </p:sp>
      <p:sp>
        <p:nvSpPr>
          <p:cNvPr id="12" name="card-body-日">
            <a:extLst>
              <a:ext uri="{FF2B5EF4-FFF2-40B4-BE49-F238E27FC236}">
                <ns2:creationId id="{1389E8B7-541B-4F11-94AE-24043982C23E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7241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 kanji can carry meaning like day, sun, Japan, or counter-for-days. A kanji card teaches the character as the learning target, then uses words and sentences as support.</a:t>
            </a:r>
          </a:p>
        </p:txBody>
      </p:sp>
      <p:sp>
        <p:nvSpPr>
          <p:cNvPr id="13" name="card-Same kanji, different sounds">
            <a:extLst>
              <a:ext uri="{FF2B5EF4-FFF2-40B4-BE49-F238E27FC236}">
                <ns2:creationId id="{4B7CAE2A-49D1-49E3-99C2-2A301E41A2AB}"/>
              </a:ext>
            </a:extLst>
          </p:cNvPr>
          <p:cNvSpPr>
            <a:spLocks noGrp="1"/>
          </p:cNvSpPr>
          <p:nvPr/>
        </p:nvSpPr>
        <p:spPr>
          <a:xfrm>
            <a:off x="4248150" y="2743200"/>
            <a:ext cx="3390900" cy="2381250"/>
          </a:xfrm>
          <a:prstGeom prst="rect">
            <a:avLst/>
          </a:prstGeom>
          <a:solidFill>
            <a:srgbClr val="FFFFFF"/>
          </a:solidFill>
          <a:ln w="13335">
            <a:solidFill>
              <a:srgbClr val="B63A32"/>
            </a:solidFill>
            <a:prstDash val="solid"/>
          </a:ln>
        </p:spPr>
      </p:sp>
      <p:sp>
        <p:nvSpPr>
          <p:cNvPr id="14" name="card-accent-Same kanji, different sounds">
            <a:extLst>
              <a:ext uri="{FF2B5EF4-FFF2-40B4-BE49-F238E27FC236}">
                <ns2:creationId id="{29F7A44B-4B97-4616-BA72-4ADA95132BB6}"/>
              </a:ext>
            </a:extLst>
          </p:cNvPr>
          <p:cNvSpPr>
            <a:spLocks noGrp="1"/>
          </p:cNvSpPr>
          <p:nvPr/>
        </p:nvSpPr>
        <p:spPr>
          <a:xfrm>
            <a:off x="4248150" y="2743200"/>
            <a:ext cx="57150" cy="2381250"/>
          </a:xfrm>
          <a:prstGeom prst="rect">
            <a:avLst/>
          </a:prstGeom>
          <a:solidFill>
            <a:srgbClr val="B63A32"/>
          </a:solidFill>
          <a:ln w="0">
            <a:solidFill>
              <a:srgbClr val="B63A32"/>
            </a:solidFill>
            <a:prstDash val="solid"/>
          </a:ln>
        </p:spPr>
      </p:sp>
      <p:sp>
        <p:nvSpPr>
          <p:cNvPr id="15" name="card-label-Same kanji, different sounds">
            <a:extLst>
              <a:ext uri="{FF2B5EF4-FFF2-40B4-BE49-F238E27FC236}">
                <ns2:creationId id="{A7EB5F63-14B1-4C9D-BC68-E02722972060}"/>
              </a:ext>
            </a:extLst>
          </p:cNvPr>
          <p:cNvSpPr>
            <a:spLocks noGrp="1"/>
          </p:cNvSpPr>
          <p:nvPr/>
        </p:nvSpPr>
        <p:spPr>
          <a:xfrm>
            <a:off x="4438650" y="2914650"/>
            <a:ext cx="3009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63A3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63A32"/>
                </a:solidFill>
                <a:latin typeface="Aptos"/>
                <a:ea typeface="Aptos"/>
                <a:cs typeface="Aptos"/>
              </a:rPr>
              <a:t>READING CHANGES</a:t>
            </a:r>
          </a:p>
        </p:txBody>
      </p:sp>
      <p:sp>
        <p:nvSpPr>
          <p:cNvPr id="16" name="card-title-Same kanji, different sounds">
            <a:extLst>
              <a:ext uri="{FF2B5EF4-FFF2-40B4-BE49-F238E27FC236}">
                <ns2:creationId id="{27851E2F-9C61-4498-903F-BBB48240DD10}"/>
              </a:ext>
            </a:extLst>
          </p:cNvPr>
          <p:cNvSpPr>
            <a:spLocks noGrp="1"/>
          </p:cNvSpPr>
          <p:nvPr/>
        </p:nvSpPr>
        <p:spPr>
          <a:xfrm>
            <a:off x="4438650" y="3162300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Same kanji, different sounds</a:t>
            </a:r>
          </a:p>
        </p:txBody>
      </p:sp>
      <p:sp>
        <p:nvSpPr>
          <p:cNvPr id="17" name="card-body-Same kanji, different sounds">
            <a:extLst>
              <a:ext uri="{FF2B5EF4-FFF2-40B4-BE49-F238E27FC236}">
                <ns2:creationId id="{7F7F8F81-0244-4A7C-ABB4-1A96D815A3D7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30099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日 can be ひ by itself, に in 日本, and both にち and び inside 日曜日. Position, compound, and word identity matter.</a:t>
            </a:r>
          </a:p>
        </p:txBody>
      </p:sp>
      <p:sp>
        <p:nvSpPr>
          <p:cNvPr id="18" name="card-Words need exact identity">
            <a:extLst>
              <a:ext uri="{FF2B5EF4-FFF2-40B4-BE49-F238E27FC236}">
                <ns2:creationId id="{F3A7FA8E-7F39-4E3C-8212-D70514E8CFAA}"/>
              </a:ext>
            </a:extLst>
          </p:cNvPr>
          <p:cNvSpPr>
            <a:spLocks noGrp="1"/>
          </p:cNvSpPr>
          <p:nvPr/>
        </p:nvSpPr>
        <p:spPr>
          <a:xfrm>
            <a:off x="8115300" y="2743200"/>
            <a:ext cx="3105150" cy="2381250"/>
          </a:xfrm>
          <a:prstGeom prst="rect">
            <a:avLst/>
          </a:prstGeom>
          <a:solidFill>
            <a:srgbClr val="FFFFFF"/>
          </a:solidFill>
          <a:ln w="13335">
            <a:solidFill>
              <a:srgbClr val="70507A"/>
            </a:solidFill>
            <a:prstDash val="solid"/>
          </a:ln>
        </p:spPr>
      </p:sp>
      <p:sp>
        <p:nvSpPr>
          <p:cNvPr id="19" name="card-accent-Words need exact identity">
            <a:extLst>
              <a:ext uri="{FF2B5EF4-FFF2-40B4-BE49-F238E27FC236}">
                <ns2:creationId id="{0AFE3599-9173-4DF6-81EC-82FC32DBB432}"/>
              </a:ext>
            </a:extLst>
          </p:cNvPr>
          <p:cNvSpPr>
            <a:spLocks noGrp="1"/>
          </p:cNvSpPr>
          <p:nvPr/>
        </p:nvSpPr>
        <p:spPr>
          <a:xfrm>
            <a:off x="8115300" y="2743200"/>
            <a:ext cx="57150" cy="2381250"/>
          </a:xfrm>
          <a:prstGeom prst="rect">
            <a:avLst/>
          </a:prstGeom>
          <a:solidFill>
            <a:srgbClr val="70507A"/>
          </a:solidFill>
          <a:ln w="0">
            <a:solidFill>
              <a:srgbClr val="70507A"/>
            </a:solidFill>
            <a:prstDash val="solid"/>
          </a:ln>
        </p:spPr>
      </p:sp>
      <p:sp>
        <p:nvSpPr>
          <p:cNvPr id="20" name="card-label-Words need exact identity">
            <a:extLst>
              <a:ext uri="{FF2B5EF4-FFF2-40B4-BE49-F238E27FC236}">
                <ns2:creationId id="{ED2DAC9D-721E-4AEF-91C3-B6055F7D8C77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05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0507A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21" name="card-title-Words need exact identity">
            <a:extLst>
              <a:ext uri="{FF2B5EF4-FFF2-40B4-BE49-F238E27FC236}">
                <ns2:creationId id="{7A9DC0E8-7E2F-4F21-8660-3FB1357602BB}"/>
              </a:ext>
            </a:extLst>
          </p:cNvPr>
          <p:cNvSpPr>
            <a:spLocks noGrp="1"/>
          </p:cNvSpPr>
          <p:nvPr/>
        </p:nvSpPr>
        <p:spPr>
          <a:xfrm>
            <a:off x="8305800" y="3162300"/>
            <a:ext cx="2724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Words need exact identity</a:t>
            </a:r>
          </a:p>
        </p:txBody>
      </p:sp>
      <p:sp>
        <p:nvSpPr>
          <p:cNvPr id="22" name="card-body-Words need exact identity">
            <a:extLst>
              <a:ext uri="{FF2B5EF4-FFF2-40B4-BE49-F238E27FC236}">
                <ns2:creationId id="{7AB2FDB2-023B-48D1-A7FC-7279F7DDB04A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27241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 vocabulary card is not just a kanji plus a meaning. It is a written word plus a reading, such as 学校|がっこう, with examples, breakdowns, and learner support.</a:t>
            </a:r>
          </a:p>
        </p:txBody>
      </p:sp>
      <p:sp>
        <p:nvSpPr>
          <p:cNvPr id="23" name="kanji-hard-rule">
            <a:extLst>
              <a:ext uri="{FF2B5EF4-FFF2-40B4-BE49-F238E27FC236}">
                <ns2:creationId id="{0D432174-B3E2-4F87-9725-2C6238785EA1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That is why the project builds separate kanji decks and word decks, then validates each card against the exact thing it is supposed to teach.</a:t>
            </a:r>
          </a:p>
        </p:txBody>
      </p:sp>
      <p:sp>
        <p:nvSpPr>
          <p:cNvPr id="24" name="source-Sources: docs/">
            <a:extLst>
              <a:ext uri="{FF2B5EF4-FFF2-40B4-BE49-F238E27FC236}">
                <ns2:creationId id="{19EC2FC8-C890-4548-95C5-3B799D3DA353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952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D78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7884"/>
                </a:solidFill>
                <a:latin typeface="Aptos"/>
                <a:ea typeface="Aptos"/>
                <a:cs typeface="Aptos"/>
              </a:rPr>
              <a:t>Sources: docs/deck-model.md; README product split.</a:t>
            </a:r>
          </a:p>
        </p:txBody>
      </p:sp>
    </p:spTree>
    <p:extLst>
      <p:ext uri="{BB962C8B-B14F-4D97-AF65-F5344CB8AC3E}">
        <ns3:creationId val="14705724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3">
            <a:extLst xmlns:a="http://schemas.openxmlformats.org/drawingml/2006/main">
              <a:ext uri="{FF2B5EF4-FFF2-40B4-BE49-F238E27FC236}">
                <a16:creationId xmlns:a16="http://schemas.microsoft.com/office/drawing/2014/main" id="{AC62159C-BCD6-495D-B7D8-B96966D0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8FE29CBB-46A4-42C9-BF33-D327A2A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F9D"/>
          </a:solidFill>
          <a:ln xmlns:a="http://schemas.openxmlformats.org/drawingml/2006/main" w="0">
            <a:solidFill>
              <a:srgbClr val="3A6F9D"/>
            </a:solidFill>
            <a:prstDash val="solid"/>
          </a:ln>
        </p:spPr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232D8D41-70C6-422A-9119-56C701A4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F9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F9D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5690C0A7-E5FB-4985-BE95-8219672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F05570E1-8DF1-4544-ABFC-744EDB18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itle-What goes in, what the pro">
            <a:extLst xmlns:a="http://schemas.openxmlformats.org/drawingml/2006/main">
              <a:ext uri="{FF2B5EF4-FFF2-40B4-BE49-F238E27FC236}">
                <a16:creationId xmlns:a16="http://schemas.microsoft.com/office/drawing/2014/main" id="{5A9AFDAC-091E-47B2-93CE-BF39252A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What goes in, what the program does, and what comes out.</a:t>
            </a:r>
          </a:p>
        </p:txBody>
      </p:sp>
      <p:sp>
        <p:nvSpPr>
          <p:cNvPr id="7" name="sub-This is the governed data ">
            <a:extLst xmlns:a="http://schemas.openxmlformats.org/drawingml/2006/main">
              <a:ext uri="{FF2B5EF4-FFF2-40B4-BE49-F238E27FC236}">
                <a16:creationId xmlns:a16="http://schemas.microsoft.com/office/drawing/2014/main" id="{7644EC6A-E451-4F05-8394-31722E2C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This is the governed data pipeline underneath the study decks. Each stage has a different job and a different failure mode.</a:t>
            </a:r>
          </a:p>
        </p:txBody>
      </p:sp>
      <p:sp>
        <p:nvSpPr>
          <p:cNvPr id="8" name="card-Inputs">
            <a:extLst xmlns:a="http://schemas.openxmlformats.org/drawingml/2006/main">
              <a:ext uri="{FF2B5EF4-FFF2-40B4-BE49-F238E27FC236}">
                <a16:creationId xmlns:a16="http://schemas.microsoft.com/office/drawing/2014/main" id="{AC39880A-D182-4613-9493-543D5F9D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885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7F7A"/>
            </a:solidFill>
            <a:prstDash val="solid"/>
          </a:ln>
        </p:spPr>
      </p:sp>
      <p:sp>
        <p:nvSpPr>
          <p:cNvPr id="9" name="card-accent-Inputs">
            <a:extLst xmlns:a="http://schemas.openxmlformats.org/drawingml/2006/main">
              <a:ext uri="{FF2B5EF4-FFF2-40B4-BE49-F238E27FC236}">
                <a16:creationId xmlns:a16="http://schemas.microsoft.com/office/drawing/2014/main" id="{534F81D1-7847-44CE-9931-A830121A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solidFill>
              <a:srgbClr val="007F7A"/>
            </a:solidFill>
            <a:prstDash val="solid"/>
          </a:ln>
        </p:spPr>
      </p:sp>
      <p:sp>
        <p:nvSpPr>
          <p:cNvPr id="10" name="card-title-Inputs">
            <a:extLst xmlns:a="http://schemas.openxmlformats.org/drawingml/2006/main">
              <a:ext uri="{FF2B5EF4-FFF2-40B4-BE49-F238E27FC236}">
                <a16:creationId xmlns:a16="http://schemas.microsoft.com/office/drawing/2014/main" id="{EC4A1957-DE5C-43C2-B35F-427FB8D5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11" name="card-body-Inputs">
            <a:extLst xmlns:a="http://schemas.openxmlformats.org/drawingml/2006/main">
              <a:ext uri="{FF2B5EF4-FFF2-40B4-BE49-F238E27FC236}">
                <a16:creationId xmlns:a16="http://schemas.microsoft.com/office/drawing/2014/main" id="{97992EDA-9BBE-4F8B-9856-FC645C2C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504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JLPT contracts, curated kanji and word data, example sentences, media manifests, source-evidence records.</a:t>
            </a:r>
          </a:p>
        </p:txBody>
      </p:sp>
      <p:sp>
        <p:nvSpPr>
          <p:cNvPr id="12" name="arrow-262-392">
            <a:extLst xmlns:a="http://schemas.openxmlformats.org/drawingml/2006/main">
              <a:ext uri="{FF2B5EF4-FFF2-40B4-BE49-F238E27FC236}">
                <a16:creationId xmlns:a16="http://schemas.microsoft.com/office/drawing/2014/main" id="{69F431F1-25D5-4670-BAB3-DECD937A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card-Normalize">
            <a:extLst xmlns:a="http://schemas.openxmlformats.org/drawingml/2006/main">
              <a:ext uri="{FF2B5EF4-FFF2-40B4-BE49-F238E27FC236}">
                <a16:creationId xmlns:a16="http://schemas.microsoft.com/office/drawing/2014/main" id="{355F6396-147D-4AF9-B99E-2E51364E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1885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9516"/>
            </a:solidFill>
            <a:prstDash val="solid"/>
          </a:ln>
        </p:spPr>
      </p:sp>
      <p:sp>
        <p:nvSpPr>
          <p:cNvPr id="14" name="card-accent-Normalize">
            <a:extLst xmlns:a="http://schemas.openxmlformats.org/drawingml/2006/main">
              <a:ext uri="{FF2B5EF4-FFF2-40B4-BE49-F238E27FC236}">
                <a16:creationId xmlns:a16="http://schemas.microsoft.com/office/drawing/2014/main" id="{5A22D9FC-74F0-4B3E-9294-F11256CA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6"/>
          </a:solidFill>
          <a:ln xmlns:a="http://schemas.openxmlformats.org/drawingml/2006/main" w="0">
            <a:solidFill>
              <a:srgbClr val="D79516"/>
            </a:solidFill>
            <a:prstDash val="solid"/>
          </a:ln>
        </p:spPr>
      </p:sp>
      <p:sp>
        <p:nvSpPr>
          <p:cNvPr id="15" name="card-title-Normalize">
            <a:extLst xmlns:a="http://schemas.openxmlformats.org/drawingml/2006/main">
              <a:ext uri="{FF2B5EF4-FFF2-40B4-BE49-F238E27FC236}">
                <a16:creationId xmlns:a16="http://schemas.microsoft.com/office/drawing/2014/main" id="{A13140DF-BE8F-4D44-845B-DC24AE7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861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card-body-Normalize">
            <a:extLst xmlns:a="http://schemas.openxmlformats.org/drawingml/2006/main">
              <a:ext uri="{FF2B5EF4-FFF2-40B4-BE49-F238E27FC236}">
                <a16:creationId xmlns:a16="http://schemas.microsoft.com/office/drawing/2014/main" id="{175AED67-327C-451D-A51E-071DEA5F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67100"/>
            <a:ext cx="1504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Bind exact card identities, dedupe, enforce level rules, check readings, and resolve media paths.</a:t>
            </a:r>
          </a:p>
        </p:txBody>
      </p:sp>
      <p:sp>
        <p:nvSpPr>
          <p:cNvPr id="17" name="arrow-498-392">
            <a:extLst xmlns:a="http://schemas.openxmlformats.org/drawingml/2006/main">
              <a:ext uri="{FF2B5EF4-FFF2-40B4-BE49-F238E27FC236}">
                <a16:creationId xmlns:a16="http://schemas.microsoft.com/office/drawing/2014/main" id="{883D4ABC-616F-4EF0-8AC6-658FEA2D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338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card-Generate">
            <a:extLst xmlns:a="http://schemas.openxmlformats.org/drawingml/2006/main">
              <a:ext uri="{FF2B5EF4-FFF2-40B4-BE49-F238E27FC236}">
                <a16:creationId xmlns:a16="http://schemas.microsoft.com/office/drawing/2014/main" id="{AD0E5BCF-E62D-41DC-A295-06E9F804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85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A6F9D"/>
            </a:solidFill>
            <a:prstDash val="solid"/>
          </a:ln>
        </p:spPr>
      </p:sp>
      <p:sp>
        <p:nvSpPr>
          <p:cNvPr id="19" name="card-accent-Generate">
            <a:extLst xmlns:a="http://schemas.openxmlformats.org/drawingml/2006/main">
              <a:ext uri="{FF2B5EF4-FFF2-40B4-BE49-F238E27FC236}">
                <a16:creationId xmlns:a16="http://schemas.microsoft.com/office/drawing/2014/main" id="{CF3D1DEF-3760-40FF-825E-A75307C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F9D"/>
          </a:solidFill>
          <a:ln xmlns:a="http://schemas.openxmlformats.org/drawingml/2006/main" w="0">
            <a:solidFill>
              <a:srgbClr val="3A6F9D"/>
            </a:solidFill>
            <a:prstDash val="solid"/>
          </a:ln>
        </p:spPr>
      </p:sp>
      <p:sp>
        <p:nvSpPr>
          <p:cNvPr id="20" name="card-title-Generate">
            <a:extLst xmlns:a="http://schemas.openxmlformats.org/drawingml/2006/main">
              <a:ext uri="{FF2B5EF4-FFF2-40B4-BE49-F238E27FC236}">
                <a16:creationId xmlns:a16="http://schemas.microsoft.com/office/drawing/2014/main" id="{DE58DF30-4BBF-4454-9568-0CF02DD9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21" name="card-body-Generate">
            <a:extLst xmlns:a="http://schemas.openxmlformats.org/drawingml/2006/main">
              <a:ext uri="{FF2B5EF4-FFF2-40B4-BE49-F238E27FC236}">
                <a16:creationId xmlns:a16="http://schemas.microsoft.com/office/drawing/2014/main" id="{B4783178-DFFF-4675-845C-7063C8A2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67100"/>
            <a:ext cx="1504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Build deterministic TSV rows, reports, and optional Anki package artifacts.</a:t>
            </a:r>
          </a:p>
        </p:txBody>
      </p:sp>
      <p:sp>
        <p:nvSpPr>
          <p:cNvPr id="22" name="arrow-734-392">
            <a:extLst xmlns:a="http://schemas.openxmlformats.org/drawingml/2006/main">
              <a:ext uri="{FF2B5EF4-FFF2-40B4-BE49-F238E27FC236}">
                <a16:creationId xmlns:a16="http://schemas.microsoft.com/office/drawing/2014/main" id="{76F3AB30-4480-47FC-9747-E4CA7398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card-Verify">
            <a:extLst xmlns:a="http://schemas.openxmlformats.org/drawingml/2006/main">
              <a:ext uri="{FF2B5EF4-FFF2-40B4-BE49-F238E27FC236}">
                <a16:creationId xmlns:a16="http://schemas.microsoft.com/office/drawing/2014/main" id="{89722AC0-8B33-492F-8E58-5592AB9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1885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0507A"/>
            </a:solidFill>
            <a:prstDash val="solid"/>
          </a:ln>
        </p:spPr>
      </p:sp>
      <p:sp>
        <p:nvSpPr>
          <p:cNvPr id="24" name="card-accent-Verify">
            <a:extLst xmlns:a="http://schemas.openxmlformats.org/drawingml/2006/main">
              <a:ext uri="{FF2B5EF4-FFF2-40B4-BE49-F238E27FC236}">
                <a16:creationId xmlns:a16="http://schemas.microsoft.com/office/drawing/2014/main" id="{BE6E9A90-7C84-4D8F-9D52-72BE84C0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7A"/>
          </a:solidFill>
          <a:ln xmlns:a="http://schemas.openxmlformats.org/drawingml/2006/main" w="0">
            <a:solidFill>
              <a:srgbClr val="70507A"/>
            </a:solidFill>
            <a:prstDash val="solid"/>
          </a:ln>
        </p:spPr>
      </p:sp>
      <p:sp>
        <p:nvSpPr>
          <p:cNvPr id="25" name="card-title-Verify">
            <a:extLst xmlns:a="http://schemas.openxmlformats.org/drawingml/2006/main">
              <a:ext uri="{FF2B5EF4-FFF2-40B4-BE49-F238E27FC236}">
                <a16:creationId xmlns:a16="http://schemas.microsoft.com/office/drawing/2014/main" id="{9AB46EBE-3FD9-44F7-8AC1-ED4701D1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861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6" name="card-body-Verify">
            <a:extLst xmlns:a="http://schemas.openxmlformats.org/drawingml/2006/main">
              <a:ext uri="{FF2B5EF4-FFF2-40B4-BE49-F238E27FC236}">
                <a16:creationId xmlns:a16="http://schemas.microsoft.com/office/drawing/2014/main" id="{9C5350F0-870F-4571-AB73-20A648FF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1504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Run schema, readiness, review, proof, NLP-support, performance, and release-trust commands.</a:t>
            </a:r>
          </a:p>
        </p:txBody>
      </p:sp>
      <p:sp>
        <p:nvSpPr>
          <p:cNvPr id="27" name="arrow-970-392">
            <a:extLst xmlns:a="http://schemas.openxmlformats.org/drawingml/2006/main">
              <a:ext uri="{FF2B5EF4-FFF2-40B4-BE49-F238E27FC236}">
                <a16:creationId xmlns:a16="http://schemas.microsoft.com/office/drawing/2014/main" id="{D28CB034-A78F-4D8D-AFF7-A06596A1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338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card-Certify">
            <a:extLst xmlns:a="http://schemas.openxmlformats.org/drawingml/2006/main">
              <a:ext uri="{FF2B5EF4-FFF2-40B4-BE49-F238E27FC236}">
                <a16:creationId xmlns:a16="http://schemas.microsoft.com/office/drawing/2014/main" id="{0BD0D617-5C41-4D94-8503-E978265B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95600"/>
            <a:ext cx="1885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7D52"/>
            </a:solidFill>
            <a:prstDash val="solid"/>
          </a:ln>
        </p:spPr>
      </p:sp>
      <p:sp>
        <p:nvSpPr>
          <p:cNvPr id="29" name="card-accent-Certify">
            <a:extLst xmlns:a="http://schemas.openxmlformats.org/drawingml/2006/main">
              <a:ext uri="{FF2B5EF4-FFF2-40B4-BE49-F238E27FC236}">
                <a16:creationId xmlns:a16="http://schemas.microsoft.com/office/drawing/2014/main" id="{A75A4A43-2492-4EF7-93D8-954C9C89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95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2"/>
          </a:solidFill>
          <a:ln xmlns:a="http://schemas.openxmlformats.org/drawingml/2006/main" w="0">
            <a:solidFill>
              <a:srgbClr val="2F7D52"/>
            </a:solidFill>
            <a:prstDash val="solid"/>
          </a:ln>
        </p:spPr>
      </p:sp>
      <p:sp>
        <p:nvSpPr>
          <p:cNvPr id="30" name="card-title-Certify">
            <a:extLst xmlns:a="http://schemas.openxmlformats.org/drawingml/2006/main">
              <a:ext uri="{FF2B5EF4-FFF2-40B4-BE49-F238E27FC236}">
                <a16:creationId xmlns:a16="http://schemas.microsoft.com/office/drawing/2014/main" id="{D0D7DBC8-A125-46A0-9519-BD43B561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861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Certify</a:t>
            </a:r>
          </a:p>
        </p:txBody>
      </p:sp>
      <p:sp>
        <p:nvSpPr>
          <p:cNvPr id="31" name="card-body-Certify">
            <a:extLst xmlns:a="http://schemas.openxmlformats.org/drawingml/2006/main">
              <a:ext uri="{FF2B5EF4-FFF2-40B4-BE49-F238E27FC236}">
                <a16:creationId xmlns:a16="http://schemas.microsoft.com/office/drawing/2014/main" id="{CF08FE2C-C804-48A6-BD15-7CAE4F0F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67100"/>
            <a:ext cx="1504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Only scoped proof-ledger receipts certify completed content. Support checks stay support checks.</a:t>
            </a:r>
          </a:p>
        </p:txBody>
      </p:sp>
      <p:sp>
        <p:nvSpPr>
          <p:cNvPr id="32" name="separation-key">
            <a:extLst xmlns:a="http://schemas.openxmlformats.org/drawingml/2006/main">
              <a:ext uri="{FF2B5EF4-FFF2-40B4-BE49-F238E27FC236}">
                <a16:creationId xmlns:a16="http://schemas.microsoft.com/office/drawing/2014/main" id="{447AA6E1-08C3-41AC-92B8-38DCC927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Key separation: source evidence, generated artifacts, support checks, review judgment, and certification proof are not interchangeable.</a:t>
            </a:r>
          </a:p>
        </p:txBody>
      </p:sp>
      <p:sp>
        <p:nvSpPr>
          <p:cNvPr id="33" name="source-Sources: READM">
            <a:extLst xmlns:a="http://schemas.openxmlformats.org/drawingml/2006/main">
              <a:ext uri="{FF2B5EF4-FFF2-40B4-BE49-F238E27FC236}">
                <a16:creationId xmlns:a16="http://schemas.microsoft.com/office/drawing/2014/main" id="{C82E1A05-6E44-43B9-8236-9B4DBA42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D78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7884"/>
                </a:solidFill>
                <a:latin typeface="Aptos"/>
                <a:ea typeface="Aptos"/>
                <a:cs typeface="Aptos"/>
              </a:rPr>
              <a:t>Sources: README architecture; docs/documentation-standard.md; closeout command schema.</a:t>
            </a:r>
          </a:p>
        </p:txBody>
      </p:sp>
    </p:spTree>
    <p:extLst>
      <p:ext uri="{BB962C8B-B14F-4D97-AF65-F5344CB8AC3E}">
        <p14:creationId xmlns:p14="http://schemas.microsoft.com/office/powerpoint/2010/main" val="8167111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4">
            <a:extLst xmlns:a="http://schemas.openxmlformats.org/drawingml/2006/main">
              <a:ext uri="{FF2B5EF4-FFF2-40B4-BE49-F238E27FC236}">
                <a16:creationId xmlns:a16="http://schemas.microsoft.com/office/drawing/2014/main" id="{218BDE72-E602-419C-A9EC-D7470831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2545FA66-49FC-43D5-93AD-3FA700BD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2"/>
          </a:solidFill>
          <a:ln xmlns:a="http://schemas.openxmlformats.org/drawingml/2006/main" w="0">
            <a:solidFill>
              <a:srgbClr val="2F7D52"/>
            </a:solidFill>
            <a:prstDash val="solid"/>
          </a:ln>
        </p:spPr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8C7B7DCE-C8FC-4E78-96E9-A7B8FFE9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2"/>
                </a:solidFill>
                <a:latin typeface="Aptos"/>
                <a:ea typeface="Aptos"/>
                <a:cs typeface="Aptos"/>
              </a:rPr>
              <a:t>CURRENT STATE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ED6423AD-27F6-477C-9ACE-C9796672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379F45D0-A4BF-4429-BCCF-74FC4E28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itle-First versions ready for s">
            <a:extLst xmlns:a="http://schemas.openxmlformats.org/drawingml/2006/main">
              <a:ext uri="{FF2B5EF4-FFF2-40B4-BE49-F238E27FC236}">
                <a16:creationId xmlns:a16="http://schemas.microsoft.com/office/drawing/2014/main" id="{FCAE5402-D386-445B-92AB-9B4CD36A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First versions ready for study: Kanji N5-N2 and Word N5-N4.</a:t>
            </a:r>
          </a:p>
        </p:txBody>
      </p:sp>
      <p:sp>
        <p:nvSpPr>
          <p:cNvPr id="7" name="sub-Those scopes are locked fo">
            <a:extLst xmlns:a="http://schemas.openxmlformats.org/drawingml/2006/main">
              <a:ext uri="{FF2B5EF4-FFF2-40B4-BE49-F238E27FC236}">
                <a16:creationId xmlns:a16="http://schemas.microsoft.com/office/drawing/2014/main" id="{740AED59-6D0B-4F2A-BE56-B6A15E75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Those scopes are locked for their first version. Future native/human provenance and vNext improvements can strengthen them without making the current v1 unusable.</a:t>
            </a:r>
          </a:p>
        </p:txBody>
      </p:sp>
      <p:sp>
        <p:nvSpPr>
          <p:cNvPr id="8" name="metric-kanji cards ready in v1">
            <a:extLst xmlns:a="http://schemas.openxmlformats.org/drawingml/2006/main">
              <a:ext uri="{FF2B5EF4-FFF2-40B4-BE49-F238E27FC236}">
                <a16:creationId xmlns:a16="http://schemas.microsoft.com/office/drawing/2014/main" id="{6B3D8F87-06E0-4189-8AFA-7BCDD38F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667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7D52"/>
            </a:solidFill>
            <a:prstDash val="solid"/>
          </a:ln>
        </p:spPr>
      </p:sp>
      <p:sp>
        <p:nvSpPr>
          <p:cNvPr id="9" name="metric-accent-kanji cards ready in v1">
            <a:extLst xmlns:a="http://schemas.openxmlformats.org/drawingml/2006/main">
              <a:ext uri="{FF2B5EF4-FFF2-40B4-BE49-F238E27FC236}">
                <a16:creationId xmlns:a16="http://schemas.microsoft.com/office/drawing/2014/main" id="{091D7C82-7AE1-4A64-B806-97E1E3A7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2"/>
          </a:solidFill>
          <a:ln xmlns:a="http://schemas.openxmlformats.org/drawingml/2006/main" w="0">
            <a:solidFill>
              <a:srgbClr val="2F7D52"/>
            </a:solidFill>
            <a:prstDash val="solid"/>
          </a:ln>
        </p:spPr>
      </p:sp>
      <p:sp>
        <p:nvSpPr>
          <p:cNvPr id="10" name="metric-value-kanji cards ready in v1">
            <a:extLst xmlns:a="http://schemas.openxmlformats.org/drawingml/2006/main">
              <a:ext uri="{FF2B5EF4-FFF2-40B4-BE49-F238E27FC236}">
                <a16:creationId xmlns:a16="http://schemas.microsoft.com/office/drawing/2014/main" id="{C59D9CDD-BAA1-42E1-A816-7188E845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982</a:t>
            </a:r>
          </a:p>
        </p:txBody>
      </p:sp>
      <p:sp>
        <p:nvSpPr>
          <p:cNvPr id="11" name="metric-label-kanji cards ready in v1">
            <a:extLst xmlns:a="http://schemas.openxmlformats.org/drawingml/2006/main">
              <a:ext uri="{FF2B5EF4-FFF2-40B4-BE49-F238E27FC236}">
                <a16:creationId xmlns:a16="http://schemas.microsoft.com/office/drawing/2014/main" id="{45F99536-7700-43F3-AFCD-1CCC171B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kanji cards ready in v1</a:t>
            </a:r>
          </a:p>
        </p:txBody>
      </p:sp>
      <p:sp>
        <p:nvSpPr>
          <p:cNvPr id="12" name="metric-note-kanji cards ready in v1">
            <a:extLst xmlns:a="http://schemas.openxmlformats.org/drawingml/2006/main">
              <a:ext uri="{FF2B5EF4-FFF2-40B4-BE49-F238E27FC236}">
                <a16:creationId xmlns:a16="http://schemas.microsoft.com/office/drawing/2014/main" id="{EA65D780-CB1E-4B4C-8D3E-178BA020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N5, N4, N3, and N2 are certified in the current scoped proof ledgers.</a:t>
            </a:r>
          </a:p>
        </p:txBody>
      </p:sp>
      <p:sp>
        <p:nvSpPr>
          <p:cNvPr id="13" name="metric-word cards ready in v1">
            <a:extLst xmlns:a="http://schemas.openxmlformats.org/drawingml/2006/main">
              <a:ext uri="{FF2B5EF4-FFF2-40B4-BE49-F238E27FC236}">
                <a16:creationId xmlns:a16="http://schemas.microsoft.com/office/drawing/2014/main" id="{1BE04970-1FBD-4887-8ABD-83B5944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2667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7F7A"/>
            </a:solidFill>
            <a:prstDash val="solid"/>
          </a:ln>
        </p:spPr>
      </p:sp>
      <p:sp>
        <p:nvSpPr>
          <p:cNvPr id="14" name="metric-accent-word cards ready in v1">
            <a:extLst xmlns:a="http://schemas.openxmlformats.org/drawingml/2006/main">
              <a:ext uri="{FF2B5EF4-FFF2-40B4-BE49-F238E27FC236}">
                <a16:creationId xmlns:a16="http://schemas.microsoft.com/office/drawing/2014/main" id="{FBB5FDD2-E482-4F7B-A800-C4B79E3C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solidFill>
              <a:srgbClr val="007F7A"/>
            </a:solidFill>
            <a:prstDash val="solid"/>
          </a:ln>
        </p:spPr>
      </p:sp>
      <p:sp>
        <p:nvSpPr>
          <p:cNvPr id="15" name="metric-value-word cards ready in v1">
            <a:extLst xmlns:a="http://schemas.openxmlformats.org/drawingml/2006/main">
              <a:ext uri="{FF2B5EF4-FFF2-40B4-BE49-F238E27FC236}">
                <a16:creationId xmlns:a16="http://schemas.microsoft.com/office/drawing/2014/main" id="{5926DDF4-4562-45D5-B6FF-60F5502B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527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987</a:t>
            </a:r>
          </a:p>
        </p:txBody>
      </p:sp>
      <p:sp>
        <p:nvSpPr>
          <p:cNvPr id="16" name="metric-label-word cards ready in v1">
            <a:extLst xmlns:a="http://schemas.openxmlformats.org/drawingml/2006/main">
              <a:ext uri="{FF2B5EF4-FFF2-40B4-BE49-F238E27FC236}">
                <a16:creationId xmlns:a16="http://schemas.microsoft.com/office/drawing/2014/main" id="{53519CA2-0267-459E-91D3-5B85CA77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528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 cards ready in v1</a:t>
            </a:r>
          </a:p>
        </p:txBody>
      </p:sp>
      <p:sp>
        <p:nvSpPr>
          <p:cNvPr id="17" name="metric-note-word cards ready in v1">
            <a:extLst xmlns:a="http://schemas.openxmlformats.org/drawingml/2006/main">
              <a:ext uri="{FF2B5EF4-FFF2-40B4-BE49-F238E27FC236}">
                <a16:creationId xmlns:a16="http://schemas.microsoft.com/office/drawing/2014/main" id="{0AD293E0-C018-41C7-AB9B-E5968B9C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N5 and N4 word products are certified in the current scoped proof ledgers.</a:t>
            </a:r>
          </a:p>
        </p:txBody>
      </p:sp>
      <p:sp>
        <p:nvSpPr>
          <p:cNvPr id="18" name="metric-N3 word expansion">
            <a:extLst xmlns:a="http://schemas.openxmlformats.org/drawingml/2006/main">
              <a:ext uri="{FF2B5EF4-FFF2-40B4-BE49-F238E27FC236}">
                <a16:creationId xmlns:a16="http://schemas.microsoft.com/office/drawing/2014/main" id="{7D0815CD-2893-4C2A-BD54-671193C6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2381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9516"/>
            </a:solidFill>
            <a:prstDash val="solid"/>
          </a:ln>
        </p:spPr>
      </p:sp>
      <p:sp>
        <p:nvSpPr>
          <p:cNvPr id="19" name="metric-accent-N3 word expansion">
            <a:extLst xmlns:a="http://schemas.openxmlformats.org/drawingml/2006/main">
              <a:ext uri="{FF2B5EF4-FFF2-40B4-BE49-F238E27FC236}">
                <a16:creationId xmlns:a16="http://schemas.microsoft.com/office/drawing/2014/main" id="{0E22764F-1470-49FC-A179-98A8E2F5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6"/>
          </a:solidFill>
          <a:ln xmlns:a="http://schemas.openxmlformats.org/drawingml/2006/main" w="0">
            <a:solidFill>
              <a:srgbClr val="D79516"/>
            </a:solidFill>
            <a:prstDash val="solid"/>
          </a:ln>
        </p:spPr>
      </p:sp>
      <p:sp>
        <p:nvSpPr>
          <p:cNvPr id="20" name="metric-value-N3 word expansion">
            <a:extLst xmlns:a="http://schemas.openxmlformats.org/drawingml/2006/main">
              <a:ext uri="{FF2B5EF4-FFF2-40B4-BE49-F238E27FC236}">
                <a16:creationId xmlns:a16="http://schemas.microsoft.com/office/drawing/2014/main" id="{F197BAF2-42A0-4A5A-B518-AC9C5FC9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437</a:t>
            </a:r>
          </a:p>
        </p:txBody>
      </p:sp>
      <p:sp>
        <p:nvSpPr>
          <p:cNvPr id="21" name="metric-label-N3 word expansion">
            <a:extLst xmlns:a="http://schemas.openxmlformats.org/drawingml/2006/main">
              <a:ext uri="{FF2B5EF4-FFF2-40B4-BE49-F238E27FC236}">
                <a16:creationId xmlns:a16="http://schemas.microsoft.com/office/drawing/2014/main" id="{E324E3C8-55BA-45F4-A66E-4284EA2A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N3 word expansion</a:t>
            </a:r>
          </a:p>
        </p:txBody>
      </p:sp>
      <p:sp>
        <p:nvSpPr>
          <p:cNvPr id="22" name="metric-note-N3 word expansion">
            <a:extLst xmlns:a="http://schemas.openxmlformats.org/drawingml/2006/main">
              <a:ext uri="{FF2B5EF4-FFF2-40B4-BE49-F238E27FC236}">
                <a16:creationId xmlns:a16="http://schemas.microsoft.com/office/drawing/2014/main" id="{797C32C5-0DCA-4478-AD58-AA17D3E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Generated for expansion; active review work continues one batch at a time.</a:t>
            </a:r>
          </a:p>
        </p:txBody>
      </p:sp>
      <p:sp>
        <p:nvSpPr>
          <p:cNvPr id="23" name="metric-release trust">
            <a:extLst xmlns:a="http://schemas.openxmlformats.org/drawingml/2006/main">
              <a:ext uri="{FF2B5EF4-FFF2-40B4-BE49-F238E27FC236}">
                <a16:creationId xmlns:a16="http://schemas.microsoft.com/office/drawing/2014/main" id="{C86F0382-5BE4-4BE2-818F-63E29D4C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981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3A32"/>
            </a:solidFill>
            <a:prstDash val="solid"/>
          </a:ln>
        </p:spPr>
      </p:sp>
      <p:sp>
        <p:nvSpPr>
          <p:cNvPr id="24" name="metric-accent-release trust">
            <a:extLst xmlns:a="http://schemas.openxmlformats.org/drawingml/2006/main">
              <a:ext uri="{FF2B5EF4-FFF2-40B4-BE49-F238E27FC236}">
                <a16:creationId xmlns:a16="http://schemas.microsoft.com/office/drawing/2014/main" id="{D641E9A8-F6AA-4EA8-9E23-6633C9BE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32"/>
          </a:solidFill>
          <a:ln xmlns:a="http://schemas.openxmlformats.org/drawingml/2006/main" w="0">
            <a:solidFill>
              <a:srgbClr val="B63A32"/>
            </a:solidFill>
            <a:prstDash val="solid"/>
          </a:ln>
        </p:spPr>
      </p:sp>
      <p:sp>
        <p:nvSpPr>
          <p:cNvPr id="25" name="metric-value-release trust">
            <a:extLst xmlns:a="http://schemas.openxmlformats.org/drawingml/2006/main">
              <a:ext uri="{FF2B5EF4-FFF2-40B4-BE49-F238E27FC236}">
                <a16:creationId xmlns:a16="http://schemas.microsoft.com/office/drawing/2014/main" id="{5B879B5F-CDD4-42A1-9D99-5C17500D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</a:t>
            </a:r>
          </a:p>
        </p:txBody>
      </p:sp>
      <p:sp>
        <p:nvSpPr>
          <p:cNvPr id="26" name="metric-label-release trust">
            <a:extLst xmlns:a="http://schemas.openxmlformats.org/drawingml/2006/main">
              <a:ext uri="{FF2B5EF4-FFF2-40B4-BE49-F238E27FC236}">
                <a16:creationId xmlns:a16="http://schemas.microsoft.com/office/drawing/2014/main" id="{3BBD1DDC-D2DB-4947-8629-7FDEF78D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528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release trust</a:t>
            </a:r>
          </a:p>
        </p:txBody>
      </p:sp>
      <p:sp>
        <p:nvSpPr>
          <p:cNvPr id="27" name="metric-note-release trust">
            <a:extLst xmlns:a="http://schemas.openxmlformats.org/drawingml/2006/main">
              <a:ext uri="{FF2B5EF4-FFF2-40B4-BE49-F238E27FC236}">
                <a16:creationId xmlns:a16="http://schemas.microsoft.com/office/drawing/2014/main" id="{F6DCB1D6-65FC-4B72-B43E-C895D125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385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Broad release claims stay blocked until named release risks close.</a:t>
            </a:r>
          </a:p>
        </p:txBody>
      </p:sp>
      <p:sp>
        <p:nvSpPr>
          <p:cNvPr id="28" name="row-Ready now">
            <a:extLst xmlns:a="http://schemas.openxmlformats.org/drawingml/2006/main">
              <a:ext uri="{FF2B5EF4-FFF2-40B4-BE49-F238E27FC236}">
                <a16:creationId xmlns:a16="http://schemas.microsoft.com/office/drawing/2014/main" id="{66EC92AF-781A-45CA-9AA2-460A94E1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89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29" name="row-accent-Ready now">
            <a:extLst xmlns:a="http://schemas.openxmlformats.org/drawingml/2006/main">
              <a:ext uri="{FF2B5EF4-FFF2-40B4-BE49-F238E27FC236}">
                <a16:creationId xmlns:a16="http://schemas.microsoft.com/office/drawing/2014/main" id="{E92A0752-4D6B-4193-8C52-3D04EC19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2"/>
          </a:solidFill>
          <a:ln xmlns:a="http://schemas.openxmlformats.org/drawingml/2006/main" w="0">
            <a:solidFill>
              <a:srgbClr val="2F7D52"/>
            </a:solidFill>
            <a:prstDash val="solid"/>
          </a:ln>
        </p:spPr>
      </p:sp>
      <p:sp>
        <p:nvSpPr>
          <p:cNvPr id="30" name="row-left-Ready now">
            <a:extLst xmlns:a="http://schemas.openxmlformats.org/drawingml/2006/main">
              <a:ext uri="{FF2B5EF4-FFF2-40B4-BE49-F238E27FC236}">
                <a16:creationId xmlns:a16="http://schemas.microsoft.com/office/drawing/2014/main" id="{343729E8-2978-4AA4-9F22-68952E03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Ready now</a:t>
            </a:r>
          </a:p>
        </p:txBody>
      </p:sp>
      <p:sp>
        <p:nvSpPr>
          <p:cNvPr id="31" name="row-right-Ready now">
            <a:extLst xmlns:a="http://schemas.openxmlformats.org/drawingml/2006/main">
              <a:ext uri="{FF2B5EF4-FFF2-40B4-BE49-F238E27FC236}">
                <a16:creationId xmlns:a16="http://schemas.microsoft.com/office/drawing/2014/main" id="{9E0160A3-A4CC-4D55-9947-0441F2CC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48225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Kanji N5-N2 and Word N5-N4 can be used as the first study version.</a:t>
            </a:r>
          </a:p>
        </p:txBody>
      </p:sp>
      <p:sp>
        <p:nvSpPr>
          <p:cNvPr id="32" name="row-Active next">
            <a:extLst xmlns:a="http://schemas.openxmlformats.org/drawingml/2006/main">
              <a:ext uri="{FF2B5EF4-FFF2-40B4-BE49-F238E27FC236}">
                <a16:creationId xmlns:a16="http://schemas.microsoft.com/office/drawing/2014/main" id="{95AD5C80-6D3F-4658-9462-44BD0123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89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33" name="row-accent-Active next">
            <a:extLst xmlns:a="http://schemas.openxmlformats.org/drawingml/2006/main">
              <a:ext uri="{FF2B5EF4-FFF2-40B4-BE49-F238E27FC236}">
                <a16:creationId xmlns:a16="http://schemas.microsoft.com/office/drawing/2014/main" id="{78B707CC-63C8-43B2-A4D3-0E95A560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6"/>
          </a:solidFill>
          <a:ln xmlns:a="http://schemas.openxmlformats.org/drawingml/2006/main" w="0">
            <a:solidFill>
              <a:srgbClr val="D79516"/>
            </a:solidFill>
            <a:prstDash val="solid"/>
          </a:ln>
        </p:spPr>
      </p:sp>
      <p:sp>
        <p:nvSpPr>
          <p:cNvPr id="34" name="row-left-Active next">
            <a:extLst xmlns:a="http://schemas.openxmlformats.org/drawingml/2006/main">
              <a:ext uri="{FF2B5EF4-FFF2-40B4-BE49-F238E27FC236}">
                <a16:creationId xmlns:a16="http://schemas.microsoft.com/office/drawing/2014/main" id="{E70EEA53-EEE8-4543-A3A3-E0BF48B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578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Active next</a:t>
            </a:r>
          </a:p>
        </p:txBody>
      </p:sp>
      <p:sp>
        <p:nvSpPr>
          <p:cNvPr id="35" name="row-right-Active next">
            <a:extLst xmlns:a="http://schemas.openxmlformats.org/drawingml/2006/main">
              <a:ext uri="{FF2B5EF4-FFF2-40B4-BE49-F238E27FC236}">
                <a16:creationId xmlns:a16="http://schemas.microsoft.com/office/drawing/2014/main" id="{45715025-D7F2-4AA1-A9BC-35DFB41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38775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Word N3 expansion continues from the gap plan, one batch at a time.</a:t>
            </a:r>
          </a:p>
        </p:txBody>
      </p:sp>
      <p:sp>
        <p:nvSpPr>
          <p:cNvPr id="36" name="row-Not claimed">
            <a:extLst xmlns:a="http://schemas.openxmlformats.org/drawingml/2006/main">
              <a:ext uri="{FF2B5EF4-FFF2-40B4-BE49-F238E27FC236}">
                <a16:creationId xmlns:a16="http://schemas.microsoft.com/office/drawing/2014/main" id="{BC95DD2E-3EC9-4172-B963-837FC2FD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89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37" name="row-accent-Not claimed">
            <a:extLst xmlns:a="http://schemas.openxmlformats.org/drawingml/2006/main">
              <a:ext uri="{FF2B5EF4-FFF2-40B4-BE49-F238E27FC236}">
                <a16:creationId xmlns:a16="http://schemas.microsoft.com/office/drawing/2014/main" id="{AE9F94B5-1892-44F4-9938-F94F9BEC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7A"/>
          </a:solidFill>
          <a:ln xmlns:a="http://schemas.openxmlformats.org/drawingml/2006/main" w="0">
            <a:solidFill>
              <a:srgbClr val="70507A"/>
            </a:solidFill>
            <a:prstDash val="solid"/>
          </a:ln>
        </p:spPr>
      </p:sp>
      <p:sp>
        <p:nvSpPr>
          <p:cNvPr id="38" name="row-left-Not claimed">
            <a:extLst xmlns:a="http://schemas.openxmlformats.org/drawingml/2006/main">
              <a:ext uri="{FF2B5EF4-FFF2-40B4-BE49-F238E27FC236}">
                <a16:creationId xmlns:a16="http://schemas.microsoft.com/office/drawing/2014/main" id="{0F412573-9E15-488C-BE86-C510A5C1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39" name="row-right-Not claimed">
            <a:extLst xmlns:a="http://schemas.openxmlformats.org/drawingml/2006/main">
              <a:ext uri="{FF2B5EF4-FFF2-40B4-BE49-F238E27FC236}">
                <a16:creationId xmlns:a16="http://schemas.microsoft.com/office/drawing/2014/main" id="{3CC8C01F-BF75-4567-9ACF-1CE237F9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48225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N1 kanji and N3/N2/N1 words are not certified as finished products.</a:t>
            </a:r>
          </a:p>
        </p:txBody>
      </p:sp>
      <p:sp>
        <p:nvSpPr>
          <p:cNvPr id="40" name="row-Future lane">
            <a:extLst xmlns:a="http://schemas.openxmlformats.org/drawingml/2006/main">
              <a:ext uri="{FF2B5EF4-FFF2-40B4-BE49-F238E27FC236}">
                <a16:creationId xmlns:a16="http://schemas.microsoft.com/office/drawing/2014/main" id="{1D6267A7-2AE4-409C-A753-87BC9BCC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89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41" name="row-accent-Future lane">
            <a:extLst xmlns:a="http://schemas.openxmlformats.org/drawingml/2006/main">
              <a:ext uri="{FF2B5EF4-FFF2-40B4-BE49-F238E27FC236}">
                <a16:creationId xmlns:a16="http://schemas.microsoft.com/office/drawing/2014/main" id="{5FE65FDD-0565-4A44-BCA1-2849C8DB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F9D"/>
          </a:solidFill>
          <a:ln xmlns:a="http://schemas.openxmlformats.org/drawingml/2006/main" w="0">
            <a:solidFill>
              <a:srgbClr val="3A6F9D"/>
            </a:solidFill>
            <a:prstDash val="solid"/>
          </a:ln>
        </p:spPr>
      </p:sp>
      <p:sp>
        <p:nvSpPr>
          <p:cNvPr id="42" name="row-left-Future lane">
            <a:extLst xmlns:a="http://schemas.openxmlformats.org/drawingml/2006/main">
              <a:ext uri="{FF2B5EF4-FFF2-40B4-BE49-F238E27FC236}">
                <a16:creationId xmlns:a16="http://schemas.microsoft.com/office/drawing/2014/main" id="{EF98B58D-3C8F-41C5-B269-2849959A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578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Future lane</a:t>
            </a:r>
          </a:p>
        </p:txBody>
      </p:sp>
      <p:sp>
        <p:nvSpPr>
          <p:cNvPr id="43" name="row-right-Future lane">
            <a:extLst xmlns:a="http://schemas.openxmlformats.org/drawingml/2006/main">
              <a:ext uri="{FF2B5EF4-FFF2-40B4-BE49-F238E27FC236}">
                <a16:creationId xmlns:a16="http://schemas.microsoft.com/office/drawing/2014/main" id="{7031CB8D-44BD-4F67-9DB9-A96E5B5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38775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Human/native provenance is vNext strengthening, not a current v1 blocker.</a:t>
            </a:r>
          </a:p>
        </p:txBody>
      </p:sp>
      <p:sp>
        <p:nvSpPr>
          <p:cNvPr id="44" name="source-Sources: deck:">
            <a:extLst xmlns:a="http://schemas.openxmlformats.org/drawingml/2006/main">
              <a:ext uri="{FF2B5EF4-FFF2-40B4-BE49-F238E27FC236}">
                <a16:creationId xmlns:a16="http://schemas.microsoft.com/office/drawing/2014/main" id="{2DF3AE0D-6856-4976-A274-6E961169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D78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7884"/>
                </a:solidFill>
                <a:latin typeface="Aptos"/>
                <a:ea typeface="Aptos"/>
                <a:cs typeface="Aptos"/>
              </a:rPr>
              <a:t>Sources: deck:closeout; data:obsidian:proof:validate; word N3 completion/gap-plan commands.</a:t>
            </a:r>
          </a:p>
        </p:txBody>
      </p:sp>
    </p:spTree>
    <p:extLst>
      <p:ext uri="{BB962C8B-B14F-4D97-AF65-F5344CB8AC3E}">
        <p14:creationId xmlns:p14="http://schemas.microsoft.com/office/powerpoint/2010/main" val="1454576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5">
            <a:extLst xmlns:a="http://schemas.openxmlformats.org/drawingml/2006/main">
              <a:ext uri="{FF2B5EF4-FFF2-40B4-BE49-F238E27FC236}">
                <a16:creationId xmlns:a16="http://schemas.microsoft.com/office/drawing/2014/main" id="{A6C79CF0-E189-4B63-B692-6084A0A2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6AC26186-CE61-4DFD-A084-5B84E57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7A"/>
          </a:solidFill>
          <a:ln xmlns:a="http://schemas.openxmlformats.org/drawingml/2006/main" w="0">
            <a:solidFill>
              <a:srgbClr val="70507A"/>
            </a:solidFill>
            <a:prstDash val="solid"/>
          </a:ln>
        </p:spPr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2288A887-11D9-482F-AD23-B332EAE5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5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0507A"/>
                </a:solidFill>
                <a:latin typeface="Aptos"/>
                <a:ea typeface="Aptos"/>
                <a:cs typeface="Aptos"/>
              </a:rPr>
              <a:t>REVIEW LANES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A5317CB1-9AA2-40D0-BCE1-D77ED150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A0631CF7-BF9E-4411-8960-F6991619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itle-The lane names make the re">
            <a:extLst xmlns:a="http://schemas.openxmlformats.org/drawingml/2006/main">
              <a:ext uri="{FF2B5EF4-FFF2-40B4-BE49-F238E27FC236}">
                <a16:creationId xmlns:a16="http://schemas.microsoft.com/office/drawing/2014/main" id="{CAA4B44D-E8AA-4631-931F-A1FE1971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42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lane names make the review ladder memorable.</a:t>
            </a:r>
          </a:p>
        </p:txBody>
      </p:sp>
      <p:sp>
        <p:nvSpPr>
          <p:cNvPr id="7" name="sub-Each step earns one kind o">
            <a:extLst xmlns:a="http://schemas.openxmlformats.org/drawingml/2006/main">
              <a:ext uri="{FF2B5EF4-FFF2-40B4-BE49-F238E27FC236}">
                <a16:creationId xmlns:a16="http://schemas.microsoft.com/office/drawing/2014/main" id="{1AB0EFF5-28BF-4E5B-B477-7365040D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Each step earns one kind of confidence. The final step is certification proof; earlier steps are prerequisites, not substitutes.</a:t>
            </a:r>
          </a:p>
        </p:txBody>
      </p:sp>
      <p:sp>
        <p:nvSpPr>
          <p:cNvPr id="8" name="lane-Silver">
            <a:extLst xmlns:a="http://schemas.openxmlformats.org/drawingml/2006/main">
              <a:ext uri="{FF2B5EF4-FFF2-40B4-BE49-F238E27FC236}">
                <a16:creationId xmlns:a16="http://schemas.microsoft.com/office/drawing/2014/main" id="{369792CC-19D0-4BB7-B1F7-C55D8838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8090"/>
            </a:solidFill>
            <a:prstDash val="solid"/>
          </a:ln>
        </p:spPr>
      </p:sp>
      <p:sp>
        <p:nvSpPr>
          <p:cNvPr id="9" name="lane-top-Silver">
            <a:extLst xmlns:a="http://schemas.openxmlformats.org/drawingml/2006/main">
              <a:ext uri="{FF2B5EF4-FFF2-40B4-BE49-F238E27FC236}">
                <a16:creationId xmlns:a16="http://schemas.microsoft.com/office/drawing/2014/main" id="{ABFD1742-BC0E-4D5D-87EA-51B672B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090"/>
          </a:solidFill>
          <a:ln xmlns:a="http://schemas.openxmlformats.org/drawingml/2006/main" w="0">
            <a:solidFill>
              <a:srgbClr val="708090"/>
            </a:solidFill>
            <a:prstDash val="solid"/>
          </a:ln>
        </p:spPr>
      </p:sp>
      <p:sp>
        <p:nvSpPr>
          <p:cNvPr id="10" name="lane-name-Silver">
            <a:extLst xmlns:a="http://schemas.openxmlformats.org/drawingml/2006/main">
              <a:ext uri="{FF2B5EF4-FFF2-40B4-BE49-F238E27FC236}">
                <a16:creationId xmlns:a16="http://schemas.microsoft.com/office/drawing/2014/main" id="{10A43A9D-6A90-4B84-B4D9-8FE3D4B7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Silver</a:t>
            </a:r>
          </a:p>
        </p:txBody>
      </p:sp>
      <p:sp>
        <p:nvSpPr>
          <p:cNvPr id="11" name="lane-promise-Silver">
            <a:extLst xmlns:a="http://schemas.openxmlformats.org/drawingml/2006/main">
              <a:ext uri="{FF2B5EF4-FFF2-40B4-BE49-F238E27FC236}">
                <a16:creationId xmlns:a16="http://schemas.microsoft.com/office/drawing/2014/main" id="{6E730FD7-0CBD-4F43-B18D-986C5161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80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08090"/>
                </a:solidFill>
                <a:latin typeface="Aptos"/>
                <a:ea typeface="Aptos"/>
                <a:cs typeface="Aptos"/>
              </a:rPr>
              <a:t>Build exists</a:t>
            </a:r>
          </a:p>
        </p:txBody>
      </p:sp>
      <p:sp>
        <p:nvSpPr>
          <p:cNvPr id="12" name="lane-body-Silver">
            <a:extLst xmlns:a="http://schemas.openxmlformats.org/drawingml/2006/main">
              <a:ext uri="{FF2B5EF4-FFF2-40B4-BE49-F238E27FC236}">
                <a16:creationId xmlns:a16="http://schemas.microsoft.com/office/drawing/2014/main" id="{90A166C6-DDDD-47B4-9859-DEADE50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The generated card exists for the scoped identity.</a:t>
            </a:r>
          </a:p>
        </p:txBody>
      </p:sp>
      <p:sp>
        <p:nvSpPr>
          <p:cNvPr id="13" name="arrow-256-378">
            <a:extLst xmlns:a="http://schemas.openxmlformats.org/drawingml/2006/main">
              <a:ext uri="{FF2B5EF4-FFF2-40B4-BE49-F238E27FC236}">
                <a16:creationId xmlns:a16="http://schemas.microsoft.com/office/drawing/2014/main" id="{08DFD206-CFEE-46C0-AF9C-3A750938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lane-Gold">
            <a:extLst xmlns:a="http://schemas.openxmlformats.org/drawingml/2006/main">
              <a:ext uri="{FF2B5EF4-FFF2-40B4-BE49-F238E27FC236}">
                <a16:creationId xmlns:a16="http://schemas.microsoft.com/office/drawing/2014/main" id="{DE907FE1-D2B9-4501-89E1-1BC774E9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3850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8A08"/>
            </a:solidFill>
            <a:prstDash val="solid"/>
          </a:ln>
        </p:spPr>
      </p:sp>
      <p:sp>
        <p:nvSpPr>
          <p:cNvPr id="15" name="lane-top-Gold">
            <a:extLst xmlns:a="http://schemas.openxmlformats.org/drawingml/2006/main">
              <a:ext uri="{FF2B5EF4-FFF2-40B4-BE49-F238E27FC236}">
                <a16:creationId xmlns:a16="http://schemas.microsoft.com/office/drawing/2014/main" id="{81FE1018-A538-40A4-9E12-D0556C2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3850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08"/>
          </a:solidFill>
          <a:ln xmlns:a="http://schemas.openxmlformats.org/drawingml/2006/main" w="0">
            <a:solidFill>
              <a:srgbClr val="C78A08"/>
            </a:solidFill>
            <a:prstDash val="solid"/>
          </a:ln>
        </p:spPr>
      </p:sp>
      <p:sp>
        <p:nvSpPr>
          <p:cNvPr id="16" name="lane-name-Gold">
            <a:extLst xmlns:a="http://schemas.openxmlformats.org/drawingml/2006/main">
              <a:ext uri="{FF2B5EF4-FFF2-40B4-BE49-F238E27FC236}">
                <a16:creationId xmlns:a16="http://schemas.microsoft.com/office/drawing/2014/main" id="{1A83DB3B-61AA-4492-8BC2-0015E966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433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17" name="lane-promise-Gold">
            <a:extLst xmlns:a="http://schemas.openxmlformats.org/drawingml/2006/main">
              <a:ext uri="{FF2B5EF4-FFF2-40B4-BE49-F238E27FC236}">
                <a16:creationId xmlns:a16="http://schemas.microsoft.com/office/drawing/2014/main" id="{C6AD3720-48FC-4BA1-920A-83A9EEC7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8A0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8A08"/>
                </a:solidFill>
                <a:latin typeface="Aptos"/>
                <a:ea typeface="Aptos"/>
                <a:cs typeface="Aptos"/>
              </a:rPr>
              <a:t>Baseline holds</a:t>
            </a:r>
          </a:p>
        </p:txBody>
      </p:sp>
      <p:sp>
        <p:nvSpPr>
          <p:cNvPr id="18" name="lane-body-Gold">
            <a:extLst xmlns:a="http://schemas.openxmlformats.org/drawingml/2006/main">
              <a:ext uri="{FF2B5EF4-FFF2-40B4-BE49-F238E27FC236}">
                <a16:creationId xmlns:a16="http://schemas.microsoft.com/office/drawing/2014/main" id="{A01427FA-8B96-4E89-AC2F-859CE4D2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Regression checks match the expected generated card.</a:t>
            </a:r>
          </a:p>
        </p:txBody>
      </p:sp>
      <p:sp>
        <p:nvSpPr>
          <p:cNvPr id="19" name="arrow-494-412">
            <a:extLst xmlns:a="http://schemas.openxmlformats.org/drawingml/2006/main">
              <a:ext uri="{FF2B5EF4-FFF2-40B4-BE49-F238E27FC236}">
                <a16:creationId xmlns:a16="http://schemas.microsoft.com/office/drawing/2014/main" id="{EF900664-3EF9-4B8F-9195-981AFEA2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lane-Sapphire">
            <a:extLst xmlns:a="http://schemas.openxmlformats.org/drawingml/2006/main">
              <a:ext uri="{FF2B5EF4-FFF2-40B4-BE49-F238E27FC236}">
                <a16:creationId xmlns:a16="http://schemas.microsoft.com/office/drawing/2014/main" id="{2F2ADA8A-8DFF-4247-BA8D-59F5529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1465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7A"/>
            </a:solidFill>
            <a:prstDash val="solid"/>
          </a:ln>
        </p:spPr>
      </p:sp>
      <p:sp>
        <p:nvSpPr>
          <p:cNvPr id="21" name="lane-top-Sapphire">
            <a:extLst xmlns:a="http://schemas.openxmlformats.org/drawingml/2006/main">
              <a:ext uri="{FF2B5EF4-FFF2-40B4-BE49-F238E27FC236}">
                <a16:creationId xmlns:a16="http://schemas.microsoft.com/office/drawing/2014/main" id="{3B0252A2-A75A-466A-94F9-BF4E2F21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1465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solidFill>
              <a:srgbClr val="007F7A"/>
            </a:solidFill>
            <a:prstDash val="solid"/>
          </a:ln>
        </p:spPr>
      </p:sp>
      <p:sp>
        <p:nvSpPr>
          <p:cNvPr id="22" name="lane-name-Sapphire">
            <a:extLst xmlns:a="http://schemas.openxmlformats.org/drawingml/2006/main">
              <a:ext uri="{FF2B5EF4-FFF2-40B4-BE49-F238E27FC236}">
                <a16:creationId xmlns:a16="http://schemas.microsoft.com/office/drawing/2014/main" id="{8F80A3AF-05CC-4B20-A3C5-95231852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Sapphire</a:t>
            </a:r>
          </a:p>
        </p:txBody>
      </p:sp>
      <p:sp>
        <p:nvSpPr>
          <p:cNvPr id="23" name="lane-promise-Sapphire">
            <a:extLst xmlns:a="http://schemas.openxmlformats.org/drawingml/2006/main">
              <a:ext uri="{FF2B5EF4-FFF2-40B4-BE49-F238E27FC236}">
                <a16:creationId xmlns:a16="http://schemas.microsoft.com/office/drawing/2014/main" id="{18AE5C2A-9133-41F1-8D2A-55A19535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F7A"/>
                </a:solidFill>
                <a:latin typeface="Aptos"/>
                <a:ea typeface="Aptos"/>
                <a:cs typeface="Aptos"/>
              </a:rPr>
              <a:t>Structure holds</a:t>
            </a:r>
          </a:p>
        </p:txBody>
      </p:sp>
      <p:sp>
        <p:nvSpPr>
          <p:cNvPr id="24" name="lane-body-Sapphire">
            <a:extLst xmlns:a="http://schemas.openxmlformats.org/drawingml/2006/main">
              <a:ext uri="{FF2B5EF4-FFF2-40B4-BE49-F238E27FC236}">
                <a16:creationId xmlns:a16="http://schemas.microsoft.com/office/drawing/2014/main" id="{2A17BA3D-6999-42E2-A34A-4D0FFC47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Required fields, identity, media, and support lanes are structurally valid.</a:t>
            </a:r>
          </a:p>
        </p:txBody>
      </p:sp>
      <p:sp>
        <p:nvSpPr>
          <p:cNvPr id="25" name="arrow-732-378">
            <a:extLst xmlns:a="http://schemas.openxmlformats.org/drawingml/2006/main">
              <a:ext uri="{FF2B5EF4-FFF2-40B4-BE49-F238E27FC236}">
                <a16:creationId xmlns:a16="http://schemas.microsoft.com/office/drawing/2014/main" id="{978064B9-F5C3-44A1-A322-0FDC74E8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lane-Platinum">
            <a:extLst xmlns:a="http://schemas.openxmlformats.org/drawingml/2006/main">
              <a:ext uri="{FF2B5EF4-FFF2-40B4-BE49-F238E27FC236}">
                <a16:creationId xmlns:a16="http://schemas.microsoft.com/office/drawing/2014/main" id="{9B9D9CC7-2699-4C30-8B77-59C72A83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507A"/>
            </a:solidFill>
            <a:prstDash val="solid"/>
          </a:ln>
        </p:spPr>
      </p:sp>
      <p:sp>
        <p:nvSpPr>
          <p:cNvPr id="27" name="lane-top-Platinum">
            <a:extLst xmlns:a="http://schemas.openxmlformats.org/drawingml/2006/main">
              <a:ext uri="{FF2B5EF4-FFF2-40B4-BE49-F238E27FC236}">
                <a16:creationId xmlns:a16="http://schemas.microsoft.com/office/drawing/2014/main" id="{EC9A2DF3-C6F6-4D47-B576-BB0B00FD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7A"/>
          </a:solidFill>
          <a:ln xmlns:a="http://schemas.openxmlformats.org/drawingml/2006/main" w="0">
            <a:solidFill>
              <a:srgbClr val="70507A"/>
            </a:solidFill>
            <a:prstDash val="solid"/>
          </a:ln>
        </p:spPr>
      </p:sp>
      <p:sp>
        <p:nvSpPr>
          <p:cNvPr id="28" name="lane-name-Platinum">
            <a:extLst xmlns:a="http://schemas.openxmlformats.org/drawingml/2006/main">
              <a:ext uri="{FF2B5EF4-FFF2-40B4-BE49-F238E27FC236}">
                <a16:creationId xmlns:a16="http://schemas.microsoft.com/office/drawing/2014/main" id="{FF3BCD5E-E405-4B7B-9479-3E998E7D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433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Platinum</a:t>
            </a:r>
          </a:p>
        </p:txBody>
      </p:sp>
      <p:sp>
        <p:nvSpPr>
          <p:cNvPr id="29" name="lane-promise-Platinum">
            <a:extLst xmlns:a="http://schemas.openxmlformats.org/drawingml/2006/main">
              <a:ext uri="{FF2B5EF4-FFF2-40B4-BE49-F238E27FC236}">
                <a16:creationId xmlns:a16="http://schemas.microsoft.com/office/drawing/2014/main" id="{F73B0CE7-C281-4E86-9A47-C3CDFEF5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862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5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0507A"/>
                </a:solidFill>
                <a:latin typeface="Aptos"/>
                <a:ea typeface="Aptos"/>
                <a:cs typeface="Aptos"/>
              </a:rPr>
              <a:t>Surface inspected</a:t>
            </a:r>
          </a:p>
        </p:txBody>
      </p:sp>
      <p:sp>
        <p:nvSpPr>
          <p:cNvPr id="30" name="lane-body-Platinum">
            <a:extLst xmlns:a="http://schemas.openxmlformats.org/drawingml/2006/main">
              <a:ext uri="{FF2B5EF4-FFF2-40B4-BE49-F238E27FC236}">
                <a16:creationId xmlns:a16="http://schemas.microsoft.com/office/drawing/2014/main" id="{D7E8EE88-2C97-466B-917D-90B1BF43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5290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The visible card surface passes inspection beyond structure.</a:t>
            </a:r>
          </a:p>
        </p:txBody>
      </p:sp>
      <p:sp>
        <p:nvSpPr>
          <p:cNvPr id="31" name="arrow-970-412">
            <a:extLst xmlns:a="http://schemas.openxmlformats.org/drawingml/2006/main">
              <a:ext uri="{FF2B5EF4-FFF2-40B4-BE49-F238E27FC236}">
                <a16:creationId xmlns:a16="http://schemas.microsoft.com/office/drawing/2014/main" id="{D9DE6AF0-29F3-4016-873E-92E51B47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lane-Obsidian">
            <a:extLst xmlns:a="http://schemas.openxmlformats.org/drawingml/2006/main">
              <a:ext uri="{FF2B5EF4-FFF2-40B4-BE49-F238E27FC236}">
                <a16:creationId xmlns:a16="http://schemas.microsoft.com/office/drawing/2014/main" id="{221B6F84-9CED-4B6E-B330-0C44CF3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9050">
            <a:solidFill>
              <a:srgbClr val="24313D"/>
            </a:solidFill>
            <a:prstDash val="solid"/>
          </a:ln>
        </p:spPr>
      </p:sp>
      <p:sp>
        <p:nvSpPr>
          <p:cNvPr id="33" name="lane-top-Obsidian">
            <a:extLst xmlns:a="http://schemas.openxmlformats.org/drawingml/2006/main">
              <a:ext uri="{FF2B5EF4-FFF2-40B4-BE49-F238E27FC236}">
                <a16:creationId xmlns:a16="http://schemas.microsoft.com/office/drawing/2014/main" id="{6D29D37C-2028-420A-90BC-6D71134D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D"/>
          </a:solidFill>
          <a:ln xmlns:a="http://schemas.openxmlformats.org/drawingml/2006/main" w="0">
            <a:solidFill>
              <a:srgbClr val="24313D"/>
            </a:solidFill>
            <a:prstDash val="solid"/>
          </a:ln>
        </p:spPr>
      </p:sp>
      <p:sp>
        <p:nvSpPr>
          <p:cNvPr id="34" name="lane-name-Obsidian">
            <a:extLst xmlns:a="http://schemas.openxmlformats.org/drawingml/2006/main">
              <a:ext uri="{FF2B5EF4-FFF2-40B4-BE49-F238E27FC236}">
                <a16:creationId xmlns:a16="http://schemas.microsoft.com/office/drawing/2014/main" id="{3E5DEEC5-9D08-4A0E-B513-794FB9D9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194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Obsidian</a:t>
            </a:r>
          </a:p>
        </p:txBody>
      </p:sp>
      <p:sp>
        <p:nvSpPr>
          <p:cNvPr id="35" name="lane-promise-Obsidian">
            <a:extLst xmlns:a="http://schemas.openxmlformats.org/drawingml/2006/main">
              <a:ext uri="{FF2B5EF4-FFF2-40B4-BE49-F238E27FC236}">
                <a16:creationId xmlns:a16="http://schemas.microsoft.com/office/drawing/2014/main" id="{EFB3EBE3-88E0-4BC7-B549-DD867EEA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623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31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313D"/>
                </a:solidFill>
                <a:latin typeface="Aptos"/>
                <a:ea typeface="Aptos"/>
                <a:cs typeface="Aptos"/>
              </a:rPr>
              <a:t>Certified</a:t>
            </a:r>
          </a:p>
        </p:txBody>
      </p:sp>
      <p:sp>
        <p:nvSpPr>
          <p:cNvPr id="36" name="lane-body-Obsidian">
            <a:extLst xmlns:a="http://schemas.openxmlformats.org/drawingml/2006/main">
              <a:ext uri="{FF2B5EF4-FFF2-40B4-BE49-F238E27FC236}">
                <a16:creationId xmlns:a16="http://schemas.microsoft.com/office/drawing/2014/main" id="{6160171C-56EC-4457-BC7C-7387A587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2905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Substantive proof is recorded for the exact card identity.</a:t>
            </a:r>
          </a:p>
        </p:txBody>
      </p:sp>
      <p:sp>
        <p:nvSpPr>
          <p:cNvPr id="37" name="lane-rule">
            <a:extLst xmlns:a="http://schemas.openxmlformats.org/drawingml/2006/main">
              <a:ext uri="{FF2B5EF4-FFF2-40B4-BE49-F238E27FC236}">
                <a16:creationId xmlns:a16="http://schemas.microsoft.com/office/drawing/2014/main" id="{166B65A4-7F7D-4876-8D0F-0E9BBF74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Rule: no lane borrows authority from another. Certification is only the recorded proof.</a:t>
            </a:r>
          </a:p>
        </p:txBody>
      </p:sp>
      <p:sp>
        <p:nvSpPr>
          <p:cNvPr id="38" name="source-Sources: READM">
            <a:extLst xmlns:a="http://schemas.openxmlformats.org/drawingml/2006/main">
              <a:ext uri="{FF2B5EF4-FFF2-40B4-BE49-F238E27FC236}">
                <a16:creationId xmlns:a16="http://schemas.microsoft.com/office/drawing/2014/main" id="{348607E5-9EF0-4989-B84C-022807F8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D78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7884"/>
                </a:solidFill>
                <a:latin typeface="Aptos"/>
                <a:ea typeface="Aptos"/>
                <a:cs typeface="Aptos"/>
              </a:rPr>
              <a:t>Sources: README lane table; review-system-forward-contract; platinum/obsidian contracts.</a:t>
            </a:r>
          </a:p>
        </p:txBody>
      </p:sp>
    </p:spTree>
    <p:extLst>
      <p:ext uri="{BB962C8B-B14F-4D97-AF65-F5344CB8AC3E}">
        <p14:creationId xmlns:p14="http://schemas.microsoft.com/office/powerpoint/2010/main" val="1165536838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g-6">
            <a:extLst>
              <a:ext uri="{FF2B5EF4-FFF2-40B4-BE49-F238E27FC236}">
                <ns2:creationId id="{E7E10F25-383F-4A7B-831D-0B8116F3BD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6">
            <a:extLst>
              <a:ext uri="{FF2B5EF4-FFF2-40B4-BE49-F238E27FC236}">
                <ns2:creationId id="{66B5ADA0-F6AE-40C8-9C6D-95F9717EF00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09550" cy="38100"/>
          </a:xfrm>
          <a:prstGeom prst="rect">
            <a:avLst/>
          </a:prstGeom>
          <a:solidFill>
            <a:srgbClr val="2F7D52"/>
          </a:solidFill>
          <a:ln w="0">
            <a:solidFill>
              <a:srgbClr val="2F7D52"/>
            </a:solidFill>
            <a:prstDash val="solid"/>
          </a:ln>
        </p:spPr>
      </p:sp>
      <p:sp>
        <p:nvSpPr>
          <p:cNvPr id="3" name="section-6">
            <a:extLst>
              <a:ext uri="{FF2B5EF4-FFF2-40B4-BE49-F238E27FC236}">
                <ns2:creationId id="{6A033405-42D6-4D46-8A46-D4C8EFC5A9DF}"/>
              </a:ext>
            </a:extLst>
          </p:cNvPr>
          <p:cNvSpPr>
            <a:spLocks noGrp="1"/>
          </p:cNvSpPr>
          <p:nvPr/>
        </p:nvSpPr>
        <p:spPr>
          <a:xfrm>
            <a:off x="933450" y="428625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F7D5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2"/>
                </a:solidFill>
                <a:latin typeface="Aptos"/>
                <a:ea typeface="Aptos"/>
                <a:cs typeface="Aptos"/>
              </a:rPr>
              <a:t>CERTIFICATION PROOF</a:t>
            </a:r>
          </a:p>
        </p:txBody>
      </p:sp>
      <p:sp>
        <p:nvSpPr>
          <p:cNvPr id="4" name="rule-6">
            <a:extLst>
              <a:ext uri="{FF2B5EF4-FFF2-40B4-BE49-F238E27FC236}">
                <ns2:creationId id="{2E1DCDA2-902D-4FDC-9A1F-91176024037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886950" cy="9525"/>
          </a:xfrm>
          <a:prstGeom prst="rect">
            <a:avLst/>
          </a:prstGeom>
          <a:solidFill>
            <a:srgbClr val="DBE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age-6">
            <a:extLst>
              <a:ext uri="{FF2B5EF4-FFF2-40B4-BE49-F238E27FC236}">
                <ns2:creationId id="{F98B5117-41A3-4989-889A-4701F020226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title-Certification means the pr">
            <a:extLst>
              <a:ext uri="{FF2B5EF4-FFF2-40B4-BE49-F238E27FC236}">
                <ns2:creationId id="{484C92E7-EB6F-4A1E-B7F5-88383C845F48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287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Certification means the project saved a receipt for the exact card.</a:t>
            </a:r>
          </a:p>
        </p:txBody>
      </p:sp>
      <p:sp>
        <p:nvSpPr>
          <p:cNvPr id="7" name="sub-In this repo, a proof ledg">
            <a:extLst>
              <a:ext uri="{FF2B5EF4-FFF2-40B4-BE49-F238E27FC236}">
                <ns2:creationId id="{A0BFBA02-3EB0-479D-91DE-AB898F0488F4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9525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In this repo, a proof ledger is an append-only receipt file. Each line is one card-bound JSON record: what was reviewed, what evidence was used, what limitations remain, and what decision was made.</a:t>
            </a:r>
          </a:p>
        </p:txBody>
      </p:sp>
      <p:sp>
        <p:nvSpPr>
          <p:cNvPr id="8" name="card-One certified card = one receipt">
            <a:extLst>
              <a:ext uri="{FF2B5EF4-FFF2-40B4-BE49-F238E27FC236}">
                <ns2:creationId id="{7E589040-71EB-467A-A549-2D8A63962687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3314700" cy="2381250"/>
          </a:xfrm>
          <a:prstGeom prst="rect">
            <a:avLst/>
          </a:prstGeom>
          <a:solidFill>
            <a:srgbClr val="FFFFFF"/>
          </a:solidFill>
          <a:ln w="13335">
            <a:solidFill>
              <a:srgbClr val="2F7D52"/>
            </a:solidFill>
            <a:prstDash val="solid"/>
          </a:ln>
        </p:spPr>
      </p:sp>
      <p:sp>
        <p:nvSpPr>
          <p:cNvPr id="9" name="card-accent-One certified card = one receipt">
            <a:extLst>
              <a:ext uri="{FF2B5EF4-FFF2-40B4-BE49-F238E27FC236}">
                <ns2:creationId id="{3489CFE0-9995-497B-9F0D-E48A9A91F196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57150" cy="2381250"/>
          </a:xfrm>
          <a:prstGeom prst="rect">
            <a:avLst/>
          </a:prstGeom>
          <a:solidFill>
            <a:srgbClr val="2F7D52"/>
          </a:solidFill>
          <a:ln w="0">
            <a:solidFill>
              <a:srgbClr val="2F7D52"/>
            </a:solidFill>
            <a:prstDash val="solid"/>
          </a:ln>
        </p:spPr>
      </p:sp>
      <p:sp>
        <p:nvSpPr>
          <p:cNvPr id="10" name="card-label-One certified card = one receipt">
            <a:extLst>
              <a:ext uri="{FF2B5EF4-FFF2-40B4-BE49-F238E27FC236}">
                <ns2:creationId id="{6FA5F082-7DD8-4BCF-A84A-FA2BEEF9DCDE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F7D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52"/>
                </a:solidFill>
                <a:latin typeface="Aptos"/>
                <a:ea typeface="Aptos"/>
                <a:cs typeface="Aptos"/>
              </a:rPr>
              <a:t>PLAIN ENGLISH</a:t>
            </a:r>
          </a:p>
        </p:txBody>
      </p:sp>
      <p:sp>
        <p:nvSpPr>
          <p:cNvPr id="11" name="card-title-One certified card = one receipt">
            <a:extLst>
              <a:ext uri="{FF2B5EF4-FFF2-40B4-BE49-F238E27FC236}">
                <ns2:creationId id="{9C43A518-68A0-427D-A0A6-D9D8D4BA5D22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One certified card = one receipt</a:t>
            </a:r>
          </a:p>
        </p:txBody>
      </p:sp>
      <p:sp>
        <p:nvSpPr>
          <p:cNvPr id="12" name="card-body-One certified card = one receipt">
            <a:extLst>
              <a:ext uri="{FF2B5EF4-FFF2-40B4-BE49-F238E27FC236}">
                <ns2:creationId id="{79E599F4-2580-4783-8D4B-737DCAD3E42C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29337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 passing generated export is not enough. A support check is not enough. The card needs a scoped, explicit proof record bound to its exact identity.</a:t>
            </a:r>
          </a:p>
        </p:txBody>
      </p:sp>
      <p:sp>
        <p:nvSpPr>
          <p:cNvPr id="13" name="metric-saved receipts">
            <a:extLst>
              <a:ext uri="{FF2B5EF4-FFF2-40B4-BE49-F238E27FC236}">
                <ns2:creationId id="{F6B9E107-17C1-457B-B175-4694AF2C4A6A}"/>
              </a:ext>
            </a:extLst>
          </p:cNvPr>
          <p:cNvSpPr>
            <a:spLocks noGrp="1"/>
          </p:cNvSpPr>
          <p:nvPr/>
        </p:nvSpPr>
        <p:spPr>
          <a:xfrm>
            <a:off x="4457700" y="2857500"/>
            <a:ext cx="20002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F7D52"/>
            </a:solidFill>
            <a:prstDash val="solid"/>
          </a:ln>
        </p:spPr>
      </p:sp>
      <p:sp>
        <p:nvSpPr>
          <p:cNvPr id="14" name="metric-accent-saved receipts">
            <a:extLst>
              <a:ext uri="{FF2B5EF4-FFF2-40B4-BE49-F238E27FC236}">
                <ns2:creationId id="{5EF75466-E4F5-4B39-98C2-41660D00B06F}"/>
              </a:ext>
            </a:extLst>
          </p:cNvPr>
          <p:cNvSpPr>
            <a:spLocks noGrp="1"/>
          </p:cNvSpPr>
          <p:nvPr/>
        </p:nvSpPr>
        <p:spPr>
          <a:xfrm>
            <a:off x="4457700" y="2857500"/>
            <a:ext cx="57150" cy="1219200"/>
          </a:xfrm>
          <a:prstGeom prst="rect">
            <a:avLst/>
          </a:prstGeom>
          <a:solidFill>
            <a:srgbClr val="2F7D52"/>
          </a:solidFill>
          <a:ln w="0">
            <a:solidFill>
              <a:srgbClr val="2F7D52"/>
            </a:solidFill>
            <a:prstDash val="solid"/>
          </a:ln>
        </p:spPr>
      </p:sp>
      <p:sp>
        <p:nvSpPr>
          <p:cNvPr id="15" name="metric-value-saved receipts">
            <a:extLst>
              <a:ext uri="{FF2B5EF4-FFF2-40B4-BE49-F238E27FC236}">
                <ns2:creationId id="{38FD0C0C-9056-4BE5-9EA9-F2B16C2D9CAF}"/>
              </a:ext>
            </a:extLst>
          </p:cNvPr>
          <p:cNvSpPr>
            <a:spLocks noGrp="1"/>
          </p:cNvSpPr>
          <p:nvPr/>
        </p:nvSpPr>
        <p:spPr>
          <a:xfrm>
            <a:off x="4629150" y="3028950"/>
            <a:ext cx="1657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1,969</a:t>
            </a:r>
          </a:p>
        </p:txBody>
      </p:sp>
      <p:sp>
        <p:nvSpPr>
          <p:cNvPr id="16" name="metric-label-saved receipts">
            <a:extLst>
              <a:ext uri="{FF2B5EF4-FFF2-40B4-BE49-F238E27FC236}">
                <ns2:creationId id="{76166656-D2E9-4960-B809-0668892114C5}"/>
              </a:ext>
            </a:extLst>
          </p:cNvPr>
          <p:cNvSpPr>
            <a:spLocks noGrp="1"/>
          </p:cNvSpPr>
          <p:nvPr/>
        </p:nvSpPr>
        <p:spPr>
          <a:xfrm>
            <a:off x="4629150" y="342900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saved receipts</a:t>
            </a:r>
          </a:p>
        </p:txBody>
      </p:sp>
      <p:sp>
        <p:nvSpPr>
          <p:cNvPr id="17" name="metric-note-saved receipts">
            <a:extLst>
              <a:ext uri="{FF2B5EF4-FFF2-40B4-BE49-F238E27FC236}">
                <ns2:creationId id="{7EEE4471-9089-4D1C-B3C7-C2012C34DD83}"/>
              </a:ext>
            </a:extLst>
          </p:cNvPr>
          <p:cNvSpPr>
            <a:spLocks noGrp="1"/>
          </p:cNvSpPr>
          <p:nvPr/>
        </p:nvSpPr>
        <p:spPr>
          <a:xfrm>
            <a:off x="4629150" y="37147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Current certified v1 scopes only.</a:t>
            </a:r>
          </a:p>
        </p:txBody>
      </p:sp>
      <p:sp>
        <p:nvSpPr>
          <p:cNvPr id="18" name="metric-ledger files">
            <a:extLst>
              <a:ext uri="{FF2B5EF4-FFF2-40B4-BE49-F238E27FC236}">
                <ns2:creationId id="{76F169A1-161D-4B8C-802A-B7D11766650D}"/>
              </a:ext>
            </a:extLst>
          </p:cNvPr>
          <p:cNvSpPr>
            <a:spLocks noGrp="1"/>
          </p:cNvSpPr>
          <p:nvPr/>
        </p:nvSpPr>
        <p:spPr>
          <a:xfrm>
            <a:off x="6743700" y="2857500"/>
            <a:ext cx="16192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70507A"/>
            </a:solidFill>
            <a:prstDash val="solid"/>
          </a:ln>
        </p:spPr>
      </p:sp>
      <p:sp>
        <p:nvSpPr>
          <p:cNvPr id="19" name="metric-accent-ledger files">
            <a:extLst>
              <a:ext uri="{FF2B5EF4-FFF2-40B4-BE49-F238E27FC236}">
                <ns2:creationId id="{D8CE4B3E-E5AC-4AD3-B478-C25E03F3DC69}"/>
              </a:ext>
            </a:extLst>
          </p:cNvPr>
          <p:cNvSpPr>
            <a:spLocks noGrp="1"/>
          </p:cNvSpPr>
          <p:nvPr/>
        </p:nvSpPr>
        <p:spPr>
          <a:xfrm>
            <a:off x="6743700" y="2857500"/>
            <a:ext cx="57150" cy="1219200"/>
          </a:xfrm>
          <a:prstGeom prst="rect">
            <a:avLst/>
          </a:prstGeom>
          <a:solidFill>
            <a:srgbClr val="70507A"/>
          </a:solidFill>
          <a:ln w="0">
            <a:solidFill>
              <a:srgbClr val="70507A"/>
            </a:solidFill>
            <a:prstDash val="solid"/>
          </a:ln>
        </p:spPr>
      </p:sp>
      <p:sp>
        <p:nvSpPr>
          <p:cNvPr id="20" name="metric-value-ledger files">
            <a:extLst>
              <a:ext uri="{FF2B5EF4-FFF2-40B4-BE49-F238E27FC236}">
                <ns2:creationId id="{F6CF04B9-969C-4724-9360-1C0B0E515686}"/>
              </a:ext>
            </a:extLst>
          </p:cNvPr>
          <p:cNvSpPr>
            <a:spLocks noGrp="1"/>
          </p:cNvSpPr>
          <p:nvPr/>
        </p:nvSpPr>
        <p:spPr>
          <a:xfrm>
            <a:off x="6915150" y="3028950"/>
            <a:ext cx="1276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metric-label-ledger files">
            <a:extLst>
              <a:ext uri="{FF2B5EF4-FFF2-40B4-BE49-F238E27FC236}">
                <ns2:creationId id="{F84743A5-1265-427C-ACFD-942DA64C9D57}"/>
              </a:ext>
            </a:extLst>
          </p:cNvPr>
          <p:cNvSpPr>
            <a:spLocks noGrp="1"/>
          </p:cNvSpPr>
          <p:nvPr/>
        </p:nvSpPr>
        <p:spPr>
          <a:xfrm>
            <a:off x="6915150" y="34290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ledger files</a:t>
            </a:r>
          </a:p>
        </p:txBody>
      </p:sp>
      <p:sp>
        <p:nvSpPr>
          <p:cNvPr id="22" name="metric-note-ledger files">
            <a:extLst>
              <a:ext uri="{FF2B5EF4-FFF2-40B4-BE49-F238E27FC236}">
                <ns2:creationId id="{42EFB2E6-971B-4991-8A7C-7E3F9D16B03D}"/>
              </a:ext>
            </a:extLst>
          </p:cNvPr>
          <p:cNvSpPr>
            <a:spLocks noGrp="1"/>
          </p:cNvSpPr>
          <p:nvPr/>
        </p:nvSpPr>
        <p:spPr>
          <a:xfrm>
            <a:off x="6915150" y="37147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One canonical proof set per scoped lock.</a:t>
            </a:r>
          </a:p>
        </p:txBody>
      </p:sp>
      <p:sp>
        <p:nvSpPr>
          <p:cNvPr id="23" name="metric-new today">
            <a:extLst>
              <a:ext uri="{FF2B5EF4-FFF2-40B4-BE49-F238E27FC236}">
                <ns2:creationId id="{73A5CF81-E636-4FBB-95BB-24760BFD78C7}"/>
              </a:ext>
            </a:extLst>
          </p:cNvPr>
          <p:cNvSpPr>
            <a:spLocks noGrp="1"/>
          </p:cNvSpPr>
          <p:nvPr/>
        </p:nvSpPr>
        <p:spPr>
          <a:xfrm>
            <a:off x="8648700" y="2857500"/>
            <a:ext cx="20002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B63A32"/>
            </a:solidFill>
            <a:prstDash val="solid"/>
          </a:ln>
        </p:spPr>
      </p:sp>
      <p:sp>
        <p:nvSpPr>
          <p:cNvPr id="24" name="metric-accent-new today">
            <a:extLst>
              <a:ext uri="{FF2B5EF4-FFF2-40B4-BE49-F238E27FC236}">
                <ns2:creationId id="{9D8750A1-9B2B-431C-A83F-0116652D66E6}"/>
              </a:ext>
            </a:extLst>
          </p:cNvPr>
          <p:cNvSpPr>
            <a:spLocks noGrp="1"/>
          </p:cNvSpPr>
          <p:nvPr/>
        </p:nvSpPr>
        <p:spPr>
          <a:xfrm>
            <a:off x="8648700" y="2857500"/>
            <a:ext cx="57150" cy="1219200"/>
          </a:xfrm>
          <a:prstGeom prst="rect">
            <a:avLst/>
          </a:prstGeom>
          <a:solidFill>
            <a:srgbClr val="B63A32"/>
          </a:solidFill>
          <a:ln w="0">
            <a:solidFill>
              <a:srgbClr val="B63A32"/>
            </a:solidFill>
            <a:prstDash val="solid"/>
          </a:ln>
        </p:spPr>
      </p:sp>
      <p:sp>
        <p:nvSpPr>
          <p:cNvPr id="25" name="metric-value-new today">
            <a:extLst>
              <a:ext uri="{FF2B5EF4-FFF2-40B4-BE49-F238E27FC236}">
                <ns2:creationId id="{6B5DD7B8-8476-4501-9E08-05CE581FB4C4}"/>
              </a:ext>
            </a:extLst>
          </p:cNvPr>
          <p:cNvSpPr>
            <a:spLocks noGrp="1"/>
          </p:cNvSpPr>
          <p:nvPr/>
        </p:nvSpPr>
        <p:spPr>
          <a:xfrm>
            <a:off x="8820150" y="3028950"/>
            <a:ext cx="1657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6" name="metric-label-new today">
            <a:extLst>
              <a:ext uri="{FF2B5EF4-FFF2-40B4-BE49-F238E27FC236}">
                <ns2:creationId id="{1470991C-C469-4523-BDFE-65983B3C587D}"/>
              </a:ext>
            </a:extLst>
          </p:cNvPr>
          <p:cNvSpPr>
            <a:spLocks noGrp="1"/>
          </p:cNvSpPr>
          <p:nvPr/>
        </p:nvSpPr>
        <p:spPr>
          <a:xfrm>
            <a:off x="8820150" y="342900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new today</a:t>
            </a:r>
          </a:p>
        </p:txBody>
      </p:sp>
      <p:sp>
        <p:nvSpPr>
          <p:cNvPr id="27" name="metric-note-new today">
            <a:extLst>
              <a:ext uri="{FF2B5EF4-FFF2-40B4-BE49-F238E27FC236}">
                <ns2:creationId id="{46151220-32C5-4FAE-A516-6E2680F76F7C}"/>
              </a:ext>
            </a:extLst>
          </p:cNvPr>
          <p:cNvSpPr>
            <a:spLocks noGrp="1"/>
          </p:cNvSpPr>
          <p:nvPr/>
        </p:nvSpPr>
        <p:spPr>
          <a:xfrm>
            <a:off x="8820150" y="37147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This presentation work recorded no proof.</a:t>
            </a:r>
          </a:p>
        </p:txBody>
      </p:sp>
      <p:sp>
        <p:nvSpPr>
          <p:cNvPr id="28" name="pill-kanji N5: 80">
            <a:extLst>
              <a:ext uri="{FF2B5EF4-FFF2-40B4-BE49-F238E27FC236}">
                <ns2:creationId id="{EDED614E-161D-41C2-B939-71FF4B9F252B}"/>
              </a:ext>
            </a:extLst>
          </p:cNvPr>
          <p:cNvSpPr>
            <a:spLocks noGrp="1"/>
          </p:cNvSpPr>
          <p:nvPr/>
        </p:nvSpPr>
        <p:spPr>
          <a:xfrm>
            <a:off x="4457700" y="4533900"/>
            <a:ext cx="1714500" cy="323850"/>
          </a:xfrm>
          <a:prstGeom prst="rect">
            <a:avLst/>
          </a:prstGeom>
          <a:solidFill>
            <a:srgbClr val="EDF6EF"/>
          </a:solidFill>
          <a:ln w="11430">
            <a:solidFill>
              <a:srgbClr val="2F7D52"/>
            </a:solidFill>
            <a:prstDash val="solid"/>
          </a:ln>
        </p:spPr>
      </p:sp>
      <p:sp>
        <p:nvSpPr>
          <p:cNvPr id="29" name="pill-text-kanji N5: 80">
            <a:extLst>
              <a:ext uri="{FF2B5EF4-FFF2-40B4-BE49-F238E27FC236}">
                <ns2:creationId id="{E63967AE-BA44-451E-ACC1-2D0C74BDA1F6}"/>
              </a:ext>
            </a:extLst>
          </p:cNvPr>
          <p:cNvSpPr>
            <a:spLocks noGrp="1"/>
          </p:cNvSpPr>
          <p:nvPr/>
        </p:nvSpPr>
        <p:spPr>
          <a:xfrm>
            <a:off x="4572000" y="461962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F7D5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F7D52"/>
                </a:solidFill>
                <a:latin typeface="Aptos"/>
                <a:ea typeface="Aptos"/>
                <a:cs typeface="Aptos"/>
              </a:rPr>
              <a:t>kanji N5: 80</a:t>
            </a:r>
          </a:p>
        </p:txBody>
      </p:sp>
      <p:sp>
        <p:nvSpPr>
          <p:cNvPr id="30" name="pill-kanji N4: 212">
            <a:extLst>
              <a:ext uri="{FF2B5EF4-FFF2-40B4-BE49-F238E27FC236}">
                <ns2:creationId id="{D2DB9E62-F01F-4DC0-80CE-36A755E6868C}"/>
              </a:ext>
            </a:extLst>
          </p:cNvPr>
          <p:cNvSpPr>
            <a:spLocks noGrp="1"/>
          </p:cNvSpPr>
          <p:nvPr/>
        </p:nvSpPr>
        <p:spPr>
          <a:xfrm>
            <a:off x="6553200" y="4533900"/>
            <a:ext cx="1714500" cy="323850"/>
          </a:xfrm>
          <a:prstGeom prst="rect">
            <a:avLst/>
          </a:prstGeom>
          <a:solidFill>
            <a:srgbClr val="EDF6EF"/>
          </a:solidFill>
          <a:ln w="11430">
            <a:solidFill>
              <a:srgbClr val="2F7D52"/>
            </a:solidFill>
            <a:prstDash val="solid"/>
          </a:ln>
        </p:spPr>
      </p:sp>
      <p:sp>
        <p:nvSpPr>
          <p:cNvPr id="31" name="pill-text-kanji N4: 212">
            <a:extLst>
              <a:ext uri="{FF2B5EF4-FFF2-40B4-BE49-F238E27FC236}">
                <ns2:creationId id="{A44C6C56-628A-41F7-84D2-74E8130E7625}"/>
              </a:ext>
            </a:extLst>
          </p:cNvPr>
          <p:cNvSpPr>
            <a:spLocks noGrp="1"/>
          </p:cNvSpPr>
          <p:nvPr/>
        </p:nvSpPr>
        <p:spPr>
          <a:xfrm>
            <a:off x="6667500" y="461962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F7D5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F7D52"/>
                </a:solidFill>
                <a:latin typeface="Aptos"/>
                <a:ea typeface="Aptos"/>
                <a:cs typeface="Aptos"/>
              </a:rPr>
              <a:t>kanji N4: 212</a:t>
            </a:r>
          </a:p>
        </p:txBody>
      </p:sp>
      <p:sp>
        <p:nvSpPr>
          <p:cNvPr id="32" name="pill-kanji N3: 341">
            <a:extLst>
              <a:ext uri="{FF2B5EF4-FFF2-40B4-BE49-F238E27FC236}">
                <ns2:creationId id="{43C3377F-FD54-400F-B9EC-DF397117854C}"/>
              </a:ext>
            </a:extLst>
          </p:cNvPr>
          <p:cNvSpPr>
            <a:spLocks noGrp="1"/>
          </p:cNvSpPr>
          <p:nvPr/>
        </p:nvSpPr>
        <p:spPr>
          <a:xfrm>
            <a:off x="8648700" y="4533900"/>
            <a:ext cx="1714500" cy="323850"/>
          </a:xfrm>
          <a:prstGeom prst="rect">
            <a:avLst/>
          </a:prstGeom>
          <a:solidFill>
            <a:srgbClr val="EDF6EF"/>
          </a:solidFill>
          <a:ln w="11430">
            <a:solidFill>
              <a:srgbClr val="2F7D52"/>
            </a:solidFill>
            <a:prstDash val="solid"/>
          </a:ln>
        </p:spPr>
      </p:sp>
      <p:sp>
        <p:nvSpPr>
          <p:cNvPr id="33" name="pill-text-kanji N3: 341">
            <a:extLst>
              <a:ext uri="{FF2B5EF4-FFF2-40B4-BE49-F238E27FC236}">
                <ns2:creationId id="{72E64B96-F60E-4664-B3D5-E8EDEB91334E}"/>
              </a:ext>
            </a:extLst>
          </p:cNvPr>
          <p:cNvSpPr>
            <a:spLocks noGrp="1"/>
          </p:cNvSpPr>
          <p:nvPr/>
        </p:nvSpPr>
        <p:spPr>
          <a:xfrm>
            <a:off x="8763000" y="461962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F7D5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F7D52"/>
                </a:solidFill>
                <a:latin typeface="Aptos"/>
                <a:ea typeface="Aptos"/>
                <a:cs typeface="Aptos"/>
              </a:rPr>
              <a:t>kanji N3: 341</a:t>
            </a:r>
          </a:p>
        </p:txBody>
      </p:sp>
      <p:sp>
        <p:nvSpPr>
          <p:cNvPr id="34" name="pill-kanji N2: 349">
            <a:extLst>
              <a:ext uri="{FF2B5EF4-FFF2-40B4-BE49-F238E27FC236}">
                <ns2:creationId id="{DDA1A9EC-89C4-4F5A-8D37-22A59D4BC023}"/>
              </a:ext>
            </a:extLst>
          </p:cNvPr>
          <p:cNvSpPr>
            <a:spLocks noGrp="1"/>
          </p:cNvSpPr>
          <p:nvPr/>
        </p:nvSpPr>
        <p:spPr>
          <a:xfrm>
            <a:off x="4457700" y="5010150"/>
            <a:ext cx="1714500" cy="323850"/>
          </a:xfrm>
          <a:prstGeom prst="rect">
            <a:avLst/>
          </a:prstGeom>
          <a:solidFill>
            <a:srgbClr val="EDF6EF"/>
          </a:solidFill>
          <a:ln w="11430">
            <a:solidFill>
              <a:srgbClr val="2F7D52"/>
            </a:solidFill>
            <a:prstDash val="solid"/>
          </a:ln>
        </p:spPr>
      </p:sp>
      <p:sp>
        <p:nvSpPr>
          <p:cNvPr id="35" name="pill-text-kanji N2: 349">
            <a:extLst>
              <a:ext uri="{FF2B5EF4-FFF2-40B4-BE49-F238E27FC236}">
                <ns2:creationId id="{70A456C4-1416-448B-9921-30C6585589D0}"/>
              </a:ext>
            </a:extLst>
          </p:cNvPr>
          <p:cNvSpPr>
            <a:spLocks noGrp="1"/>
          </p:cNvSpPr>
          <p:nvPr/>
        </p:nvSpPr>
        <p:spPr>
          <a:xfrm>
            <a:off x="4572000" y="50958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F7D5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F7D52"/>
                </a:solidFill>
                <a:latin typeface="Aptos"/>
                <a:ea typeface="Aptos"/>
                <a:cs typeface="Aptos"/>
              </a:rPr>
              <a:t>kanji N2: 349</a:t>
            </a:r>
          </a:p>
        </p:txBody>
      </p:sp>
      <p:sp>
        <p:nvSpPr>
          <p:cNvPr id="36" name="pill-word N5: 287">
            <a:extLst>
              <a:ext uri="{FF2B5EF4-FFF2-40B4-BE49-F238E27FC236}">
                <ns2:creationId id="{5F33EE19-B688-4F2F-AEA2-51EB877EA6CE}"/>
              </a:ext>
            </a:extLst>
          </p:cNvPr>
          <p:cNvSpPr>
            <a:spLocks noGrp="1"/>
          </p:cNvSpPr>
          <p:nvPr/>
        </p:nvSpPr>
        <p:spPr>
          <a:xfrm>
            <a:off x="6553200" y="5010150"/>
            <a:ext cx="1714500" cy="323850"/>
          </a:xfrm>
          <a:prstGeom prst="rect">
            <a:avLst/>
          </a:prstGeom>
          <a:solidFill>
            <a:srgbClr val="E8F5F4"/>
          </a:solidFill>
          <a:ln w="11430">
            <a:solidFill>
              <a:srgbClr val="007F7A"/>
            </a:solidFill>
            <a:prstDash val="solid"/>
          </a:ln>
        </p:spPr>
      </p:sp>
      <p:sp>
        <p:nvSpPr>
          <p:cNvPr id="37" name="pill-text-word N5: 287">
            <a:extLst>
              <a:ext uri="{FF2B5EF4-FFF2-40B4-BE49-F238E27FC236}">
                <ns2:creationId id="{67401D4D-C4FE-43FE-8BC6-B40875B9C3B1}"/>
              </a:ext>
            </a:extLst>
          </p:cNvPr>
          <p:cNvSpPr>
            <a:spLocks noGrp="1"/>
          </p:cNvSpPr>
          <p:nvPr/>
        </p:nvSpPr>
        <p:spPr>
          <a:xfrm>
            <a:off x="6667500" y="50958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07F7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7F7A"/>
                </a:solidFill>
                <a:latin typeface="Aptos"/>
                <a:ea typeface="Aptos"/>
                <a:cs typeface="Aptos"/>
              </a:rPr>
              <a:t>word N5: 287</a:t>
            </a:r>
          </a:p>
        </p:txBody>
      </p:sp>
      <p:sp>
        <p:nvSpPr>
          <p:cNvPr id="38" name="pill-word N4: 700">
            <a:extLst>
              <a:ext uri="{FF2B5EF4-FFF2-40B4-BE49-F238E27FC236}">
                <ns2:creationId id="{7A241A1C-F80F-43E5-9CD8-00BD4174FC65}"/>
              </a:ext>
            </a:extLst>
          </p:cNvPr>
          <p:cNvSpPr>
            <a:spLocks noGrp="1"/>
          </p:cNvSpPr>
          <p:nvPr/>
        </p:nvSpPr>
        <p:spPr>
          <a:xfrm>
            <a:off x="8648700" y="5010150"/>
            <a:ext cx="1714500" cy="323850"/>
          </a:xfrm>
          <a:prstGeom prst="rect">
            <a:avLst/>
          </a:prstGeom>
          <a:solidFill>
            <a:srgbClr val="E8F5F4"/>
          </a:solidFill>
          <a:ln w="11430">
            <a:solidFill>
              <a:srgbClr val="007F7A"/>
            </a:solidFill>
            <a:prstDash val="solid"/>
          </a:ln>
        </p:spPr>
      </p:sp>
      <p:sp>
        <p:nvSpPr>
          <p:cNvPr id="39" name="pill-text-word N4: 700">
            <a:extLst>
              <a:ext uri="{FF2B5EF4-FFF2-40B4-BE49-F238E27FC236}">
                <ns2:creationId id="{EC039BC8-F90E-4D81-8AC8-C9AA7B900967}"/>
              </a:ext>
            </a:extLst>
          </p:cNvPr>
          <p:cNvSpPr>
            <a:spLocks noGrp="1"/>
          </p:cNvSpPr>
          <p:nvPr/>
        </p:nvSpPr>
        <p:spPr>
          <a:xfrm>
            <a:off x="8763000" y="50958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07F7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7F7A"/>
                </a:solidFill>
                <a:latin typeface="Aptos"/>
                <a:ea typeface="Aptos"/>
                <a:cs typeface="Aptos"/>
              </a:rPr>
              <a:t>word N4: 700</a:t>
            </a:r>
          </a:p>
        </p:txBody>
      </p:sp>
      <p:sp>
        <p:nvSpPr>
          <p:cNvPr id="40" name="receipt-rule">
            <a:extLst>
              <a:ext uri="{FF2B5EF4-FFF2-40B4-BE49-F238E27FC236}">
                <ns2:creationId id="{713E61B9-F8B3-4C5B-A6AD-366DCF1854E7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If a scope is missing these receipts, the deck must say it is not certified yet.</a:t>
            </a:r>
          </a:p>
        </p:txBody>
      </p:sp>
      <p:sp>
        <p:nvSpPr>
          <p:cNvPr id="41" name="source-Source: npm ru">
            <a:extLst>
              <a:ext uri="{FF2B5EF4-FFF2-40B4-BE49-F238E27FC236}">
                <ns2:creationId id="{1073C738-DABB-4C2C-AD3B-A2B455C580C3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952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D78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7884"/>
                </a:solidFill>
                <a:latin typeface="Aptos"/>
                <a:ea typeface="Aptos"/>
                <a:cs typeface="Aptos"/>
              </a:rPr>
              <a:t>Source: npm run data:obsidian:proof:validate.</a:t>
            </a:r>
          </a:p>
        </p:txBody>
      </p:sp>
    </p:spTree>
    <p:extLst>
      <p:ext uri="{BB962C8B-B14F-4D97-AF65-F5344CB8AC3E}">
        <ns3:creationId val="490658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7">
            <a:extLst xmlns:a="http://schemas.openxmlformats.org/drawingml/2006/main">
              <a:ext uri="{FF2B5EF4-FFF2-40B4-BE49-F238E27FC236}">
                <a16:creationId xmlns:a16="http://schemas.microsoft.com/office/drawing/2014/main" id="{49612D46-C186-4D6D-8DAF-E4964772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7">
            <a:extLst xmlns:a="http://schemas.openxmlformats.org/drawingml/2006/main">
              <a:ext uri="{FF2B5EF4-FFF2-40B4-BE49-F238E27FC236}">
                <a16:creationId xmlns:a16="http://schemas.microsoft.com/office/drawing/2014/main" id="{87AE9753-AB61-40E1-8DE0-3C074495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F9D"/>
          </a:solidFill>
          <a:ln xmlns:a="http://schemas.openxmlformats.org/drawingml/2006/main" w="0">
            <a:solidFill>
              <a:srgbClr val="3A6F9D"/>
            </a:solidFill>
            <a:prstDash val="solid"/>
          </a:ln>
        </p:spPr>
      </p:sp>
      <p:sp>
        <p:nvSpPr>
          <p:cNvPr id="3" name="section-7">
            <a:extLst xmlns:a="http://schemas.openxmlformats.org/drawingml/2006/main">
              <a:ext uri="{FF2B5EF4-FFF2-40B4-BE49-F238E27FC236}">
                <a16:creationId xmlns:a16="http://schemas.microsoft.com/office/drawing/2014/main" id="{AD0A004D-0910-442D-9754-8D0D096D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F9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F9D"/>
                </a:solidFill>
                <a:latin typeface="Aptos"/>
                <a:ea typeface="Aptos"/>
                <a:cs typeface="Aptos"/>
              </a:rPr>
              <a:t>ARCHITECTURE DEPTH</a:t>
            </a:r>
          </a:p>
        </p:txBody>
      </p:sp>
      <p:sp>
        <p:nvSpPr>
          <p:cNvPr id="4" name="rule-7">
            <a:extLst xmlns:a="http://schemas.openxmlformats.org/drawingml/2006/main">
              <a:ext uri="{FF2B5EF4-FFF2-40B4-BE49-F238E27FC236}">
                <a16:creationId xmlns:a16="http://schemas.microsoft.com/office/drawing/2014/main" id="{D677266E-F93C-4BC4-8D31-65FBEBB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27DDFD26-1285-43CA-B99B-835A395E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title-Under the decks is a gover">
            <a:extLst xmlns:a="http://schemas.openxmlformats.org/drawingml/2006/main">
              <a:ext uri="{FF2B5EF4-FFF2-40B4-BE49-F238E27FC236}">
                <a16:creationId xmlns:a16="http://schemas.microsoft.com/office/drawing/2014/main" id="{ECEC1C2B-0225-4286-A3D2-8838649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Under the decks is a governed build system.</a:t>
            </a:r>
          </a:p>
        </p:txBody>
      </p:sp>
      <p:sp>
        <p:nvSpPr>
          <p:cNvPr id="7" name="sub-Here is the real shape of ">
            <a:extLst xmlns:a="http://schemas.openxmlformats.org/drawingml/2006/main">
              <a:ext uri="{FF2B5EF4-FFF2-40B4-BE49-F238E27FC236}">
                <a16:creationId xmlns:a16="http://schemas.microsoft.com/office/drawing/2014/main" id="{9854F3D9-87F0-44FC-B553-0B17A130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Here is the real shape of the program: tracked contracts, deterministic loaders, gates, generated artifacts, and proof records all stay in separate layers.</a:t>
            </a:r>
          </a:p>
        </p:txBody>
      </p:sp>
      <p:sp>
        <p:nvSpPr>
          <p:cNvPr id="8" name="arch-Contracts">
            <a:extLst xmlns:a="http://schemas.openxmlformats.org/drawingml/2006/main">
              <a:ext uri="{FF2B5EF4-FFF2-40B4-BE49-F238E27FC236}">
                <a16:creationId xmlns:a16="http://schemas.microsoft.com/office/drawing/2014/main" id="{1ACE4B46-6B8D-4998-A7FC-E4B4E21E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866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7F7A"/>
            </a:solidFill>
            <a:prstDash val="solid"/>
          </a:ln>
        </p:spPr>
      </p:sp>
      <p:sp>
        <p:nvSpPr>
          <p:cNvPr id="9" name="arch-top-Contracts">
            <a:extLst xmlns:a="http://schemas.openxmlformats.org/drawingml/2006/main">
              <a:ext uri="{FF2B5EF4-FFF2-40B4-BE49-F238E27FC236}">
                <a16:creationId xmlns:a16="http://schemas.microsoft.com/office/drawing/2014/main" id="{D339F8B7-779C-4B73-8474-64DAA41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solidFill>
              <a:srgbClr val="007F7A"/>
            </a:solidFill>
            <a:prstDash val="solid"/>
          </a:ln>
        </p:spPr>
      </p:sp>
      <p:sp>
        <p:nvSpPr>
          <p:cNvPr id="10" name="arch-title-Contracts">
            <a:extLst xmlns:a="http://schemas.openxmlformats.org/drawingml/2006/main">
              <a:ext uri="{FF2B5EF4-FFF2-40B4-BE49-F238E27FC236}">
                <a16:creationId xmlns:a16="http://schemas.microsoft.com/office/drawing/2014/main" id="{B12E18E8-32FD-4D57-B1EB-30057AC5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Contracts</a:t>
            </a:r>
          </a:p>
        </p:txBody>
      </p:sp>
      <p:sp>
        <p:nvSpPr>
          <p:cNvPr id="11" name="arch-path-Contracts">
            <a:extLst xmlns:a="http://schemas.openxmlformats.org/drawingml/2006/main">
              <a:ext uri="{FF2B5EF4-FFF2-40B4-BE49-F238E27FC236}">
                <a16:creationId xmlns:a16="http://schemas.microsoft.com/office/drawing/2014/main" id="{D21D060A-590F-4BC8-925D-B0A05797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F7A"/>
                </a:solidFill>
                <a:latin typeface="Aptos"/>
                <a:ea typeface="Aptos"/>
                <a:cs typeface="Aptos"/>
              </a:rPr>
              <a:t>templates/*.json</a:t>
            </a:r>
          </a:p>
        </p:txBody>
      </p:sp>
      <p:sp>
        <p:nvSpPr>
          <p:cNvPr id="12" name="arch-body-Contracts">
            <a:extLst xmlns:a="http://schemas.openxmlformats.org/drawingml/2006/main">
              <a:ext uri="{FF2B5EF4-FFF2-40B4-BE49-F238E27FC236}">
                <a16:creationId xmlns:a16="http://schemas.microsoft.com/office/drawing/2014/main" id="{C4171413-B6CC-403B-9E59-D447116F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JLPT levels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word eligibility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media policy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review templates</a:t>
            </a:r>
          </a:p>
        </p:txBody>
      </p:sp>
      <p:sp>
        <p:nvSpPr>
          <p:cNvPr id="13" name="arrow-256-398">
            <a:extLst xmlns:a="http://schemas.openxmlformats.org/drawingml/2006/main">
              <a:ext uri="{FF2B5EF4-FFF2-40B4-BE49-F238E27FC236}">
                <a16:creationId xmlns:a16="http://schemas.microsoft.com/office/drawing/2014/main" id="{197995F5-4E28-4FBB-8D79-A10B92D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90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arch-Loaders">
            <a:extLst xmlns:a="http://schemas.openxmlformats.org/drawingml/2006/main">
              <a:ext uri="{FF2B5EF4-FFF2-40B4-BE49-F238E27FC236}">
                <a16:creationId xmlns:a16="http://schemas.microsoft.com/office/drawing/2014/main" id="{BD9EB07C-5EDE-4650-85B4-8BCC7A2D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38450"/>
            <a:ext cx="1866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9516"/>
            </a:solidFill>
            <a:prstDash val="solid"/>
          </a:ln>
        </p:spPr>
      </p:sp>
      <p:sp>
        <p:nvSpPr>
          <p:cNvPr id="15" name="arch-top-Loaders">
            <a:extLst xmlns:a="http://schemas.openxmlformats.org/drawingml/2006/main">
              <a:ext uri="{FF2B5EF4-FFF2-40B4-BE49-F238E27FC236}">
                <a16:creationId xmlns:a16="http://schemas.microsoft.com/office/drawing/2014/main" id="{5E2819A2-0A59-4D84-A92B-372A5595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3845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6"/>
          </a:solidFill>
          <a:ln xmlns:a="http://schemas.openxmlformats.org/drawingml/2006/main" w="0">
            <a:solidFill>
              <a:srgbClr val="D79516"/>
            </a:solidFill>
            <a:prstDash val="solid"/>
          </a:ln>
        </p:spPr>
      </p:sp>
      <p:sp>
        <p:nvSpPr>
          <p:cNvPr id="16" name="arch-title-Loaders">
            <a:extLst xmlns:a="http://schemas.openxmlformats.org/drawingml/2006/main">
              <a:ext uri="{FF2B5EF4-FFF2-40B4-BE49-F238E27FC236}">
                <a16:creationId xmlns:a16="http://schemas.microsoft.com/office/drawing/2014/main" id="{D8A317A1-A345-43A4-A3A1-D6262912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Loaders</a:t>
            </a:r>
          </a:p>
        </p:txBody>
      </p:sp>
      <p:sp>
        <p:nvSpPr>
          <p:cNvPr id="17" name="arch-path-Loaders">
            <a:extLst xmlns:a="http://schemas.openxmlformats.org/drawingml/2006/main">
              <a:ext uri="{FF2B5EF4-FFF2-40B4-BE49-F238E27FC236}">
                <a16:creationId xmlns:a16="http://schemas.microsoft.com/office/drawing/2014/main" id="{0124FBF7-B133-4566-9996-F56B7833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861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95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9516"/>
                </a:solidFill>
                <a:latin typeface="Aptos"/>
                <a:ea typeface="Aptos"/>
                <a:cs typeface="Aptos"/>
              </a:rPr>
              <a:t>src/datasets</a:t>
            </a:r>
          </a:p>
        </p:txBody>
      </p:sp>
      <p:sp>
        <p:nvSpPr>
          <p:cNvPr id="18" name="arch-body-Loaders">
            <a:extLst xmlns:a="http://schemas.openxmlformats.org/drawingml/2006/main">
              <a:ext uri="{FF2B5EF4-FFF2-40B4-BE49-F238E27FC236}">
                <a16:creationId xmlns:a16="http://schemas.microsoft.com/office/drawing/2014/main" id="{EB63BCF2-6397-4CA0-A2D3-3348EF6D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671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merge per-level files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reject stale overlays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bind identities</a:t>
            </a:r>
          </a:p>
        </p:txBody>
      </p:sp>
      <p:sp>
        <p:nvSpPr>
          <p:cNvPr id="19" name="arrow-494-398">
            <a:extLst xmlns:a="http://schemas.openxmlformats.org/drawingml/2006/main">
              <a:ext uri="{FF2B5EF4-FFF2-40B4-BE49-F238E27FC236}">
                <a16:creationId xmlns:a16="http://schemas.microsoft.com/office/drawing/2014/main" id="{9DF2CB01-D8EB-4DF6-9567-B0B03002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90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arch-Gates">
            <a:extLst xmlns:a="http://schemas.openxmlformats.org/drawingml/2006/main">
              <a:ext uri="{FF2B5EF4-FFF2-40B4-BE49-F238E27FC236}">
                <a16:creationId xmlns:a16="http://schemas.microsoft.com/office/drawing/2014/main" id="{45BCDE65-3F2D-448F-BBEC-8F35838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38450"/>
            <a:ext cx="1866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63A32"/>
            </a:solidFill>
            <a:prstDash val="solid"/>
          </a:ln>
        </p:spPr>
      </p:sp>
      <p:sp>
        <p:nvSpPr>
          <p:cNvPr id="21" name="arch-top-Gates">
            <a:extLst xmlns:a="http://schemas.openxmlformats.org/drawingml/2006/main">
              <a:ext uri="{FF2B5EF4-FFF2-40B4-BE49-F238E27FC236}">
                <a16:creationId xmlns:a16="http://schemas.microsoft.com/office/drawing/2014/main" id="{3D04EE7D-EBF1-4F53-B7F6-B4217ED8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3845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32"/>
          </a:solidFill>
          <a:ln xmlns:a="http://schemas.openxmlformats.org/drawingml/2006/main" w="0">
            <a:solidFill>
              <a:srgbClr val="B63A32"/>
            </a:solidFill>
            <a:prstDash val="solid"/>
          </a:ln>
        </p:spPr>
      </p:sp>
      <p:sp>
        <p:nvSpPr>
          <p:cNvPr id="22" name="arch-title-Gates">
            <a:extLst xmlns:a="http://schemas.openxmlformats.org/drawingml/2006/main">
              <a:ext uri="{FF2B5EF4-FFF2-40B4-BE49-F238E27FC236}">
                <a16:creationId xmlns:a16="http://schemas.microsoft.com/office/drawing/2014/main" id="{AAB1F3D5-3CB7-4237-B065-334FF9F3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Gates</a:t>
            </a:r>
          </a:p>
        </p:txBody>
      </p:sp>
      <p:sp>
        <p:nvSpPr>
          <p:cNvPr id="23" name="arch-path-Gates">
            <a:extLst xmlns:a="http://schemas.openxmlformats.org/drawingml/2006/main">
              <a:ext uri="{FF2B5EF4-FFF2-40B4-BE49-F238E27FC236}">
                <a16:creationId xmlns:a16="http://schemas.microsoft.com/office/drawing/2014/main" id="{A6C7CBB8-504C-4924-BA9B-ED793A1A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3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3A32"/>
                </a:solidFill>
                <a:latin typeface="Aptos"/>
                <a:ea typeface="Aptos"/>
                <a:cs typeface="Aptos"/>
              </a:rPr>
              <a:t>npm scripts</a:t>
            </a:r>
          </a:p>
        </p:txBody>
      </p:sp>
      <p:sp>
        <p:nvSpPr>
          <p:cNvPr id="24" name="arch-body-Gates">
            <a:extLst xmlns:a="http://schemas.openxmlformats.org/drawingml/2006/main">
              <a:ext uri="{FF2B5EF4-FFF2-40B4-BE49-F238E27FC236}">
                <a16:creationId xmlns:a16="http://schemas.microsoft.com/office/drawing/2014/main" id="{A53A6EF0-1CB0-4024-B181-BBC72750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ready checks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review lanes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proof validation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release trust</a:t>
            </a:r>
          </a:p>
        </p:txBody>
      </p:sp>
      <p:sp>
        <p:nvSpPr>
          <p:cNvPr id="25" name="arrow-732-398">
            <a:extLst xmlns:a="http://schemas.openxmlformats.org/drawingml/2006/main">
              <a:ext uri="{FF2B5EF4-FFF2-40B4-BE49-F238E27FC236}">
                <a16:creationId xmlns:a16="http://schemas.microsoft.com/office/drawing/2014/main" id="{A29ADAD7-06E0-4E05-9E4E-19D60537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90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arch-Artifacts">
            <a:extLst xmlns:a="http://schemas.openxmlformats.org/drawingml/2006/main">
              <a:ext uri="{FF2B5EF4-FFF2-40B4-BE49-F238E27FC236}">
                <a16:creationId xmlns:a16="http://schemas.microsoft.com/office/drawing/2014/main" id="{47B6A3D9-3011-4D26-ABCB-73AB27FD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38450"/>
            <a:ext cx="1866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A6F9D"/>
            </a:solidFill>
            <a:prstDash val="solid"/>
          </a:ln>
        </p:spPr>
      </p:sp>
      <p:sp>
        <p:nvSpPr>
          <p:cNvPr id="27" name="arch-top-Artifacts">
            <a:extLst xmlns:a="http://schemas.openxmlformats.org/drawingml/2006/main">
              <a:ext uri="{FF2B5EF4-FFF2-40B4-BE49-F238E27FC236}">
                <a16:creationId xmlns:a16="http://schemas.microsoft.com/office/drawing/2014/main" id="{51D7C8A5-940A-4E25-BC8F-D593D145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3845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F9D"/>
          </a:solidFill>
          <a:ln xmlns:a="http://schemas.openxmlformats.org/drawingml/2006/main" w="0">
            <a:solidFill>
              <a:srgbClr val="3A6F9D"/>
            </a:solidFill>
            <a:prstDash val="solid"/>
          </a:ln>
        </p:spPr>
      </p:sp>
      <p:sp>
        <p:nvSpPr>
          <p:cNvPr id="28" name="arch-title-Artifacts">
            <a:extLst xmlns:a="http://schemas.openxmlformats.org/drawingml/2006/main">
              <a:ext uri="{FF2B5EF4-FFF2-40B4-BE49-F238E27FC236}">
                <a16:creationId xmlns:a16="http://schemas.microsoft.com/office/drawing/2014/main" id="{06A78973-73F3-4EA8-93ED-2CD8F674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9" name="arch-path-Artifacts">
            <a:extLst xmlns:a="http://schemas.openxmlformats.org/drawingml/2006/main">
              <a:ext uri="{FF2B5EF4-FFF2-40B4-BE49-F238E27FC236}">
                <a16:creationId xmlns:a16="http://schemas.microsoft.com/office/drawing/2014/main" id="{E9078B93-65F6-412C-835C-BEFF2F7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861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6F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A6F9D"/>
                </a:solidFill>
                <a:latin typeface="Aptos"/>
                <a:ea typeface="Aptos"/>
                <a:cs typeface="Aptos"/>
              </a:rPr>
              <a:t>out/ + outputs/</a:t>
            </a:r>
          </a:p>
        </p:txBody>
      </p:sp>
      <p:sp>
        <p:nvSpPr>
          <p:cNvPr id="30" name="arch-body-Artifacts">
            <a:extLst xmlns:a="http://schemas.openxmlformats.org/drawingml/2006/main">
              <a:ext uri="{FF2B5EF4-FFF2-40B4-BE49-F238E27FC236}">
                <a16:creationId xmlns:a16="http://schemas.microsoft.com/office/drawing/2014/main" id="{0D81A37C-73F0-4A8F-A246-B36374F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671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TSV/APKG exports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reports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workbooks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reviewer packets</a:t>
            </a:r>
          </a:p>
        </p:txBody>
      </p:sp>
      <p:sp>
        <p:nvSpPr>
          <p:cNvPr id="31" name="arrow-970-398">
            <a:extLst xmlns:a="http://schemas.openxmlformats.org/drawingml/2006/main">
              <a:ext uri="{FF2B5EF4-FFF2-40B4-BE49-F238E27FC236}">
                <a16:creationId xmlns:a16="http://schemas.microsoft.com/office/drawing/2014/main" id="{31C0A660-1803-4845-B202-076E80C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arch-Proof">
            <a:extLst xmlns:a="http://schemas.openxmlformats.org/drawingml/2006/main">
              <a:ext uri="{FF2B5EF4-FFF2-40B4-BE49-F238E27FC236}">
                <a16:creationId xmlns:a16="http://schemas.microsoft.com/office/drawing/2014/main" id="{8587E87B-52B9-49CC-BA84-C3BC437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8450"/>
            <a:ext cx="1866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0507A"/>
            </a:solidFill>
            <a:prstDash val="solid"/>
          </a:ln>
        </p:spPr>
      </p:sp>
      <p:sp>
        <p:nvSpPr>
          <p:cNvPr id="33" name="arch-top-Proof">
            <a:extLst xmlns:a="http://schemas.openxmlformats.org/drawingml/2006/main">
              <a:ext uri="{FF2B5EF4-FFF2-40B4-BE49-F238E27FC236}">
                <a16:creationId xmlns:a16="http://schemas.microsoft.com/office/drawing/2014/main" id="{01CDE13C-4EDA-4C5A-91D2-66739D3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845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7A"/>
          </a:solidFill>
          <a:ln xmlns:a="http://schemas.openxmlformats.org/drawingml/2006/main" w="0">
            <a:solidFill>
              <a:srgbClr val="70507A"/>
            </a:solidFill>
            <a:prstDash val="solid"/>
          </a:ln>
        </p:spPr>
      </p:sp>
      <p:sp>
        <p:nvSpPr>
          <p:cNvPr id="34" name="arch-title-Proof">
            <a:extLst xmlns:a="http://schemas.openxmlformats.org/drawingml/2006/main">
              <a:ext uri="{FF2B5EF4-FFF2-40B4-BE49-F238E27FC236}">
                <a16:creationId xmlns:a16="http://schemas.microsoft.com/office/drawing/2014/main" id="{575880DD-E13B-4D03-AFC2-3264957A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35" name="arch-path-Proof">
            <a:extLst xmlns:a="http://schemas.openxmlformats.org/drawingml/2006/main">
              <a:ext uri="{FF2B5EF4-FFF2-40B4-BE49-F238E27FC236}">
                <a16:creationId xmlns:a16="http://schemas.microsoft.com/office/drawing/2014/main" id="{C762B04E-AB22-40F5-B09B-AE849C92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861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5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0507A"/>
                </a:solidFill>
                <a:latin typeface="Aptos"/>
                <a:ea typeface="Aptos"/>
                <a:cs typeface="Aptos"/>
              </a:rPr>
              <a:t>JSONL ledgers</a:t>
            </a:r>
          </a:p>
        </p:txBody>
      </p:sp>
      <p:sp>
        <p:nvSpPr>
          <p:cNvPr id="36" name="arch-body-Proof">
            <a:extLst xmlns:a="http://schemas.openxmlformats.org/drawingml/2006/main">
              <a:ext uri="{FF2B5EF4-FFF2-40B4-BE49-F238E27FC236}">
                <a16:creationId xmlns:a16="http://schemas.microsoft.com/office/drawing/2014/main" id="{7753B9DF-5DD9-485D-937E-CEB9273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671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card receipts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scoped locks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status commands</a:t>
            </a:r>
          </a:p>
        </p:txBody>
      </p:sp>
      <p:sp>
        <p:nvSpPr>
          <p:cNvPr id="37" name="architecture-rule">
            <a:extLst xmlns:a="http://schemas.openxmlformats.org/drawingml/2006/main">
              <a:ext uri="{FF2B5EF4-FFF2-40B4-BE49-F238E27FC236}">
                <a16:creationId xmlns:a16="http://schemas.microsoft.com/office/drawing/2014/main" id="{22C0D62A-E183-4A31-BFCE-976E8A24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important design choice: generated output can be reproduced, checked, and rejected; it is not treated as source truth.</a:t>
            </a:r>
          </a:p>
        </p:txBody>
      </p:sp>
      <p:sp>
        <p:nvSpPr>
          <p:cNvPr id="38" name="source-Sources: READM">
            <a:extLst xmlns:a="http://schemas.openxmlformats.org/drawingml/2006/main">
              <a:ext uri="{FF2B5EF4-FFF2-40B4-BE49-F238E27FC236}">
                <a16:creationId xmlns:a16="http://schemas.microsoft.com/office/drawing/2014/main" id="{58526A19-A6CC-4B8A-9361-BC8D4254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D78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7884"/>
                </a:solidFill>
                <a:latin typeface="Aptos"/>
                <a:ea typeface="Aptos"/>
                <a:cs typeface="Aptos"/>
              </a:rPr>
              <a:t>Sources: README; package.json scripts; wordStudyData provenance; perf:memory:matrix.</a:t>
            </a:r>
          </a:p>
        </p:txBody>
      </p:sp>
    </p:spTree>
    <p:extLst>
      <p:ext uri="{BB962C8B-B14F-4D97-AF65-F5344CB8AC3E}">
        <p14:creationId xmlns:p14="http://schemas.microsoft.com/office/powerpoint/2010/main" val="1548597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8">
            <a:extLst xmlns:a="http://schemas.openxmlformats.org/drawingml/2006/main">
              <a:ext uri="{FF2B5EF4-FFF2-40B4-BE49-F238E27FC236}">
                <a16:creationId xmlns:a16="http://schemas.microsoft.com/office/drawing/2014/main" id="{068B9A65-F663-491B-83C5-E5D930E8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8">
            <a:extLst xmlns:a="http://schemas.openxmlformats.org/drawingml/2006/main">
              <a:ext uri="{FF2B5EF4-FFF2-40B4-BE49-F238E27FC236}">
                <a16:creationId xmlns:a16="http://schemas.microsoft.com/office/drawing/2014/main" id="{C24DE52C-D02A-458F-9C7A-8D34A87E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32"/>
          </a:solidFill>
          <a:ln xmlns:a="http://schemas.openxmlformats.org/drawingml/2006/main" w="0">
            <a:solidFill>
              <a:srgbClr val="B63A32"/>
            </a:solidFill>
            <a:prstDash val="solid"/>
          </a:ln>
        </p:spPr>
      </p:sp>
      <p:sp>
        <p:nvSpPr>
          <p:cNvPr id="3" name="section-8">
            <a:extLst xmlns:a="http://schemas.openxmlformats.org/drawingml/2006/main">
              <a:ext uri="{FF2B5EF4-FFF2-40B4-BE49-F238E27FC236}">
                <a16:creationId xmlns:a16="http://schemas.microsoft.com/office/drawing/2014/main" id="{FC4FC199-AAA8-4F44-9321-F99A11F2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63A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63A32"/>
                </a:solidFill>
                <a:latin typeface="Aptos"/>
                <a:ea typeface="Aptos"/>
                <a:cs typeface="Aptos"/>
              </a:rPr>
              <a:t>REVIEWER ROUTE</a:t>
            </a:r>
          </a:p>
        </p:txBody>
      </p:sp>
      <p:sp>
        <p:nvSpPr>
          <p:cNvPr id="4" name="rule-8">
            <a:extLst xmlns:a="http://schemas.openxmlformats.org/drawingml/2006/main">
              <a:ext uri="{FF2B5EF4-FFF2-40B4-BE49-F238E27FC236}">
                <a16:creationId xmlns:a16="http://schemas.microsoft.com/office/drawing/2014/main" id="{B7E29698-5B4F-4E4B-B3DB-5FAA3041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7E2D928D-E9C8-4555-8D68-9D3E3665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itle-How to verify the project ">
            <a:extLst xmlns:a="http://schemas.openxmlformats.org/drawingml/2006/main">
              <a:ext uri="{FF2B5EF4-FFF2-40B4-BE49-F238E27FC236}">
                <a16:creationId xmlns:a16="http://schemas.microsoft.com/office/drawing/2014/main" id="{8287022B-BA3A-4EC5-99F3-530D2FB8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How to verify the project like an engineer.</a:t>
            </a:r>
          </a:p>
        </p:txBody>
      </p:sp>
      <p:sp>
        <p:nvSpPr>
          <p:cNvPr id="7" name="sub-The program is built to be">
            <a:extLst xmlns:a="http://schemas.openxmlformats.org/drawingml/2006/main">
              <a:ext uri="{FF2B5EF4-FFF2-40B4-BE49-F238E27FC236}">
                <a16:creationId xmlns:a16="http://schemas.microsoft.com/office/drawing/2014/main" id="{507B2B74-8A89-44E6-BE07-D18C91A4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923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The program is built to be auditable. These commands reproduce the main claims instead of asking a reviewer to rely on presentation copy.</a:t>
            </a:r>
          </a:p>
        </p:txBody>
      </p:sp>
      <p:sp>
        <p:nvSpPr>
          <p:cNvPr id="8" name="row-Overall state">
            <a:extLst xmlns:a="http://schemas.openxmlformats.org/drawingml/2006/main">
              <a:ext uri="{FF2B5EF4-FFF2-40B4-BE49-F238E27FC236}">
                <a16:creationId xmlns:a16="http://schemas.microsoft.com/office/drawing/2014/main" id="{D91A5B06-9C14-48CF-9159-96146DD6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9" name="row-accent-Overall state">
            <a:extLst xmlns:a="http://schemas.openxmlformats.org/drawingml/2006/main">
              <a:ext uri="{FF2B5EF4-FFF2-40B4-BE49-F238E27FC236}">
                <a16:creationId xmlns:a16="http://schemas.microsoft.com/office/drawing/2014/main" id="{7DF65E77-459C-4838-ADE2-ED994531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solidFill>
              <a:srgbClr val="007F7A"/>
            </a:solidFill>
            <a:prstDash val="solid"/>
          </a:ln>
        </p:spPr>
      </p:sp>
      <p:sp>
        <p:nvSpPr>
          <p:cNvPr id="10" name="row-left-Overall state">
            <a:extLst xmlns:a="http://schemas.openxmlformats.org/drawingml/2006/main">
              <a:ext uri="{FF2B5EF4-FFF2-40B4-BE49-F238E27FC236}">
                <a16:creationId xmlns:a16="http://schemas.microsoft.com/office/drawing/2014/main" id="{9D9C6BCD-CD47-4D31-ACE2-BE1A4B4B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Overall state</a:t>
            </a:r>
          </a:p>
        </p:txBody>
      </p:sp>
      <p:sp>
        <p:nvSpPr>
          <p:cNvPr id="11" name="row-right-Overall state">
            <a:extLst xmlns:a="http://schemas.openxmlformats.org/drawingml/2006/main">
              <a:ext uri="{FF2B5EF4-FFF2-40B4-BE49-F238E27FC236}">
                <a16:creationId xmlns:a16="http://schemas.microsoft.com/office/drawing/2014/main" id="{F20FDD1F-4BA2-4A4E-81A1-B658FC03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npm run deck:closeout -- --levels=5,4,3,2,1</a:t>
            </a:r>
          </a:p>
        </p:txBody>
      </p:sp>
      <p:sp>
        <p:nvSpPr>
          <p:cNvPr id="12" name="row-Certification receipts">
            <a:extLst xmlns:a="http://schemas.openxmlformats.org/drawingml/2006/main">
              <a:ext uri="{FF2B5EF4-FFF2-40B4-BE49-F238E27FC236}">
                <a16:creationId xmlns:a16="http://schemas.microsoft.com/office/drawing/2014/main" id="{0075F5D3-6EC6-4AF2-B000-F454325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13" name="row-accent-Certification receipts">
            <a:extLst xmlns:a="http://schemas.openxmlformats.org/drawingml/2006/main">
              <a:ext uri="{FF2B5EF4-FFF2-40B4-BE49-F238E27FC236}">
                <a16:creationId xmlns:a16="http://schemas.microsoft.com/office/drawing/2014/main" id="{6B2FE21F-80E7-4C50-ABE9-4975ABBE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2"/>
          </a:solidFill>
          <a:ln xmlns:a="http://schemas.openxmlformats.org/drawingml/2006/main" w="0">
            <a:solidFill>
              <a:srgbClr val="2F7D52"/>
            </a:solidFill>
            <a:prstDash val="solid"/>
          </a:ln>
        </p:spPr>
      </p:sp>
      <p:sp>
        <p:nvSpPr>
          <p:cNvPr id="14" name="row-left-Certification receipts">
            <a:extLst xmlns:a="http://schemas.openxmlformats.org/drawingml/2006/main">
              <a:ext uri="{FF2B5EF4-FFF2-40B4-BE49-F238E27FC236}">
                <a16:creationId xmlns:a16="http://schemas.microsoft.com/office/drawing/2014/main" id="{3011778A-97BF-4A43-B31B-D4BCDEF8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Certification receipts</a:t>
            </a:r>
          </a:p>
        </p:txBody>
      </p:sp>
      <p:sp>
        <p:nvSpPr>
          <p:cNvPr id="15" name="row-right-Certification receipts">
            <a:extLst xmlns:a="http://schemas.openxmlformats.org/drawingml/2006/main">
              <a:ext uri="{FF2B5EF4-FFF2-40B4-BE49-F238E27FC236}">
                <a16:creationId xmlns:a16="http://schemas.microsoft.com/office/drawing/2014/main" id="{639191F9-7A84-4D94-92D6-47D0F64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09925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npm run data:obsidian:proof:validate</a:t>
            </a:r>
          </a:p>
        </p:txBody>
      </p:sp>
      <p:sp>
        <p:nvSpPr>
          <p:cNvPr id="16" name="row-Active word work">
            <a:extLst xmlns:a="http://schemas.openxmlformats.org/drawingml/2006/main">
              <a:ext uri="{FF2B5EF4-FFF2-40B4-BE49-F238E27FC236}">
                <a16:creationId xmlns:a16="http://schemas.microsoft.com/office/drawing/2014/main" id="{786D67E1-D8DD-4BB0-990F-391C2AB0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17" name="row-accent-Active word work">
            <a:extLst xmlns:a="http://schemas.openxmlformats.org/drawingml/2006/main">
              <a:ext uri="{FF2B5EF4-FFF2-40B4-BE49-F238E27FC236}">
                <a16:creationId xmlns:a16="http://schemas.microsoft.com/office/drawing/2014/main" id="{2D343BD9-3765-4C83-89CE-51710CFD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6"/>
          </a:solidFill>
          <a:ln xmlns:a="http://schemas.openxmlformats.org/drawingml/2006/main" w="0">
            <a:solidFill>
              <a:srgbClr val="D79516"/>
            </a:solidFill>
            <a:prstDash val="solid"/>
          </a:ln>
        </p:spPr>
      </p:sp>
      <p:sp>
        <p:nvSpPr>
          <p:cNvPr id="18" name="row-left-Active word work">
            <a:extLst xmlns:a="http://schemas.openxmlformats.org/drawingml/2006/main">
              <a:ext uri="{FF2B5EF4-FFF2-40B4-BE49-F238E27FC236}">
                <a16:creationId xmlns:a16="http://schemas.microsoft.com/office/drawing/2014/main" id="{309700A8-3371-4623-A2B5-096127FF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Active word work</a:t>
            </a:r>
          </a:p>
        </p:txBody>
      </p:sp>
      <p:sp>
        <p:nvSpPr>
          <p:cNvPr id="19" name="row-right-Active word work">
            <a:extLst xmlns:a="http://schemas.openxmlformats.org/drawingml/2006/main">
              <a:ext uri="{FF2B5EF4-FFF2-40B4-BE49-F238E27FC236}">
                <a16:creationId xmlns:a16="http://schemas.microsoft.com/office/drawing/2014/main" id="{C82C2946-B908-4938-B8AD-68431403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9975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npm run deck:words:completion:n3</a:t>
            </a:r>
          </a:p>
        </p:txBody>
      </p:sp>
      <p:sp>
        <p:nvSpPr>
          <p:cNvPr id="20" name="row-Next expansion batch">
            <a:extLst xmlns:a="http://schemas.openxmlformats.org/drawingml/2006/main">
              <a:ext uri="{FF2B5EF4-FFF2-40B4-BE49-F238E27FC236}">
                <a16:creationId xmlns:a16="http://schemas.microsoft.com/office/drawing/2014/main" id="{0DF7EDA0-EA0E-4B23-919C-739015A9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21" name="row-accent-Next expansion batch">
            <a:extLst xmlns:a="http://schemas.openxmlformats.org/drawingml/2006/main">
              <a:ext uri="{FF2B5EF4-FFF2-40B4-BE49-F238E27FC236}">
                <a16:creationId xmlns:a16="http://schemas.microsoft.com/office/drawing/2014/main" id="{26EBBF63-7394-45D0-8C03-790C9BFA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6"/>
          </a:solidFill>
          <a:ln xmlns:a="http://schemas.openxmlformats.org/drawingml/2006/main" w="0">
            <a:solidFill>
              <a:srgbClr val="D79516"/>
            </a:solidFill>
            <a:prstDash val="solid"/>
          </a:ln>
        </p:spPr>
      </p:sp>
      <p:sp>
        <p:nvSpPr>
          <p:cNvPr id="22" name="row-left-Next expansion batch">
            <a:extLst xmlns:a="http://schemas.openxmlformats.org/drawingml/2006/main">
              <a:ext uri="{FF2B5EF4-FFF2-40B4-BE49-F238E27FC236}">
                <a16:creationId xmlns:a16="http://schemas.microsoft.com/office/drawing/2014/main" id="{0A2286B8-E989-40CE-A15D-C9C5BB53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Next expansion batch</a:t>
            </a:r>
          </a:p>
        </p:txBody>
      </p:sp>
      <p:sp>
        <p:nvSpPr>
          <p:cNvPr id="23" name="row-right-Next expansion batch">
            <a:extLst xmlns:a="http://schemas.openxmlformats.org/drawingml/2006/main">
              <a:ext uri="{FF2B5EF4-FFF2-40B4-BE49-F238E27FC236}">
                <a16:creationId xmlns:a16="http://schemas.microsoft.com/office/drawing/2014/main" id="{82EB8161-A35D-42FA-9EB8-1FB317DE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10025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npm run deck:words:gap-plan:n3</a:t>
            </a:r>
          </a:p>
        </p:txBody>
      </p:sp>
      <p:sp>
        <p:nvSpPr>
          <p:cNvPr id="24" name="row-Support-only NLP">
            <a:extLst xmlns:a="http://schemas.openxmlformats.org/drawingml/2006/main">
              <a:ext uri="{FF2B5EF4-FFF2-40B4-BE49-F238E27FC236}">
                <a16:creationId xmlns:a16="http://schemas.microsoft.com/office/drawing/2014/main" id="{179E0115-34D3-4A9D-8CDB-A8572BB6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25" name="row-accent-Support-only NLP">
            <a:extLst xmlns:a="http://schemas.openxmlformats.org/drawingml/2006/main">
              <a:ext uri="{FF2B5EF4-FFF2-40B4-BE49-F238E27FC236}">
                <a16:creationId xmlns:a16="http://schemas.microsoft.com/office/drawing/2014/main" id="{38FA53D9-9E6D-46A4-9CDD-54DA6CE8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F9D"/>
          </a:solidFill>
          <a:ln xmlns:a="http://schemas.openxmlformats.org/drawingml/2006/main" w="0">
            <a:solidFill>
              <a:srgbClr val="3A6F9D"/>
            </a:solidFill>
            <a:prstDash val="solid"/>
          </a:ln>
        </p:spPr>
      </p:sp>
      <p:sp>
        <p:nvSpPr>
          <p:cNvPr id="26" name="row-left-Support-only NLP">
            <a:extLst xmlns:a="http://schemas.openxmlformats.org/drawingml/2006/main">
              <a:ext uri="{FF2B5EF4-FFF2-40B4-BE49-F238E27FC236}">
                <a16:creationId xmlns:a16="http://schemas.microsoft.com/office/drawing/2014/main" id="{B855733C-CD7B-4810-BDA4-4A2D8E14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Support-only NLP</a:t>
            </a:r>
          </a:p>
        </p:txBody>
      </p:sp>
      <p:sp>
        <p:nvSpPr>
          <p:cNvPr id="27" name="row-right-Support-only NLP">
            <a:extLst xmlns:a="http://schemas.openxmlformats.org/drawingml/2006/main">
              <a:ext uri="{FF2B5EF4-FFF2-40B4-BE49-F238E27FC236}">
                <a16:creationId xmlns:a16="http://schemas.microsoft.com/office/drawing/2014/main" id="{4E3A11F5-C68F-42C7-B9A8-241079C9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0075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npm run nlp:governance-gate</a:t>
            </a:r>
          </a:p>
        </p:txBody>
      </p:sp>
      <p:sp>
        <p:nvSpPr>
          <p:cNvPr id="28" name="row-Memory posture">
            <a:extLst xmlns:a="http://schemas.openxmlformats.org/drawingml/2006/main">
              <a:ext uri="{FF2B5EF4-FFF2-40B4-BE49-F238E27FC236}">
                <a16:creationId xmlns:a16="http://schemas.microsoft.com/office/drawing/2014/main" id="{5D140631-3EB3-44C8-A8FC-24619F81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29" name="row-accent-Memory posture">
            <a:extLst xmlns:a="http://schemas.openxmlformats.org/drawingml/2006/main">
              <a:ext uri="{FF2B5EF4-FFF2-40B4-BE49-F238E27FC236}">
                <a16:creationId xmlns:a16="http://schemas.microsoft.com/office/drawing/2014/main" id="{2648D7D3-7447-4932-8DC8-8FF6B30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7A"/>
          </a:solidFill>
          <a:ln xmlns:a="http://schemas.openxmlformats.org/drawingml/2006/main" w="0">
            <a:solidFill>
              <a:srgbClr val="70507A"/>
            </a:solidFill>
            <a:prstDash val="solid"/>
          </a:ln>
        </p:spPr>
      </p:sp>
      <p:sp>
        <p:nvSpPr>
          <p:cNvPr id="30" name="row-left-Memory posture">
            <a:extLst xmlns:a="http://schemas.openxmlformats.org/drawingml/2006/main">
              <a:ext uri="{FF2B5EF4-FFF2-40B4-BE49-F238E27FC236}">
                <a16:creationId xmlns:a16="http://schemas.microsoft.com/office/drawing/2014/main" id="{493FEE62-0CEC-42C4-B7CC-52552271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Memory posture</a:t>
            </a:r>
          </a:p>
        </p:txBody>
      </p:sp>
      <p:sp>
        <p:nvSpPr>
          <p:cNvPr id="31" name="row-right-Memory posture">
            <a:extLst xmlns:a="http://schemas.openxmlformats.org/drawingml/2006/main">
              <a:ext uri="{FF2B5EF4-FFF2-40B4-BE49-F238E27FC236}">
                <a16:creationId xmlns:a16="http://schemas.microsoft.com/office/drawing/2014/main" id="{AE4AA87B-320F-4760-9CFC-DCCB1E65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10125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npm run perf:memory:matrix</a:t>
            </a:r>
          </a:p>
        </p:txBody>
      </p:sp>
      <p:sp>
        <p:nvSpPr>
          <p:cNvPr id="32" name="row-Release guardrails">
            <a:extLst xmlns:a="http://schemas.openxmlformats.org/drawingml/2006/main">
              <a:ext uri="{FF2B5EF4-FFF2-40B4-BE49-F238E27FC236}">
                <a16:creationId xmlns:a16="http://schemas.microsoft.com/office/drawing/2014/main" id="{37F84068-795C-4886-A8E3-FD55F248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0"/>
            </a:solidFill>
            <a:prstDash val="solid"/>
          </a:ln>
        </p:spPr>
      </p:sp>
      <p:sp>
        <p:nvSpPr>
          <p:cNvPr id="33" name="row-accent-Release guardrails">
            <a:extLst xmlns:a="http://schemas.openxmlformats.org/drawingml/2006/main">
              <a:ext uri="{FF2B5EF4-FFF2-40B4-BE49-F238E27FC236}">
                <a16:creationId xmlns:a16="http://schemas.microsoft.com/office/drawing/2014/main" id="{AE08D2F1-CF26-49B4-9ABD-1F8B3B3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32"/>
          </a:solidFill>
          <a:ln xmlns:a="http://schemas.openxmlformats.org/drawingml/2006/main" w="0">
            <a:solidFill>
              <a:srgbClr val="B63A32"/>
            </a:solidFill>
            <a:prstDash val="solid"/>
          </a:ln>
        </p:spPr>
      </p:sp>
      <p:sp>
        <p:nvSpPr>
          <p:cNvPr id="34" name="row-left-Release guardrails">
            <a:extLst xmlns:a="http://schemas.openxmlformats.org/drawingml/2006/main">
              <a:ext uri="{FF2B5EF4-FFF2-40B4-BE49-F238E27FC236}">
                <a16:creationId xmlns:a16="http://schemas.microsoft.com/office/drawing/2014/main" id="{C0090DC0-055F-4FED-A60A-709227F9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Release guardrails</a:t>
            </a:r>
          </a:p>
        </p:txBody>
      </p:sp>
      <p:sp>
        <p:nvSpPr>
          <p:cNvPr id="35" name="row-right-Release guardrails">
            <a:extLst xmlns:a="http://schemas.openxmlformats.org/drawingml/2006/main">
              <a:ext uri="{FF2B5EF4-FFF2-40B4-BE49-F238E27FC236}">
                <a16:creationId xmlns:a16="http://schemas.microsoft.com/office/drawing/2014/main" id="{717B79C3-B66F-4568-8FAA-735FA396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10175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npm run security:release-trust</a:t>
            </a:r>
          </a:p>
        </p:txBody>
      </p:sp>
      <p:sp>
        <p:nvSpPr>
          <p:cNvPr id="36" name="card-Ready first versions">
            <a:extLst xmlns:a="http://schemas.openxmlformats.org/drawingml/2006/main">
              <a:ext uri="{FF2B5EF4-FFF2-40B4-BE49-F238E27FC236}">
                <a16:creationId xmlns:a16="http://schemas.microsoft.com/office/drawing/2014/main" id="{A227D23E-8344-4180-A886-1564C0F1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7D52"/>
            </a:solidFill>
            <a:prstDash val="solid"/>
          </a:ln>
        </p:spPr>
      </p:sp>
      <p:sp>
        <p:nvSpPr>
          <p:cNvPr id="37" name="card-accent-Ready first versions">
            <a:extLst xmlns:a="http://schemas.openxmlformats.org/drawingml/2006/main">
              <a:ext uri="{FF2B5EF4-FFF2-40B4-BE49-F238E27FC236}">
                <a16:creationId xmlns:a16="http://schemas.microsoft.com/office/drawing/2014/main" id="{562DC185-AB5D-45A5-8EAD-C12109E3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2"/>
          </a:solidFill>
          <a:ln xmlns:a="http://schemas.openxmlformats.org/drawingml/2006/main" w="0">
            <a:solidFill>
              <a:srgbClr val="2F7D52"/>
            </a:solidFill>
            <a:prstDash val="solid"/>
          </a:ln>
        </p:spPr>
      </p:sp>
      <p:sp>
        <p:nvSpPr>
          <p:cNvPr id="38" name="card-title-Ready first versions">
            <a:extLst xmlns:a="http://schemas.openxmlformats.org/drawingml/2006/main">
              <a:ext uri="{FF2B5EF4-FFF2-40B4-BE49-F238E27FC236}">
                <a16:creationId xmlns:a16="http://schemas.microsoft.com/office/drawing/2014/main" id="{E257C62A-8D7F-4BD1-9F79-FFCA50F1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Ready first versions</a:t>
            </a:r>
          </a:p>
        </p:txBody>
      </p:sp>
      <p:sp>
        <p:nvSpPr>
          <p:cNvPr id="39" name="card-body-Ready first versions">
            <a:extLst xmlns:a="http://schemas.openxmlformats.org/drawingml/2006/main">
              <a:ext uri="{FF2B5EF4-FFF2-40B4-BE49-F238E27FC236}">
                <a16:creationId xmlns:a16="http://schemas.microsoft.com/office/drawing/2014/main" id="{C4923C30-A309-43CD-BFD6-1863DC61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Kanji N5-N2 and Word N5-N4 have ledger-backed v1 study readiness.</a:t>
            </a:r>
          </a:p>
        </p:txBody>
      </p:sp>
      <p:sp>
        <p:nvSpPr>
          <p:cNvPr id="40" name="card-Active expansion">
            <a:extLst xmlns:a="http://schemas.openxmlformats.org/drawingml/2006/main">
              <a:ext uri="{FF2B5EF4-FFF2-40B4-BE49-F238E27FC236}">
                <a16:creationId xmlns:a16="http://schemas.microsoft.com/office/drawing/2014/main" id="{AF921813-399B-40CB-8443-91D3AF54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9516"/>
            </a:solidFill>
            <a:prstDash val="solid"/>
          </a:ln>
        </p:spPr>
      </p:sp>
      <p:sp>
        <p:nvSpPr>
          <p:cNvPr id="41" name="card-accent-Active expansion">
            <a:extLst xmlns:a="http://schemas.openxmlformats.org/drawingml/2006/main">
              <a:ext uri="{FF2B5EF4-FFF2-40B4-BE49-F238E27FC236}">
                <a16:creationId xmlns:a16="http://schemas.microsoft.com/office/drawing/2014/main" id="{5A2F48D9-DEA1-4800-A0F8-78BBEBBA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6"/>
          </a:solidFill>
          <a:ln xmlns:a="http://schemas.openxmlformats.org/drawingml/2006/main" w="0">
            <a:solidFill>
              <a:srgbClr val="D79516"/>
            </a:solidFill>
            <a:prstDash val="solid"/>
          </a:ln>
        </p:spPr>
      </p:sp>
      <p:sp>
        <p:nvSpPr>
          <p:cNvPr id="42" name="card-title-Active expansion">
            <a:extLst xmlns:a="http://schemas.openxmlformats.org/drawingml/2006/main">
              <a:ext uri="{FF2B5EF4-FFF2-40B4-BE49-F238E27FC236}">
                <a16:creationId xmlns:a16="http://schemas.microsoft.com/office/drawing/2014/main" id="{338FF376-96C3-4B4B-8F33-8C1F6A4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5290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Active expansion</a:t>
            </a:r>
          </a:p>
        </p:txBody>
      </p:sp>
      <p:sp>
        <p:nvSpPr>
          <p:cNvPr id="43" name="card-body-Active expansion">
            <a:extLst xmlns:a="http://schemas.openxmlformats.org/drawingml/2006/main">
              <a:ext uri="{FF2B5EF4-FFF2-40B4-BE49-F238E27FC236}">
                <a16:creationId xmlns:a16="http://schemas.microsoft.com/office/drawing/2014/main" id="{DF547D47-0A26-4E3D-9B5E-C3B9AFB0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Word N3 is the next deck-work lane and should continue one batch at a time.</a:t>
            </a:r>
          </a:p>
        </p:txBody>
      </p:sp>
      <p:sp>
        <p:nvSpPr>
          <p:cNvPr id="44" name="card-Guardrails remain">
            <a:extLst xmlns:a="http://schemas.openxmlformats.org/drawingml/2006/main">
              <a:ext uri="{FF2B5EF4-FFF2-40B4-BE49-F238E27FC236}">
                <a16:creationId xmlns:a16="http://schemas.microsoft.com/office/drawing/2014/main" id="{9B056B49-DF24-4BCD-A41B-B67BA8A4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63A32"/>
            </a:solidFill>
            <a:prstDash val="solid"/>
          </a:ln>
        </p:spPr>
      </p:sp>
      <p:sp>
        <p:nvSpPr>
          <p:cNvPr id="45" name="card-accent-Guardrails remain">
            <a:extLst xmlns:a="http://schemas.openxmlformats.org/drawingml/2006/main">
              <a:ext uri="{FF2B5EF4-FFF2-40B4-BE49-F238E27FC236}">
                <a16:creationId xmlns:a16="http://schemas.microsoft.com/office/drawing/2014/main" id="{C58E3D56-9D51-4EDD-81AF-5F48AB25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32"/>
          </a:solidFill>
          <a:ln xmlns:a="http://schemas.openxmlformats.org/drawingml/2006/main" w="0">
            <a:solidFill>
              <a:srgbClr val="B63A32"/>
            </a:solidFill>
            <a:prstDash val="solid"/>
          </a:ln>
        </p:spPr>
      </p:sp>
      <p:sp>
        <p:nvSpPr>
          <p:cNvPr id="46" name="card-title-Guardrails remain">
            <a:extLst xmlns:a="http://schemas.openxmlformats.org/drawingml/2006/main">
              <a:ext uri="{FF2B5EF4-FFF2-40B4-BE49-F238E27FC236}">
                <a16:creationId xmlns:a16="http://schemas.microsoft.com/office/drawing/2014/main" id="{EF98DB61-4421-4338-A40F-9B419635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7210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Guardrails remain</a:t>
            </a:r>
          </a:p>
        </p:txBody>
      </p:sp>
      <p:sp>
        <p:nvSpPr>
          <p:cNvPr id="47" name="card-body-Guardrails remain">
            <a:extLst xmlns:a="http://schemas.openxmlformats.org/drawingml/2006/main">
              <a:ext uri="{FF2B5EF4-FFF2-40B4-BE49-F238E27FC236}">
                <a16:creationId xmlns:a16="http://schemas.microsoft.com/office/drawing/2014/main" id="{E802346C-2C57-4F0D-947A-3928733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531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Broad release claims stay blocked until named release-trust risks close.</a:t>
            </a:r>
          </a:p>
        </p:txBody>
      </p:sp>
      <p:sp>
        <p:nvSpPr>
          <p:cNvPr id="48" name="source-Sources: live ">
            <a:extLst xmlns:a="http://schemas.openxmlformats.org/drawingml/2006/main">
              <a:ext uri="{FF2B5EF4-FFF2-40B4-BE49-F238E27FC236}">
                <a16:creationId xmlns:a16="http://schemas.microsoft.com/office/drawing/2014/main" id="{DFFE3A9A-0260-4EF9-96E8-F98E70CC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D788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7884"/>
                </a:solidFill>
                <a:latin typeface="Aptos"/>
                <a:ea typeface="Aptos"/>
                <a:cs typeface="Aptos"/>
              </a:rPr>
              <a:t>Sources: live commands rerun for this packet correction; baseline main e9f7b0b7.</a:t>
            </a:r>
          </a:p>
        </p:txBody>
      </p:sp>
    </p:spTree>
    <p:extLst>
      <p:ext uri="{BB962C8B-B14F-4D97-AF65-F5344CB8AC3E}">
        <p14:creationId xmlns:p14="http://schemas.microsoft.com/office/powerpoint/2010/main" val="939684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2026-06-11T23:54:21.0950000Z</dcterms:created>
  <dcterms:modified xsi:type="dcterms:W3CDTF">2026-06-11T23:54:21.0950000Z</dcterms:modified>
</coreProperties>
</file>